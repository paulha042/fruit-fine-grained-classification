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8"/>
  </p:notesMasterIdLst>
  <p:sldIdLst>
    <p:sldId id="256" r:id="rId3"/>
    <p:sldId id="257" r:id="rId4"/>
    <p:sldId id="258" r:id="rId5"/>
    <p:sldId id="269" r:id="rId6"/>
    <p:sldId id="270" r:id="rId7"/>
    <p:sldId id="276" r:id="rId8"/>
    <p:sldId id="277" r:id="rId9"/>
    <p:sldId id="275" r:id="rId10"/>
    <p:sldId id="272" r:id="rId11"/>
    <p:sldId id="260" r:id="rId12"/>
    <p:sldId id="261" r:id="rId13"/>
    <p:sldId id="262" r:id="rId14"/>
    <p:sldId id="263" r:id="rId15"/>
    <p:sldId id="278" r:id="rId16"/>
    <p:sldId id="264"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C7E2"/>
    <a:srgbClr val="F8FBFF"/>
    <a:srgbClr val="2D6EB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p:restoredTop sz="82214"/>
  </p:normalViewPr>
  <p:slideViewPr>
    <p:cSldViewPr snapToGrid="0" snapToObjects="1">
      <p:cViewPr varScale="1">
        <p:scale>
          <a:sx n="132" d="100"/>
          <a:sy n="132" d="100"/>
        </p:scale>
        <p:origin x="976"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509D28-ABEF-134B-9CB7-09AA819497F8}" type="datetimeFigureOut">
              <a:rPr lang="en-US" smtClean="0"/>
              <a:t>6/5/26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7B4209-C129-A847-B486-A2E1432A78A4}" type="slidenum">
              <a:rPr lang="en-US" smtClean="0"/>
              <a:t>‹#›</a:t>
            </a:fld>
            <a:endParaRPr lang="en-US"/>
          </a:p>
        </p:txBody>
      </p:sp>
    </p:spTree>
    <p:extLst>
      <p:ext uri="{BB962C8B-B14F-4D97-AF65-F5344CB8AC3E}">
        <p14:creationId xmlns:p14="http://schemas.microsoft.com/office/powerpoint/2010/main" val="5676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effectLst/>
              </a:rPr>
              <a:t>In this diagram, we can see the full pipeline of how tapping works in our model. We fed all photos of fruits with backgrounds into the EfficientNet-B3 backbone, which processes it through 7 blocks. From my testing, I notice that from block 1 to block 5, some blocks targets on whole photos, some blocks target on the background not the </a:t>
            </a:r>
            <a:r>
              <a:rPr lang="en-AU" dirty="0" err="1">
                <a:effectLst/>
              </a:rPr>
              <a:t>fruit.We</a:t>
            </a:r>
            <a:r>
              <a:rPr lang="en-AU" dirty="0">
                <a:effectLst/>
              </a:rPr>
              <a:t> tap Block 6, Block 7, and always include the convolutional head output — these are the three points where we grab copies of the features for our IEL head. These tapped features are then used to generate a Grad-CAM heatmap, which essentially asks "where is the model actually looking?". We then check whether this heatmap overlaps with the actual foreground — the fruit — rather than background noise like shelves or packaging. If it passes this check, we use the focus region to guide augmentation: either cropping and enlarging the fruit area, or blurring everything outside it. The key insight is that by tapping multiple deep layers rather than just the final one, our Grad-CAM heatmaps are more reliable and better localised on the fruit, which in turn makes the augmentation more targeted and more effective.</a:t>
            </a:r>
          </a:p>
          <a:p>
            <a:endParaRPr lang="en-US" dirty="0"/>
          </a:p>
        </p:txBody>
      </p:sp>
      <p:sp>
        <p:nvSpPr>
          <p:cNvPr id="4" name="Slide Number Placeholder 3"/>
          <p:cNvSpPr>
            <a:spLocks noGrp="1"/>
          </p:cNvSpPr>
          <p:nvPr>
            <p:ph type="sldNum" sz="quarter" idx="5"/>
          </p:nvPr>
        </p:nvSpPr>
        <p:spPr/>
        <p:txBody>
          <a:bodyPr/>
          <a:lstStyle/>
          <a:p>
            <a:fld id="{297B4209-C129-A847-B486-A2E1432A78A4}" type="slidenum">
              <a:rPr lang="en-US" smtClean="0"/>
              <a:t>8</a:t>
            </a:fld>
            <a:endParaRPr lang="en-US"/>
          </a:p>
        </p:txBody>
      </p:sp>
    </p:spTree>
    <p:extLst>
      <p:ext uri="{BB962C8B-B14F-4D97-AF65-F5344CB8AC3E}">
        <p14:creationId xmlns:p14="http://schemas.microsoft.com/office/powerpoint/2010/main" val="129893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Early blocks (B1–B5) see locally, with no context.</a:t>
            </a:r>
            <a:r>
              <a:rPr lang="en-AU" dirty="0"/>
              <a:t> When B2 detects "edges," it detects </a:t>
            </a:r>
            <a:r>
              <a:rPr lang="en-AU" i="1" dirty="0"/>
              <a:t>every</a:t>
            </a:r>
            <a:r>
              <a:rPr lang="en-AU" dirty="0"/>
              <a:t> edge in the image — the fruit's outline, the shelf's edge, the plastic packaging border, the sticker — all equally. It has a tiny receptive field so it has no idea </a:t>
            </a:r>
            <a:r>
              <a:rPr lang="en-AU" i="1" dirty="0"/>
              <a:t>what object</a:t>
            </a:r>
            <a:r>
              <a:rPr lang="en-AU" dirty="0"/>
              <a:t> an edge belongs to. Its heatmap spreads all over the image because it genuinely can't tell the apple edge apart from the shelf edge.</a:t>
            </a:r>
          </a:p>
          <a:p>
            <a:r>
              <a:rPr lang="en-AU" b="1" dirty="0"/>
              <a:t>Block 6 sees globally, with full context.</a:t>
            </a:r>
            <a:r>
              <a:rPr lang="en-AU" dirty="0"/>
              <a:t> By the time features reach B6, the receptive field has expanded to cover nearly the whole image. B6 has learned to ask "which region in this entire scene is the discriminative fruit object?" — not "where are there edges?" It has enough context to know that a red round thing in the centre is the fruit, and the rectangular grey thing behind it is a shelf. That's why its attention lands on the fruit.</a:t>
            </a:r>
          </a:p>
          <a:p>
            <a:r>
              <a:rPr lang="en-AU" dirty="0"/>
              <a:t>So the paradox isn't really a paradox: </a:t>
            </a:r>
            <a:r>
              <a:rPr lang="en-AU" b="1" dirty="0"/>
              <a:t>the more a layer "understands," the better it can ignore irrelevant details.</a:t>
            </a:r>
            <a:r>
              <a:rPr lang="en-AU" dirty="0"/>
              <a:t> Early layers are powerful but blind — they fire on everything. B6 is selective precisely because it sees the big picture.</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9484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33630"/>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497D"/>
        </a:solidFill>
        <a:effectLst/>
      </p:bgPr>
    </p:bg>
    <p:spTree>
      <p:nvGrpSpPr>
        <p:cNvPr id="1" name=""/>
        <p:cNvGrpSpPr/>
        <p:nvPr/>
      </p:nvGrpSpPr>
      <p:grpSpPr>
        <a:xfrm>
          <a:off x="0" y="0"/>
          <a:ext cx="0" cy="0"/>
          <a:chOff x="0" y="0"/>
          <a:chExt cx="0" cy="0"/>
        </a:xfrm>
      </p:grpSpPr>
      <p:sp>
        <p:nvSpPr>
          <p:cNvPr id="2" name="Rectangle 1"/>
          <p:cNvSpPr/>
          <p:nvPr/>
        </p:nvSpPr>
        <p:spPr>
          <a:xfrm>
            <a:off x="0" y="3566160"/>
            <a:ext cx="9144000" cy="16459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730752"/>
            <a:ext cx="9144000" cy="54864"/>
          </a:xfrm>
          <a:prstGeom prst="rect">
            <a:avLst/>
          </a:prstGeom>
          <a:solidFill>
            <a:srgbClr val="9DC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8046720" cy="1005840"/>
          </a:xfrm>
          <a:prstGeom prst="rect">
            <a:avLst/>
          </a:prstGeom>
          <a:noFill/>
        </p:spPr>
        <p:txBody>
          <a:bodyPr wrap="square" lIns="45720" rIns="45720" anchor="ctr">
            <a:spAutoFit/>
          </a:bodyPr>
          <a:lstStyle/>
          <a:p>
            <a:pPr algn="ctr"/>
            <a:r>
              <a:rPr sz="3800" b="1" i="0">
                <a:solidFill>
                  <a:srgbClr val="FFFFFF"/>
                </a:solidFill>
                <a:latin typeface="Calibri"/>
              </a:rPr>
              <a:t>Fine-Grained Fruit Classification</a:t>
            </a:r>
          </a:p>
        </p:txBody>
      </p:sp>
      <p:sp>
        <p:nvSpPr>
          <p:cNvPr id="5" name="TextBox 4"/>
          <p:cNvSpPr txBox="1"/>
          <p:nvPr/>
        </p:nvSpPr>
        <p:spPr>
          <a:xfrm>
            <a:off x="548640" y="2194560"/>
            <a:ext cx="8046720" cy="369332"/>
          </a:xfrm>
          <a:prstGeom prst="rect">
            <a:avLst/>
          </a:prstGeom>
          <a:noFill/>
        </p:spPr>
        <p:txBody>
          <a:bodyPr wrap="square" lIns="45720" rIns="45720">
            <a:spAutoFit/>
          </a:bodyPr>
          <a:lstStyle/>
          <a:p>
            <a:pPr algn="ctr"/>
            <a:r>
              <a:rPr sz="1800" b="0" i="1" dirty="0">
                <a:solidFill>
                  <a:srgbClr val="9DC3E6"/>
                </a:solidFill>
                <a:latin typeface="Calibri"/>
              </a:rPr>
              <a:t>EfficientNet-B3 Classification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3740"/>
            <a:ext cx="8595360" cy="430887"/>
          </a:xfrm>
          <a:prstGeom prst="rect">
            <a:avLst/>
          </a:prstGeom>
          <a:noFill/>
        </p:spPr>
        <p:txBody>
          <a:bodyPr wrap="square" lIns="45720" rIns="45720" anchor="ctr">
            <a:spAutoFit/>
          </a:bodyPr>
          <a:lstStyle/>
          <a:p>
            <a:pPr algn="l"/>
            <a:r>
              <a:rPr sz="2200" b="1" i="0" dirty="0">
                <a:solidFill>
                  <a:srgbClr val="FFFFFF"/>
                </a:solidFill>
                <a:latin typeface="Calibri"/>
              </a:rPr>
              <a:t>1. </a:t>
            </a:r>
            <a:r>
              <a:rPr lang="vi-VN" sz="2200" b="1" i="0" dirty="0">
                <a:solidFill>
                  <a:srgbClr val="FFFFFF"/>
                </a:solidFill>
                <a:latin typeface="Calibri"/>
              </a:rPr>
              <a:t>Our topic: Fine-grained Fruit Classification</a:t>
            </a:r>
            <a:endParaRPr sz="2200" b="1" i="0" dirty="0">
              <a:solidFill>
                <a:srgbClr val="FFFFFF"/>
              </a:solidFill>
              <a:latin typeface="Calibri"/>
            </a:endParaRPr>
          </a:p>
        </p:txBody>
      </p:sp>
      <p:sp>
        <p:nvSpPr>
          <p:cNvPr id="6" name="TextBox 5"/>
          <p:cNvSpPr txBox="1"/>
          <p:nvPr/>
        </p:nvSpPr>
        <p:spPr>
          <a:xfrm>
            <a:off x="284682" y="985216"/>
            <a:ext cx="8595361" cy="400110"/>
          </a:xfrm>
          <a:prstGeom prst="rect">
            <a:avLst/>
          </a:prstGeom>
          <a:noFill/>
        </p:spPr>
        <p:txBody>
          <a:bodyPr wrap="square" lIns="45720" rIns="45720">
            <a:spAutoFit/>
          </a:bodyPr>
          <a:lstStyle/>
          <a:p>
            <a:pPr algn="l"/>
            <a:r>
              <a:rPr lang="vi-VN" sz="2000" b="0" i="0" dirty="0">
                <a:solidFill>
                  <a:srgbClr val="1A1A2E"/>
                </a:solidFill>
                <a:latin typeface="Calibri"/>
              </a:rPr>
              <a:t>Our goal is to build </a:t>
            </a:r>
            <a:r>
              <a:rPr lang="vi-VN" sz="2000" dirty="0">
                <a:solidFill>
                  <a:srgbClr val="1A1A2E"/>
                </a:solidFill>
                <a:latin typeface="Calibri"/>
              </a:rPr>
              <a:t>a</a:t>
            </a:r>
            <a:r>
              <a:rPr sz="2000" b="0" i="0" dirty="0">
                <a:solidFill>
                  <a:srgbClr val="1A1A2E"/>
                </a:solidFill>
                <a:latin typeface="Calibri"/>
              </a:rPr>
              <a:t> system</a:t>
            </a:r>
            <a:r>
              <a:rPr lang="vi-VN" sz="2000" b="0" i="0" dirty="0">
                <a:solidFill>
                  <a:srgbClr val="1A1A2E"/>
                </a:solidFill>
                <a:latin typeface="Calibri"/>
              </a:rPr>
              <a:t> that</a:t>
            </a:r>
            <a:r>
              <a:rPr sz="2000" b="0" i="0" dirty="0">
                <a:solidFill>
                  <a:srgbClr val="1A1A2E"/>
                </a:solidFill>
                <a:latin typeface="Calibri"/>
              </a:rPr>
              <a:t> classifies 20 fruit varieties from photographs.</a:t>
            </a:r>
          </a:p>
        </p:txBody>
      </p:sp>
      <p:sp>
        <p:nvSpPr>
          <p:cNvPr id="7" name="Rectangle 6"/>
          <p:cNvSpPr/>
          <p:nvPr/>
        </p:nvSpPr>
        <p:spPr>
          <a:xfrm>
            <a:off x="344530" y="1698638"/>
            <a:ext cx="1591056" cy="1472716"/>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4530" y="1643774"/>
            <a:ext cx="1591056"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0250" y="1833306"/>
            <a:ext cx="1499616" cy="384048"/>
          </a:xfrm>
          <a:prstGeom prst="rect">
            <a:avLst/>
          </a:prstGeom>
          <a:noFill/>
        </p:spPr>
        <p:txBody>
          <a:bodyPr wrap="square" lIns="45720" rIns="45720">
            <a:spAutoFit/>
          </a:bodyPr>
          <a:lstStyle/>
          <a:p>
            <a:pPr algn="ctr"/>
            <a:r>
              <a:rPr sz="1300" b="1" i="0" dirty="0">
                <a:solidFill>
                  <a:srgbClr val="1F497D"/>
                </a:solidFill>
                <a:latin typeface="Calibri"/>
              </a:rPr>
              <a:t>🍎  Apples</a:t>
            </a:r>
          </a:p>
        </p:txBody>
      </p:sp>
      <p:sp>
        <p:nvSpPr>
          <p:cNvPr id="10" name="TextBox 9"/>
          <p:cNvSpPr txBox="1"/>
          <p:nvPr/>
        </p:nvSpPr>
        <p:spPr>
          <a:xfrm>
            <a:off x="390250" y="2276375"/>
            <a:ext cx="1499616" cy="256032"/>
          </a:xfrm>
          <a:prstGeom prst="rect">
            <a:avLst/>
          </a:prstGeom>
          <a:noFill/>
        </p:spPr>
        <p:txBody>
          <a:bodyPr wrap="square" lIns="45720" rIns="45720">
            <a:spAutoFit/>
          </a:bodyPr>
          <a:lstStyle/>
          <a:p>
            <a:pPr algn="ctr"/>
            <a:r>
              <a:rPr sz="2000" b="1" i="0" dirty="0">
                <a:solidFill>
                  <a:srgbClr val="2E74B5"/>
                </a:solidFill>
                <a:latin typeface="Calibri"/>
              </a:rPr>
              <a:t>8 varieties</a:t>
            </a:r>
          </a:p>
        </p:txBody>
      </p:sp>
      <p:sp>
        <p:nvSpPr>
          <p:cNvPr id="12" name="Rectangle 11"/>
          <p:cNvSpPr/>
          <p:nvPr/>
        </p:nvSpPr>
        <p:spPr>
          <a:xfrm>
            <a:off x="2101220" y="1698638"/>
            <a:ext cx="1591056" cy="1472716"/>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090829" y="1631309"/>
            <a:ext cx="1591056"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01220" y="1833306"/>
            <a:ext cx="1499616" cy="384048"/>
          </a:xfrm>
          <a:prstGeom prst="rect">
            <a:avLst/>
          </a:prstGeom>
          <a:noFill/>
        </p:spPr>
        <p:txBody>
          <a:bodyPr wrap="square" lIns="45720" rIns="45720">
            <a:spAutoFit/>
          </a:bodyPr>
          <a:lstStyle/>
          <a:p>
            <a:pPr algn="ctr"/>
            <a:r>
              <a:rPr sz="1300" b="1" i="0">
                <a:solidFill>
                  <a:srgbClr val="1F497D"/>
                </a:solidFill>
                <a:latin typeface="Calibri"/>
              </a:rPr>
              <a:t>🍌  Bananas</a:t>
            </a:r>
          </a:p>
        </p:txBody>
      </p:sp>
      <p:sp>
        <p:nvSpPr>
          <p:cNvPr id="15" name="TextBox 14"/>
          <p:cNvSpPr txBox="1"/>
          <p:nvPr/>
        </p:nvSpPr>
        <p:spPr>
          <a:xfrm>
            <a:off x="2146940" y="2276375"/>
            <a:ext cx="1499616" cy="256032"/>
          </a:xfrm>
          <a:prstGeom prst="rect">
            <a:avLst/>
          </a:prstGeom>
          <a:noFill/>
        </p:spPr>
        <p:txBody>
          <a:bodyPr wrap="square" lIns="45720" rIns="45720">
            <a:spAutoFit/>
          </a:bodyPr>
          <a:lstStyle/>
          <a:p>
            <a:pPr algn="ctr"/>
            <a:r>
              <a:rPr sz="2000" b="1" i="0" dirty="0">
                <a:solidFill>
                  <a:srgbClr val="2E74B5"/>
                </a:solidFill>
                <a:latin typeface="Calibri"/>
              </a:rPr>
              <a:t>3 varieties</a:t>
            </a:r>
          </a:p>
        </p:txBody>
      </p:sp>
      <p:sp>
        <p:nvSpPr>
          <p:cNvPr id="17" name="Rectangle 16"/>
          <p:cNvSpPr/>
          <p:nvPr/>
        </p:nvSpPr>
        <p:spPr>
          <a:xfrm>
            <a:off x="3816762" y="1716931"/>
            <a:ext cx="1591056" cy="1454423"/>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810106" y="1632972"/>
            <a:ext cx="1591056"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32555" y="1833306"/>
            <a:ext cx="1499616" cy="384048"/>
          </a:xfrm>
          <a:prstGeom prst="rect">
            <a:avLst/>
          </a:prstGeom>
          <a:noFill/>
        </p:spPr>
        <p:txBody>
          <a:bodyPr wrap="square" lIns="45720" rIns="45720">
            <a:spAutoFit/>
          </a:bodyPr>
          <a:lstStyle/>
          <a:p>
            <a:pPr algn="ctr"/>
            <a:r>
              <a:rPr sz="1300" b="1" i="0">
                <a:solidFill>
                  <a:srgbClr val="1F497D"/>
                </a:solidFill>
                <a:latin typeface="Calibri"/>
              </a:rPr>
              <a:t>🥝  Kiwis</a:t>
            </a:r>
          </a:p>
        </p:txBody>
      </p:sp>
      <p:sp>
        <p:nvSpPr>
          <p:cNvPr id="20" name="TextBox 19"/>
          <p:cNvSpPr txBox="1"/>
          <p:nvPr/>
        </p:nvSpPr>
        <p:spPr>
          <a:xfrm>
            <a:off x="3863723" y="2276375"/>
            <a:ext cx="1499616" cy="256032"/>
          </a:xfrm>
          <a:prstGeom prst="rect">
            <a:avLst/>
          </a:prstGeom>
          <a:noFill/>
        </p:spPr>
        <p:txBody>
          <a:bodyPr wrap="square" lIns="45720" rIns="45720">
            <a:spAutoFit/>
          </a:bodyPr>
          <a:lstStyle/>
          <a:p>
            <a:pPr algn="ctr"/>
            <a:r>
              <a:rPr sz="2000" b="1" i="0" dirty="0">
                <a:solidFill>
                  <a:srgbClr val="2E74B5"/>
                </a:solidFill>
                <a:latin typeface="Calibri"/>
              </a:rPr>
              <a:t>2 varieties</a:t>
            </a:r>
          </a:p>
        </p:txBody>
      </p:sp>
      <p:sp>
        <p:nvSpPr>
          <p:cNvPr id="22" name="Rectangle 21"/>
          <p:cNvSpPr/>
          <p:nvPr/>
        </p:nvSpPr>
        <p:spPr>
          <a:xfrm>
            <a:off x="5533751" y="1716931"/>
            <a:ext cx="1591056" cy="1454423"/>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533751" y="1643774"/>
            <a:ext cx="1591056"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33338" y="1854087"/>
            <a:ext cx="1499616" cy="384048"/>
          </a:xfrm>
          <a:prstGeom prst="rect">
            <a:avLst/>
          </a:prstGeom>
          <a:noFill/>
        </p:spPr>
        <p:txBody>
          <a:bodyPr wrap="square" lIns="45720" rIns="45720">
            <a:spAutoFit/>
          </a:bodyPr>
          <a:lstStyle/>
          <a:p>
            <a:pPr algn="ctr"/>
            <a:r>
              <a:rPr sz="1300" b="1" i="0">
                <a:solidFill>
                  <a:srgbClr val="1F497D"/>
                </a:solidFill>
                <a:latin typeface="Calibri"/>
              </a:rPr>
              <a:t>🍐  Pears</a:t>
            </a:r>
          </a:p>
        </p:txBody>
      </p:sp>
      <p:sp>
        <p:nvSpPr>
          <p:cNvPr id="25" name="TextBox 24"/>
          <p:cNvSpPr txBox="1"/>
          <p:nvPr/>
        </p:nvSpPr>
        <p:spPr>
          <a:xfrm>
            <a:off x="5579471" y="2276375"/>
            <a:ext cx="1499616" cy="256032"/>
          </a:xfrm>
          <a:prstGeom prst="rect">
            <a:avLst/>
          </a:prstGeom>
          <a:noFill/>
        </p:spPr>
        <p:txBody>
          <a:bodyPr wrap="square" lIns="45720" rIns="45720">
            <a:spAutoFit/>
          </a:bodyPr>
          <a:lstStyle/>
          <a:p>
            <a:pPr algn="ctr"/>
            <a:r>
              <a:rPr sz="2000" b="1" i="0" dirty="0">
                <a:solidFill>
                  <a:srgbClr val="2E74B5"/>
                </a:solidFill>
                <a:latin typeface="Calibri"/>
              </a:rPr>
              <a:t>5 varieties</a:t>
            </a:r>
          </a:p>
        </p:txBody>
      </p:sp>
      <p:sp>
        <p:nvSpPr>
          <p:cNvPr id="27" name="Rectangle 26"/>
          <p:cNvSpPr/>
          <p:nvPr/>
        </p:nvSpPr>
        <p:spPr>
          <a:xfrm>
            <a:off x="7218329" y="1716931"/>
            <a:ext cx="1591056" cy="1454423"/>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218329" y="1662067"/>
            <a:ext cx="1591056"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218329" y="1837463"/>
            <a:ext cx="1499616" cy="384048"/>
          </a:xfrm>
          <a:prstGeom prst="rect">
            <a:avLst/>
          </a:prstGeom>
          <a:noFill/>
        </p:spPr>
        <p:txBody>
          <a:bodyPr wrap="square" lIns="45720" rIns="45720">
            <a:spAutoFit/>
          </a:bodyPr>
          <a:lstStyle/>
          <a:p>
            <a:pPr algn="ctr"/>
            <a:r>
              <a:rPr sz="1300" b="1" i="0" dirty="0">
                <a:solidFill>
                  <a:srgbClr val="1F497D"/>
                </a:solidFill>
                <a:latin typeface="Calibri"/>
              </a:rPr>
              <a:t>🍅  Tomatoes</a:t>
            </a:r>
          </a:p>
        </p:txBody>
      </p:sp>
      <p:sp>
        <p:nvSpPr>
          <p:cNvPr id="30" name="TextBox 29"/>
          <p:cNvSpPr txBox="1"/>
          <p:nvPr/>
        </p:nvSpPr>
        <p:spPr>
          <a:xfrm>
            <a:off x="7264049" y="2276375"/>
            <a:ext cx="1499616" cy="256032"/>
          </a:xfrm>
          <a:prstGeom prst="rect">
            <a:avLst/>
          </a:prstGeom>
          <a:noFill/>
        </p:spPr>
        <p:txBody>
          <a:bodyPr wrap="square" lIns="45720" rIns="45720">
            <a:spAutoFit/>
          </a:bodyPr>
          <a:lstStyle/>
          <a:p>
            <a:pPr algn="ctr"/>
            <a:r>
              <a:rPr sz="2000" b="1" i="0" dirty="0">
                <a:solidFill>
                  <a:srgbClr val="2E74B5"/>
                </a:solidFill>
                <a:latin typeface="Calibri"/>
              </a:rPr>
              <a:t>2 varieties</a:t>
            </a:r>
          </a:p>
        </p:txBody>
      </p:sp>
      <p:pic>
        <p:nvPicPr>
          <p:cNvPr id="34" name="Graphic 33" descr="Warning with solid fill">
            <a:extLst>
              <a:ext uri="{FF2B5EF4-FFF2-40B4-BE49-F238E27FC236}">
                <a16:creationId xmlns:a16="http://schemas.microsoft.com/office/drawing/2014/main" id="{BDE50F5F-3293-6BD0-58FE-B48659B3F2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4530" y="3400654"/>
            <a:ext cx="391194" cy="391194"/>
          </a:xfrm>
          <a:prstGeom prst="rect">
            <a:avLst/>
          </a:prstGeom>
        </p:spPr>
      </p:pic>
      <p:sp>
        <p:nvSpPr>
          <p:cNvPr id="36" name="TextBox 35">
            <a:extLst>
              <a:ext uri="{FF2B5EF4-FFF2-40B4-BE49-F238E27FC236}">
                <a16:creationId xmlns:a16="http://schemas.microsoft.com/office/drawing/2014/main" id="{442427F5-7211-6857-0DA6-632E0118DB06}"/>
              </a:ext>
            </a:extLst>
          </p:cNvPr>
          <p:cNvSpPr txBox="1"/>
          <p:nvPr/>
        </p:nvSpPr>
        <p:spPr>
          <a:xfrm>
            <a:off x="849316" y="3380807"/>
            <a:ext cx="6229771" cy="430887"/>
          </a:xfrm>
          <a:prstGeom prst="rect">
            <a:avLst/>
          </a:prstGeom>
          <a:noFill/>
        </p:spPr>
        <p:txBody>
          <a:bodyPr wrap="square">
            <a:spAutoFit/>
          </a:bodyPr>
          <a:lstStyle/>
          <a:p>
            <a:r>
              <a:rPr lang="en-AU" sz="2200" b="0" i="0" dirty="0">
                <a:solidFill>
                  <a:srgbClr val="1A1A2E"/>
                </a:solidFill>
                <a:latin typeface="Calibri"/>
              </a:rPr>
              <a:t>The core challenge: many fruits look nearly identical.</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3740"/>
            <a:ext cx="8595360" cy="430887"/>
          </a:xfrm>
          <a:prstGeom prst="rect">
            <a:avLst/>
          </a:prstGeom>
          <a:noFill/>
        </p:spPr>
        <p:txBody>
          <a:bodyPr wrap="square" lIns="45720" rIns="45720" anchor="ctr">
            <a:spAutoFit/>
          </a:bodyPr>
          <a:lstStyle/>
          <a:p>
            <a:pPr algn="l"/>
            <a:r>
              <a:rPr sz="2200" b="1" i="0" dirty="0">
                <a:solidFill>
                  <a:srgbClr val="FFFFFF"/>
                </a:solidFill>
                <a:latin typeface="Calibri"/>
              </a:rPr>
              <a:t>2. Dataset</a:t>
            </a:r>
          </a:p>
        </p:txBody>
      </p:sp>
      <p:sp>
        <p:nvSpPr>
          <p:cNvPr id="6" name="Rectangle 5"/>
          <p:cNvSpPr/>
          <p:nvPr/>
        </p:nvSpPr>
        <p:spPr>
          <a:xfrm>
            <a:off x="274320" y="822960"/>
            <a:ext cx="4023360" cy="3520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822960"/>
            <a:ext cx="4023360"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868680"/>
            <a:ext cx="3840480" cy="365760"/>
          </a:xfrm>
          <a:prstGeom prst="rect">
            <a:avLst/>
          </a:prstGeom>
          <a:noFill/>
        </p:spPr>
        <p:txBody>
          <a:bodyPr wrap="square" lIns="45720" rIns="45720">
            <a:spAutoFit/>
          </a:bodyPr>
          <a:lstStyle/>
          <a:p>
            <a:pPr algn="l"/>
            <a:r>
              <a:rPr sz="1300" b="1" i="0">
                <a:solidFill>
                  <a:srgbClr val="1F497D"/>
                </a:solidFill>
                <a:latin typeface="Calibri"/>
              </a:rPr>
              <a:t>How Images Were Captured</a:t>
            </a:r>
          </a:p>
        </p:txBody>
      </p:sp>
      <p:sp>
        <p:nvSpPr>
          <p:cNvPr id="9" name="Rectangle 8"/>
          <p:cNvSpPr/>
          <p:nvPr/>
        </p:nvSpPr>
        <p:spPr>
          <a:xfrm>
            <a:off x="365760" y="1298448"/>
            <a:ext cx="54864"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1298448"/>
            <a:ext cx="1188720" cy="256032"/>
          </a:xfrm>
          <a:prstGeom prst="rect">
            <a:avLst/>
          </a:prstGeom>
          <a:noFill/>
        </p:spPr>
        <p:txBody>
          <a:bodyPr wrap="square" lIns="0" tIns="0" rIns="0" bIns="0">
            <a:spAutoFit/>
          </a:bodyPr>
          <a:lstStyle/>
          <a:p>
            <a:pPr algn="l"/>
            <a:r>
              <a:rPr sz="1100" b="1" i="0">
                <a:solidFill>
                  <a:srgbClr val="1F497D"/>
                </a:solidFill>
                <a:latin typeface="Calibri"/>
              </a:rPr>
              <a:t>Devices:</a:t>
            </a:r>
          </a:p>
        </p:txBody>
      </p:sp>
      <p:sp>
        <p:nvSpPr>
          <p:cNvPr id="11" name="TextBox 10"/>
          <p:cNvSpPr txBox="1"/>
          <p:nvPr/>
        </p:nvSpPr>
        <p:spPr>
          <a:xfrm>
            <a:off x="1691640" y="1298448"/>
            <a:ext cx="2468880" cy="256032"/>
          </a:xfrm>
          <a:prstGeom prst="rect">
            <a:avLst/>
          </a:prstGeom>
          <a:noFill/>
        </p:spPr>
        <p:txBody>
          <a:bodyPr wrap="square" lIns="0" tIns="0" rIns="0" bIns="0">
            <a:spAutoFit/>
          </a:bodyPr>
          <a:lstStyle/>
          <a:p>
            <a:pPr algn="l"/>
            <a:r>
              <a:rPr sz="1100" b="0" i="0">
                <a:solidFill>
                  <a:srgbClr val="1A1A2E"/>
                </a:solidFill>
                <a:latin typeface="Calibri"/>
              </a:rPr>
              <a:t>iPhone &amp; Android smartphones</a:t>
            </a:r>
          </a:p>
        </p:txBody>
      </p:sp>
      <p:sp>
        <p:nvSpPr>
          <p:cNvPr id="12" name="Rectangle 11"/>
          <p:cNvSpPr/>
          <p:nvPr/>
        </p:nvSpPr>
        <p:spPr>
          <a:xfrm>
            <a:off x="365760" y="1773936"/>
            <a:ext cx="54864"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8" y="1773936"/>
            <a:ext cx="1188720" cy="256032"/>
          </a:xfrm>
          <a:prstGeom prst="rect">
            <a:avLst/>
          </a:prstGeom>
          <a:noFill/>
        </p:spPr>
        <p:txBody>
          <a:bodyPr wrap="square" lIns="0" tIns="0" rIns="0" bIns="0">
            <a:spAutoFit/>
          </a:bodyPr>
          <a:lstStyle/>
          <a:p>
            <a:pPr algn="l"/>
            <a:r>
              <a:rPr sz="1100" b="1" i="0">
                <a:solidFill>
                  <a:srgbClr val="1F497D"/>
                </a:solidFill>
                <a:latin typeface="Calibri"/>
              </a:rPr>
              <a:t>Backgrounds:</a:t>
            </a:r>
          </a:p>
        </p:txBody>
      </p:sp>
      <p:sp>
        <p:nvSpPr>
          <p:cNvPr id="14" name="TextBox 13"/>
          <p:cNvSpPr txBox="1"/>
          <p:nvPr/>
        </p:nvSpPr>
        <p:spPr>
          <a:xfrm>
            <a:off x="1691640" y="1773936"/>
            <a:ext cx="2468880" cy="256032"/>
          </a:xfrm>
          <a:prstGeom prst="rect">
            <a:avLst/>
          </a:prstGeom>
          <a:noFill/>
        </p:spPr>
        <p:txBody>
          <a:bodyPr wrap="square" lIns="0" tIns="0" rIns="0" bIns="0">
            <a:spAutoFit/>
          </a:bodyPr>
          <a:lstStyle/>
          <a:p>
            <a:pPr algn="l"/>
            <a:r>
              <a:rPr sz="1100" b="0" i="0">
                <a:solidFill>
                  <a:srgbClr val="1A1A2E"/>
                </a:solidFill>
                <a:latin typeface="Calibri"/>
              </a:rPr>
              <a:t>Tables, bags, hands, various surfaces</a:t>
            </a:r>
          </a:p>
        </p:txBody>
      </p:sp>
      <p:sp>
        <p:nvSpPr>
          <p:cNvPr id="15" name="Rectangle 14"/>
          <p:cNvSpPr/>
          <p:nvPr/>
        </p:nvSpPr>
        <p:spPr>
          <a:xfrm>
            <a:off x="365760" y="2249424"/>
            <a:ext cx="54864"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5488" y="2249424"/>
            <a:ext cx="1188720" cy="256032"/>
          </a:xfrm>
          <a:prstGeom prst="rect">
            <a:avLst/>
          </a:prstGeom>
          <a:noFill/>
        </p:spPr>
        <p:txBody>
          <a:bodyPr wrap="square" lIns="0" tIns="0" rIns="0" bIns="0">
            <a:spAutoFit/>
          </a:bodyPr>
          <a:lstStyle/>
          <a:p>
            <a:pPr algn="l"/>
            <a:r>
              <a:rPr sz="1100" b="1" i="0">
                <a:solidFill>
                  <a:srgbClr val="1F497D"/>
                </a:solidFill>
                <a:latin typeface="Calibri"/>
              </a:rPr>
              <a:t>Angles:</a:t>
            </a:r>
          </a:p>
        </p:txBody>
      </p:sp>
      <p:sp>
        <p:nvSpPr>
          <p:cNvPr id="17" name="TextBox 16"/>
          <p:cNvSpPr txBox="1"/>
          <p:nvPr/>
        </p:nvSpPr>
        <p:spPr>
          <a:xfrm>
            <a:off x="1691640" y="2249424"/>
            <a:ext cx="2468880" cy="256032"/>
          </a:xfrm>
          <a:prstGeom prst="rect">
            <a:avLst/>
          </a:prstGeom>
          <a:noFill/>
        </p:spPr>
        <p:txBody>
          <a:bodyPr wrap="square" lIns="0" tIns="0" rIns="0" bIns="0">
            <a:spAutoFit/>
          </a:bodyPr>
          <a:lstStyle/>
          <a:p>
            <a:pPr algn="l"/>
            <a:r>
              <a:rPr sz="1100" b="0" i="0">
                <a:solidFill>
                  <a:srgbClr val="1A1A2E"/>
                </a:solidFill>
                <a:latin typeface="Calibri"/>
              </a:rPr>
              <a:t>Top, side, close-up, and angled shots</a:t>
            </a:r>
          </a:p>
        </p:txBody>
      </p:sp>
      <p:sp>
        <p:nvSpPr>
          <p:cNvPr id="18" name="Rectangle 17"/>
          <p:cNvSpPr/>
          <p:nvPr/>
        </p:nvSpPr>
        <p:spPr>
          <a:xfrm>
            <a:off x="365760" y="2724912"/>
            <a:ext cx="54864"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2724912"/>
            <a:ext cx="1188720" cy="256032"/>
          </a:xfrm>
          <a:prstGeom prst="rect">
            <a:avLst/>
          </a:prstGeom>
          <a:noFill/>
        </p:spPr>
        <p:txBody>
          <a:bodyPr wrap="square" lIns="0" tIns="0" rIns="0" bIns="0">
            <a:spAutoFit/>
          </a:bodyPr>
          <a:lstStyle/>
          <a:p>
            <a:pPr algn="l"/>
            <a:r>
              <a:rPr sz="1100" b="1" i="0">
                <a:solidFill>
                  <a:srgbClr val="1F497D"/>
                </a:solidFill>
                <a:latin typeface="Calibri"/>
              </a:rPr>
              <a:t>Lighting:</a:t>
            </a:r>
          </a:p>
        </p:txBody>
      </p:sp>
      <p:sp>
        <p:nvSpPr>
          <p:cNvPr id="20" name="TextBox 19"/>
          <p:cNvSpPr txBox="1"/>
          <p:nvPr/>
        </p:nvSpPr>
        <p:spPr>
          <a:xfrm>
            <a:off x="1691640" y="2724912"/>
            <a:ext cx="2468880" cy="256032"/>
          </a:xfrm>
          <a:prstGeom prst="rect">
            <a:avLst/>
          </a:prstGeom>
          <a:noFill/>
        </p:spPr>
        <p:txBody>
          <a:bodyPr wrap="square" lIns="0" tIns="0" rIns="0" bIns="0">
            <a:spAutoFit/>
          </a:bodyPr>
          <a:lstStyle/>
          <a:p>
            <a:pPr algn="l"/>
            <a:r>
              <a:rPr sz="1100" b="0" i="0">
                <a:solidFill>
                  <a:srgbClr val="1A1A2E"/>
                </a:solidFill>
                <a:latin typeface="Calibri"/>
              </a:rPr>
              <a:t>Natural, artificial, and mixed light</a:t>
            </a:r>
          </a:p>
        </p:txBody>
      </p:sp>
      <p:sp>
        <p:nvSpPr>
          <p:cNvPr id="21" name="Rectangle 20"/>
          <p:cNvSpPr/>
          <p:nvPr/>
        </p:nvSpPr>
        <p:spPr>
          <a:xfrm>
            <a:off x="365760" y="3200400"/>
            <a:ext cx="54864"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 y="3200400"/>
            <a:ext cx="1188720" cy="256032"/>
          </a:xfrm>
          <a:prstGeom prst="rect">
            <a:avLst/>
          </a:prstGeom>
          <a:noFill/>
        </p:spPr>
        <p:txBody>
          <a:bodyPr wrap="square" lIns="0" tIns="0" rIns="0" bIns="0">
            <a:spAutoFit/>
          </a:bodyPr>
          <a:lstStyle/>
          <a:p>
            <a:pPr algn="l"/>
            <a:r>
              <a:rPr sz="1100" b="1" i="0">
                <a:solidFill>
                  <a:srgbClr val="1F497D"/>
                </a:solidFill>
                <a:latin typeface="Calibri"/>
              </a:rPr>
              <a:t>Ripeness:</a:t>
            </a:r>
          </a:p>
        </p:txBody>
      </p:sp>
      <p:sp>
        <p:nvSpPr>
          <p:cNvPr id="23" name="TextBox 22"/>
          <p:cNvSpPr txBox="1"/>
          <p:nvPr/>
        </p:nvSpPr>
        <p:spPr>
          <a:xfrm>
            <a:off x="1691640" y="3200400"/>
            <a:ext cx="2468880" cy="256032"/>
          </a:xfrm>
          <a:prstGeom prst="rect">
            <a:avLst/>
          </a:prstGeom>
          <a:noFill/>
        </p:spPr>
        <p:txBody>
          <a:bodyPr wrap="square" lIns="0" tIns="0" rIns="0" bIns="0">
            <a:spAutoFit/>
          </a:bodyPr>
          <a:lstStyle/>
          <a:p>
            <a:pPr algn="l"/>
            <a:r>
              <a:rPr sz="1100" b="0" i="0">
                <a:solidFill>
                  <a:srgbClr val="1A1A2E"/>
                </a:solidFill>
                <a:latin typeface="Calibri"/>
              </a:rPr>
              <a:t>Multiple ripeness stages per variety</a:t>
            </a:r>
          </a:p>
        </p:txBody>
      </p:sp>
      <p:sp>
        <p:nvSpPr>
          <p:cNvPr id="24" name="Rectangle 23"/>
          <p:cNvSpPr/>
          <p:nvPr/>
        </p:nvSpPr>
        <p:spPr>
          <a:xfrm>
            <a:off x="365760" y="3675887"/>
            <a:ext cx="54864"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 y="3675887"/>
            <a:ext cx="1188720" cy="256032"/>
          </a:xfrm>
          <a:prstGeom prst="rect">
            <a:avLst/>
          </a:prstGeom>
          <a:noFill/>
        </p:spPr>
        <p:txBody>
          <a:bodyPr wrap="square" lIns="0" tIns="0" rIns="0" bIns="0">
            <a:spAutoFit/>
          </a:bodyPr>
          <a:lstStyle/>
          <a:p>
            <a:pPr algn="l"/>
            <a:r>
              <a:rPr sz="1100" b="1" i="0">
                <a:solidFill>
                  <a:srgbClr val="1F497D"/>
                </a:solidFill>
                <a:latin typeface="Calibri"/>
              </a:rPr>
              <a:t>Packaging:</a:t>
            </a:r>
          </a:p>
        </p:txBody>
      </p:sp>
      <p:sp>
        <p:nvSpPr>
          <p:cNvPr id="26" name="TextBox 25"/>
          <p:cNvSpPr txBox="1"/>
          <p:nvPr/>
        </p:nvSpPr>
        <p:spPr>
          <a:xfrm>
            <a:off x="1691640" y="3675887"/>
            <a:ext cx="2468880" cy="256032"/>
          </a:xfrm>
          <a:prstGeom prst="rect">
            <a:avLst/>
          </a:prstGeom>
          <a:noFill/>
        </p:spPr>
        <p:txBody>
          <a:bodyPr wrap="square" lIns="0" tIns="0" rIns="0" bIns="0">
            <a:spAutoFit/>
          </a:bodyPr>
          <a:lstStyle/>
          <a:p>
            <a:pPr algn="l"/>
            <a:r>
              <a:rPr sz="1100" b="0" i="0">
                <a:solidFill>
                  <a:srgbClr val="1A1A2E"/>
                </a:solidFill>
                <a:latin typeface="Calibri"/>
              </a:rPr>
              <a:t>Some fruits in clear plastic bags</a:t>
            </a:r>
          </a:p>
        </p:txBody>
      </p:sp>
      <p:sp>
        <p:nvSpPr>
          <p:cNvPr id="55" name="TextBox 54"/>
          <p:cNvSpPr txBox="1"/>
          <p:nvPr/>
        </p:nvSpPr>
        <p:spPr>
          <a:xfrm>
            <a:off x="274320" y="4407408"/>
            <a:ext cx="4023360" cy="461665"/>
          </a:xfrm>
          <a:prstGeom prst="rect">
            <a:avLst/>
          </a:prstGeom>
          <a:noFill/>
        </p:spPr>
        <p:txBody>
          <a:bodyPr wrap="square" lIns="45720" rIns="45720">
            <a:spAutoFit/>
          </a:bodyPr>
          <a:lstStyle/>
          <a:p>
            <a:pPr algn="l"/>
            <a:r>
              <a:rPr sz="1200" b="0" i="1" dirty="0">
                <a:latin typeface="Calibri"/>
              </a:rPr>
              <a:t>32 robot camera images</a:t>
            </a:r>
            <a:r>
              <a:rPr lang="vi-VN" sz="1200" b="0" i="1" dirty="0">
                <a:latin typeface="Calibri"/>
              </a:rPr>
              <a:t> for each apple royal gala, pink lady, granny smith</a:t>
            </a:r>
            <a:r>
              <a:rPr sz="1200" b="0" i="1" dirty="0">
                <a:latin typeface="Calibri"/>
              </a:rPr>
              <a:t> kept separate </a:t>
            </a:r>
            <a:r>
              <a:rPr lang="vi-VN" sz="1200" i="1" dirty="0">
                <a:latin typeface="Calibri"/>
              </a:rPr>
              <a:t>for fine tuning and evaluation</a:t>
            </a:r>
            <a:r>
              <a:rPr sz="1200" b="0" i="1" dirty="0">
                <a:latin typeface="Calibri"/>
              </a:rPr>
              <a:t>.</a:t>
            </a:r>
          </a:p>
        </p:txBody>
      </p:sp>
      <p:pic>
        <p:nvPicPr>
          <p:cNvPr id="56" name="Picture 55">
            <a:extLst>
              <a:ext uri="{FF2B5EF4-FFF2-40B4-BE49-F238E27FC236}">
                <a16:creationId xmlns:a16="http://schemas.microsoft.com/office/drawing/2014/main" id="{73E359CB-9A43-976A-FF76-0ADC6A9B0C46}"/>
              </a:ext>
            </a:extLst>
          </p:cNvPr>
          <p:cNvPicPr>
            <a:picLocks noChangeAspect="1"/>
          </p:cNvPicPr>
          <p:nvPr/>
        </p:nvPicPr>
        <p:blipFill>
          <a:blip r:embed="rId2"/>
          <a:srcRect r="2439" b="25988"/>
          <a:stretch/>
        </p:blipFill>
        <p:spPr>
          <a:xfrm>
            <a:off x="5889194" y="1298448"/>
            <a:ext cx="1555200" cy="1573067"/>
          </a:xfrm>
          <a:prstGeom prst="rect">
            <a:avLst/>
          </a:prstGeom>
        </p:spPr>
      </p:pic>
      <p:pic>
        <p:nvPicPr>
          <p:cNvPr id="57" name="Picture 56">
            <a:extLst>
              <a:ext uri="{FF2B5EF4-FFF2-40B4-BE49-F238E27FC236}">
                <a16:creationId xmlns:a16="http://schemas.microsoft.com/office/drawing/2014/main" id="{BF7638FF-2BCC-0C3E-7CA1-FDE1FE22D2A5}"/>
              </a:ext>
            </a:extLst>
          </p:cNvPr>
          <p:cNvPicPr>
            <a:picLocks noChangeAspect="1"/>
          </p:cNvPicPr>
          <p:nvPr/>
        </p:nvPicPr>
        <p:blipFill>
          <a:blip r:embed="rId3"/>
          <a:srcRect l="11988" t="13943" b="23704"/>
          <a:stretch/>
        </p:blipFill>
        <p:spPr>
          <a:xfrm>
            <a:off x="7510023" y="787128"/>
            <a:ext cx="1557692" cy="1471440"/>
          </a:xfrm>
          <a:prstGeom prst="rect">
            <a:avLst/>
          </a:prstGeom>
        </p:spPr>
      </p:pic>
      <p:pic>
        <p:nvPicPr>
          <p:cNvPr id="58" name="Picture 57">
            <a:extLst>
              <a:ext uri="{FF2B5EF4-FFF2-40B4-BE49-F238E27FC236}">
                <a16:creationId xmlns:a16="http://schemas.microsoft.com/office/drawing/2014/main" id="{EA0DC721-43D8-0458-EAC5-4C30CF2648C2}"/>
              </a:ext>
            </a:extLst>
          </p:cNvPr>
          <p:cNvPicPr>
            <a:picLocks noChangeAspect="1"/>
          </p:cNvPicPr>
          <p:nvPr/>
        </p:nvPicPr>
        <p:blipFill>
          <a:blip r:embed="rId4"/>
          <a:stretch>
            <a:fillRect/>
          </a:stretch>
        </p:blipFill>
        <p:spPr>
          <a:xfrm>
            <a:off x="4426515" y="798714"/>
            <a:ext cx="1338349" cy="1784466"/>
          </a:xfrm>
          <a:prstGeom prst="rect">
            <a:avLst/>
          </a:prstGeom>
        </p:spPr>
      </p:pic>
      <p:pic>
        <p:nvPicPr>
          <p:cNvPr id="59" name="Picture 58">
            <a:extLst>
              <a:ext uri="{FF2B5EF4-FFF2-40B4-BE49-F238E27FC236}">
                <a16:creationId xmlns:a16="http://schemas.microsoft.com/office/drawing/2014/main" id="{EBCD7E70-3AB3-45E4-AD47-9894FCC80046}"/>
              </a:ext>
            </a:extLst>
          </p:cNvPr>
          <p:cNvPicPr>
            <a:picLocks noChangeAspect="1"/>
          </p:cNvPicPr>
          <p:nvPr/>
        </p:nvPicPr>
        <p:blipFill>
          <a:blip r:embed="rId5"/>
          <a:srcRect t="20106" r="5134"/>
          <a:stretch/>
        </p:blipFill>
        <p:spPr>
          <a:xfrm>
            <a:off x="4426514" y="2974988"/>
            <a:ext cx="1775093" cy="1993254"/>
          </a:xfrm>
          <a:prstGeom prst="rect">
            <a:avLst/>
          </a:prstGeom>
        </p:spPr>
      </p:pic>
      <p:pic>
        <p:nvPicPr>
          <p:cNvPr id="60" name="Picture 59">
            <a:extLst>
              <a:ext uri="{FF2B5EF4-FFF2-40B4-BE49-F238E27FC236}">
                <a16:creationId xmlns:a16="http://schemas.microsoft.com/office/drawing/2014/main" id="{B4137775-5D5F-4221-28B6-630706B1A9F4}"/>
              </a:ext>
            </a:extLst>
          </p:cNvPr>
          <p:cNvPicPr>
            <a:picLocks noChangeAspect="1"/>
          </p:cNvPicPr>
          <p:nvPr/>
        </p:nvPicPr>
        <p:blipFill>
          <a:blip r:embed="rId6"/>
          <a:srcRect t="14376" r="7023"/>
          <a:stretch/>
        </p:blipFill>
        <p:spPr>
          <a:xfrm>
            <a:off x="7444394" y="2974988"/>
            <a:ext cx="1623321" cy="19932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a:extLst>
            <a:ext uri="{FF2B5EF4-FFF2-40B4-BE49-F238E27FC236}">
              <a16:creationId xmlns:a16="http://schemas.microsoft.com/office/drawing/2014/main" id="{89F4F306-A3AB-3DFE-1BF9-48E008FFCEA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1E46BD-28DD-4658-AEC0-D2C51CE8B867}"/>
              </a:ext>
            </a:extLst>
          </p:cNvPr>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5FCE5CCF-9FA5-855B-02DD-BB443E0B9819}"/>
              </a:ext>
            </a:extLst>
          </p:cNvPr>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25484FC-53F5-8260-522E-4EB17096769A}"/>
              </a:ext>
            </a:extLst>
          </p:cNvPr>
          <p:cNvSpPr txBox="1"/>
          <p:nvPr/>
        </p:nvSpPr>
        <p:spPr>
          <a:xfrm>
            <a:off x="274320" y="113740"/>
            <a:ext cx="8595360" cy="430887"/>
          </a:xfrm>
          <a:prstGeom prst="rect">
            <a:avLst/>
          </a:prstGeom>
          <a:noFill/>
        </p:spPr>
        <p:txBody>
          <a:bodyPr wrap="square" lIns="45720" rIns="45720" anchor="ctr">
            <a:spAutoFit/>
          </a:bodyPr>
          <a:lstStyle/>
          <a:p>
            <a:pPr algn="l"/>
            <a:r>
              <a:rPr lang="en-AU" sz="2200" b="1" dirty="0">
                <a:solidFill>
                  <a:srgbClr val="FFFFFF"/>
                </a:solidFill>
                <a:latin typeface="Calibri"/>
              </a:rPr>
              <a:t>3</a:t>
            </a:r>
            <a:r>
              <a:rPr lang="en-AU" sz="2200" b="1" i="0" dirty="0">
                <a:solidFill>
                  <a:srgbClr val="FFFFFF"/>
                </a:solidFill>
                <a:latin typeface="Calibri"/>
              </a:rPr>
              <a:t>. Why EfficientNet-B3?</a:t>
            </a:r>
          </a:p>
        </p:txBody>
      </p:sp>
      <p:sp>
        <p:nvSpPr>
          <p:cNvPr id="2078" name="Shape 4">
            <a:extLst>
              <a:ext uri="{FF2B5EF4-FFF2-40B4-BE49-F238E27FC236}">
                <a16:creationId xmlns:a16="http://schemas.microsoft.com/office/drawing/2014/main" id="{36A8E7D5-526F-5F44-4475-E8471CC21136}"/>
              </a:ext>
            </a:extLst>
          </p:cNvPr>
          <p:cNvSpPr/>
          <p:nvPr/>
        </p:nvSpPr>
        <p:spPr>
          <a:xfrm>
            <a:off x="274319" y="1042416"/>
            <a:ext cx="4242819" cy="1193020"/>
          </a:xfrm>
          <a:prstGeom prst="rect">
            <a:avLst/>
          </a:prstGeom>
          <a:solidFill>
            <a:srgbClr val="FFFFFF"/>
          </a:solidFill>
          <a:ln w="6350">
            <a:solidFill>
              <a:srgbClr val="D8DEE9"/>
            </a:solidFill>
            <a:prstDash val="solid"/>
          </a:ln>
          <a:effectLst>
            <a:outerShdw blurRad="63500" dist="25400" dir="8100000" algn="bl" rotWithShape="0">
              <a:srgbClr val="000000">
                <a:alpha val="7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079" name="Shape 5">
            <a:extLst>
              <a:ext uri="{FF2B5EF4-FFF2-40B4-BE49-F238E27FC236}">
                <a16:creationId xmlns:a16="http://schemas.microsoft.com/office/drawing/2014/main" id="{4FB44363-1DC0-946D-BA80-99FAE937F12B}"/>
              </a:ext>
            </a:extLst>
          </p:cNvPr>
          <p:cNvSpPr/>
          <p:nvPr/>
        </p:nvSpPr>
        <p:spPr>
          <a:xfrm>
            <a:off x="274320" y="1042416"/>
            <a:ext cx="50292" cy="1069848"/>
          </a:xfrm>
          <a:prstGeom prst="rect">
            <a:avLst/>
          </a:prstGeom>
          <a:solidFill>
            <a:srgbClr val="C0392B"/>
          </a:solidFill>
          <a:ln w="12700">
            <a:solidFill>
              <a:srgbClr val="C0392B"/>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080" name="Text 6">
            <a:extLst>
              <a:ext uri="{FF2B5EF4-FFF2-40B4-BE49-F238E27FC236}">
                <a16:creationId xmlns:a16="http://schemas.microsoft.com/office/drawing/2014/main" id="{595A8C79-420B-898D-1DEF-33BE513BE592}"/>
              </a:ext>
            </a:extLst>
          </p:cNvPr>
          <p:cNvSpPr/>
          <p:nvPr/>
        </p:nvSpPr>
        <p:spPr>
          <a:xfrm>
            <a:off x="402336" y="1115568"/>
            <a:ext cx="3977640"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C0392B"/>
                </a:solidFill>
                <a:effectLst/>
                <a:uLnTx/>
                <a:uFillTx/>
                <a:ea typeface="Calibri" pitchFamily="34" charset="-122"/>
                <a:cs typeface="Calibri" pitchFamily="34" charset="-120"/>
              </a:rPr>
              <a:t>DEEPER  (more layers)</a:t>
            </a:r>
            <a:endParaRPr kumimoji="0" lang="en-US" sz="1100" b="0" i="0" u="none" strike="noStrike" kern="0" cap="none" spc="0" normalizeH="0" baseline="0" noProof="0" dirty="0">
              <a:ln>
                <a:noFill/>
              </a:ln>
              <a:solidFill>
                <a:prstClr val="black"/>
              </a:solidFill>
              <a:effectLst/>
              <a:uLnTx/>
              <a:uFillTx/>
            </a:endParaRPr>
          </a:p>
        </p:txBody>
      </p:sp>
      <p:sp>
        <p:nvSpPr>
          <p:cNvPr id="2081" name="Shape 7">
            <a:extLst>
              <a:ext uri="{FF2B5EF4-FFF2-40B4-BE49-F238E27FC236}">
                <a16:creationId xmlns:a16="http://schemas.microsoft.com/office/drawing/2014/main" id="{81435C60-66C9-0BE5-E330-C9D7F4F67833}"/>
              </a:ext>
            </a:extLst>
          </p:cNvPr>
          <p:cNvSpPr/>
          <p:nvPr/>
        </p:nvSpPr>
        <p:spPr>
          <a:xfrm>
            <a:off x="402336" y="1389888"/>
            <a:ext cx="201168" cy="201168"/>
          </a:xfrm>
          <a:prstGeom prst="rect">
            <a:avLst/>
          </a:prstGeom>
          <a:solidFill>
            <a:srgbClr val="27AE60"/>
          </a:solidFill>
          <a:ln w="12700">
            <a:solidFill>
              <a:srgbClr val="27AE6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082" name="Text 8">
            <a:extLst>
              <a:ext uri="{FF2B5EF4-FFF2-40B4-BE49-F238E27FC236}">
                <a16:creationId xmlns:a16="http://schemas.microsoft.com/office/drawing/2014/main" id="{2412005E-D318-C093-3275-B078AC2880CF}"/>
              </a:ext>
            </a:extLst>
          </p:cNvPr>
          <p:cNvSpPr/>
          <p:nvPr/>
        </p:nvSpPr>
        <p:spPr>
          <a:xfrm>
            <a:off x="402336" y="1389888"/>
            <a:ext cx="201168"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ea typeface="Calibri" pitchFamily="34" charset="-122"/>
                <a:cs typeface="Calibri" pitchFamily="34" charset="-120"/>
              </a:rPr>
              <a:t>✓</a:t>
            </a:r>
            <a:endParaRPr kumimoji="0" lang="en-US" sz="900" b="0" i="0" u="none" strike="noStrike" kern="0" cap="none" spc="0" normalizeH="0" baseline="0" noProof="0" dirty="0">
              <a:ln>
                <a:noFill/>
              </a:ln>
              <a:solidFill>
                <a:prstClr val="black"/>
              </a:solidFill>
              <a:effectLst/>
              <a:uLnTx/>
              <a:uFillTx/>
            </a:endParaRPr>
          </a:p>
        </p:txBody>
      </p:sp>
      <p:sp>
        <p:nvSpPr>
          <p:cNvPr id="2083" name="Text 9">
            <a:extLst>
              <a:ext uri="{FF2B5EF4-FFF2-40B4-BE49-F238E27FC236}">
                <a16:creationId xmlns:a16="http://schemas.microsoft.com/office/drawing/2014/main" id="{8A0F365A-6FCA-3CD8-7DE0-B216D3D53A50}"/>
              </a:ext>
            </a:extLst>
          </p:cNvPr>
          <p:cNvSpPr/>
          <p:nvPr/>
        </p:nvSpPr>
        <p:spPr>
          <a:xfrm>
            <a:off x="658368" y="1427439"/>
            <a:ext cx="3776472" cy="219456"/>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AU" sz="1200" kern="0" dirty="0">
                <a:solidFill>
                  <a:srgbClr val="2C3E50"/>
                </a:solidFill>
                <a:cs typeface="Calibri" pitchFamily="34" charset="-120"/>
              </a:rPr>
              <a:t>Early layers learn edges → middle layers learn shapes → deep layers learn high-level concepts</a:t>
            </a:r>
            <a:endParaRPr lang="en-US" sz="1200" kern="0" dirty="0">
              <a:solidFill>
                <a:srgbClr val="2C3E50"/>
              </a:solidFill>
              <a:cs typeface="Calibri" pitchFamily="34" charset="-120"/>
            </a:endParaRPr>
          </a:p>
        </p:txBody>
      </p:sp>
      <p:sp>
        <p:nvSpPr>
          <p:cNvPr id="2085" name="Text 11">
            <a:extLst>
              <a:ext uri="{FF2B5EF4-FFF2-40B4-BE49-F238E27FC236}">
                <a16:creationId xmlns:a16="http://schemas.microsoft.com/office/drawing/2014/main" id="{414BB46C-E489-4E5E-C271-1CAE9AB67F69}"/>
              </a:ext>
            </a:extLst>
          </p:cNvPr>
          <p:cNvSpPr/>
          <p:nvPr/>
        </p:nvSpPr>
        <p:spPr>
          <a:xfrm flipV="1">
            <a:off x="338536" y="1783983"/>
            <a:ext cx="328768" cy="24453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ea typeface="Calibri" pitchFamily="34" charset="-122"/>
                <a:cs typeface="Calibri" pitchFamily="34" charset="-120"/>
              </a:rPr>
              <a:t>✗</a:t>
            </a:r>
            <a:endParaRPr kumimoji="0" lang="en-US" sz="900" b="0" i="0" u="none" strike="noStrike" kern="0" cap="none" spc="0" normalizeH="0" baseline="0" noProof="0" dirty="0">
              <a:ln>
                <a:noFill/>
              </a:ln>
              <a:solidFill>
                <a:prstClr val="black"/>
              </a:solidFill>
              <a:effectLst/>
              <a:uLnTx/>
              <a:uFillTx/>
            </a:endParaRPr>
          </a:p>
        </p:txBody>
      </p:sp>
      <p:sp>
        <p:nvSpPr>
          <p:cNvPr id="2086" name="Text 12">
            <a:extLst>
              <a:ext uri="{FF2B5EF4-FFF2-40B4-BE49-F238E27FC236}">
                <a16:creationId xmlns:a16="http://schemas.microsoft.com/office/drawing/2014/main" id="{1C2160EB-141B-A1C2-9388-83E1974AD9EF}"/>
              </a:ext>
            </a:extLst>
          </p:cNvPr>
          <p:cNvSpPr/>
          <p:nvPr/>
        </p:nvSpPr>
        <p:spPr>
          <a:xfrm>
            <a:off x="658368" y="1852363"/>
            <a:ext cx="3685032" cy="219456"/>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2C3E50"/>
                </a:solidFill>
                <a:effectLst/>
                <a:uLnTx/>
                <a:uFillTx/>
                <a:ea typeface="Calibri" pitchFamily="34" charset="-122"/>
                <a:cs typeface="Calibri" pitchFamily="34" charset="-120"/>
              </a:rPr>
              <a:t>Vanishing gradients at extreme depth; sharp diminishing returns</a:t>
            </a:r>
            <a:endParaRPr kumimoji="0" lang="en-US" sz="1200" b="0" i="0" u="none" strike="noStrike" kern="0" cap="none" spc="0" normalizeH="0" baseline="0" noProof="0" dirty="0">
              <a:ln>
                <a:noFill/>
              </a:ln>
              <a:solidFill>
                <a:prstClr val="black"/>
              </a:solidFill>
              <a:effectLst/>
              <a:uLnTx/>
              <a:uFillTx/>
            </a:endParaRPr>
          </a:p>
        </p:txBody>
      </p:sp>
      <p:sp>
        <p:nvSpPr>
          <p:cNvPr id="2087" name="Shape 13">
            <a:extLst>
              <a:ext uri="{FF2B5EF4-FFF2-40B4-BE49-F238E27FC236}">
                <a16:creationId xmlns:a16="http://schemas.microsoft.com/office/drawing/2014/main" id="{C100C21C-4D42-3D10-8A78-F66B244B77F1}"/>
              </a:ext>
            </a:extLst>
          </p:cNvPr>
          <p:cNvSpPr/>
          <p:nvPr/>
        </p:nvSpPr>
        <p:spPr>
          <a:xfrm>
            <a:off x="274320" y="2351885"/>
            <a:ext cx="4242818" cy="1274732"/>
          </a:xfrm>
          <a:prstGeom prst="rect">
            <a:avLst/>
          </a:prstGeom>
          <a:solidFill>
            <a:srgbClr val="FFFFFF"/>
          </a:solidFill>
          <a:ln w="6350">
            <a:solidFill>
              <a:srgbClr val="D8DEE9"/>
            </a:solidFill>
            <a:prstDash val="solid"/>
          </a:ln>
          <a:effectLst>
            <a:outerShdw blurRad="63500" dist="25400" dir="8100000" algn="bl" rotWithShape="0">
              <a:srgbClr val="000000">
                <a:alpha val="7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088" name="Shape 14">
            <a:extLst>
              <a:ext uri="{FF2B5EF4-FFF2-40B4-BE49-F238E27FC236}">
                <a16:creationId xmlns:a16="http://schemas.microsoft.com/office/drawing/2014/main" id="{8BBD349D-9CE3-DF7A-5F3B-52A2DAD9905A}"/>
              </a:ext>
            </a:extLst>
          </p:cNvPr>
          <p:cNvSpPr/>
          <p:nvPr/>
        </p:nvSpPr>
        <p:spPr>
          <a:xfrm>
            <a:off x="274320" y="2351886"/>
            <a:ext cx="50292" cy="1069848"/>
          </a:xfrm>
          <a:prstGeom prst="rect">
            <a:avLst/>
          </a:prstGeom>
          <a:solidFill>
            <a:srgbClr val="2980B9"/>
          </a:solidFill>
          <a:ln w="12700">
            <a:solidFill>
              <a:srgbClr val="2980B9"/>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089" name="Text 15">
            <a:extLst>
              <a:ext uri="{FF2B5EF4-FFF2-40B4-BE49-F238E27FC236}">
                <a16:creationId xmlns:a16="http://schemas.microsoft.com/office/drawing/2014/main" id="{74FE2410-1936-08D5-610F-06239CD616D1}"/>
              </a:ext>
            </a:extLst>
          </p:cNvPr>
          <p:cNvSpPr/>
          <p:nvPr/>
        </p:nvSpPr>
        <p:spPr>
          <a:xfrm>
            <a:off x="402336" y="2425038"/>
            <a:ext cx="3977640"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2980B9"/>
                </a:solidFill>
                <a:effectLst/>
                <a:uLnTx/>
                <a:uFillTx/>
                <a:ea typeface="Calibri" pitchFamily="34" charset="-122"/>
                <a:cs typeface="Calibri" pitchFamily="34" charset="-120"/>
              </a:rPr>
              <a:t>WIDER  (more channels)</a:t>
            </a:r>
            <a:endParaRPr kumimoji="0" lang="en-US" sz="1100" b="0" i="0" u="none" strike="noStrike" kern="0" cap="none" spc="0" normalizeH="0" baseline="0" noProof="0" dirty="0">
              <a:ln>
                <a:noFill/>
              </a:ln>
              <a:solidFill>
                <a:prstClr val="black"/>
              </a:solidFill>
              <a:effectLst/>
              <a:uLnTx/>
              <a:uFillTx/>
            </a:endParaRPr>
          </a:p>
        </p:txBody>
      </p:sp>
      <p:sp>
        <p:nvSpPr>
          <p:cNvPr id="2090" name="Shape 16">
            <a:extLst>
              <a:ext uri="{FF2B5EF4-FFF2-40B4-BE49-F238E27FC236}">
                <a16:creationId xmlns:a16="http://schemas.microsoft.com/office/drawing/2014/main" id="{C456F222-2E1C-CF44-0E68-498986206F15}"/>
              </a:ext>
            </a:extLst>
          </p:cNvPr>
          <p:cNvSpPr/>
          <p:nvPr/>
        </p:nvSpPr>
        <p:spPr>
          <a:xfrm>
            <a:off x="402336" y="2699358"/>
            <a:ext cx="201168" cy="201168"/>
          </a:xfrm>
          <a:prstGeom prst="rect">
            <a:avLst/>
          </a:prstGeom>
          <a:solidFill>
            <a:srgbClr val="27AE60"/>
          </a:solidFill>
          <a:ln w="12700">
            <a:solidFill>
              <a:srgbClr val="27AE6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091" name="Text 17">
            <a:extLst>
              <a:ext uri="{FF2B5EF4-FFF2-40B4-BE49-F238E27FC236}">
                <a16:creationId xmlns:a16="http://schemas.microsoft.com/office/drawing/2014/main" id="{90498548-D77A-614C-9EAD-5F50C302AA09}"/>
              </a:ext>
            </a:extLst>
          </p:cNvPr>
          <p:cNvSpPr/>
          <p:nvPr/>
        </p:nvSpPr>
        <p:spPr>
          <a:xfrm>
            <a:off x="402336" y="2699358"/>
            <a:ext cx="201168"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ea typeface="Calibri" pitchFamily="34" charset="-122"/>
                <a:cs typeface="Calibri" pitchFamily="34" charset="-120"/>
              </a:rPr>
              <a:t>✓</a:t>
            </a:r>
            <a:endParaRPr kumimoji="0" lang="en-US" sz="900" b="0" i="0" u="none" strike="noStrike" kern="0" cap="none" spc="0" normalizeH="0" baseline="0" noProof="0" dirty="0">
              <a:ln>
                <a:noFill/>
              </a:ln>
              <a:solidFill>
                <a:prstClr val="black"/>
              </a:solidFill>
              <a:effectLst/>
              <a:uLnTx/>
              <a:uFillTx/>
            </a:endParaRPr>
          </a:p>
        </p:txBody>
      </p:sp>
      <p:sp>
        <p:nvSpPr>
          <p:cNvPr id="2092" name="Text 18">
            <a:extLst>
              <a:ext uri="{FF2B5EF4-FFF2-40B4-BE49-F238E27FC236}">
                <a16:creationId xmlns:a16="http://schemas.microsoft.com/office/drawing/2014/main" id="{00977B54-E1AD-09FA-A4CE-45850E50D82D}"/>
              </a:ext>
            </a:extLst>
          </p:cNvPr>
          <p:cNvSpPr/>
          <p:nvPr/>
        </p:nvSpPr>
        <p:spPr>
          <a:xfrm>
            <a:off x="658368" y="2690214"/>
            <a:ext cx="3685032" cy="219456"/>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2C3E50"/>
                </a:solidFill>
                <a:effectLst/>
                <a:uLnTx/>
                <a:uFillTx/>
                <a:ea typeface="Calibri" pitchFamily="34" charset="-122"/>
                <a:cs typeface="Calibri" pitchFamily="34" charset="-120"/>
              </a:rPr>
              <a:t>More diverse feature detectors running in parallel per layer</a:t>
            </a:r>
            <a:endParaRPr kumimoji="0" lang="en-US" sz="1200" b="0" i="0" u="none" strike="noStrike" kern="0" cap="none" spc="0" normalizeH="0" baseline="0" noProof="0" dirty="0">
              <a:ln>
                <a:noFill/>
              </a:ln>
              <a:solidFill>
                <a:prstClr val="black"/>
              </a:solidFill>
              <a:effectLst/>
              <a:uLnTx/>
              <a:uFillTx/>
            </a:endParaRPr>
          </a:p>
        </p:txBody>
      </p:sp>
      <p:grpSp>
        <p:nvGrpSpPr>
          <p:cNvPr id="2126" name="Group 2125">
            <a:extLst>
              <a:ext uri="{FF2B5EF4-FFF2-40B4-BE49-F238E27FC236}">
                <a16:creationId xmlns:a16="http://schemas.microsoft.com/office/drawing/2014/main" id="{443D33BD-53F7-92A4-CF74-0718C830D85F}"/>
              </a:ext>
            </a:extLst>
          </p:cNvPr>
          <p:cNvGrpSpPr/>
          <p:nvPr/>
        </p:nvGrpSpPr>
        <p:grpSpPr>
          <a:xfrm>
            <a:off x="402335" y="3074262"/>
            <a:ext cx="201168" cy="201168"/>
            <a:chOff x="402336" y="2973678"/>
            <a:chExt cx="201168" cy="201168"/>
          </a:xfrm>
        </p:grpSpPr>
        <p:sp>
          <p:nvSpPr>
            <p:cNvPr id="2093" name="Shape 19">
              <a:extLst>
                <a:ext uri="{FF2B5EF4-FFF2-40B4-BE49-F238E27FC236}">
                  <a16:creationId xmlns:a16="http://schemas.microsoft.com/office/drawing/2014/main" id="{0D9337AA-AFF8-2750-D65A-0096E2AC9C18}"/>
                </a:ext>
              </a:extLst>
            </p:cNvPr>
            <p:cNvSpPr/>
            <p:nvPr/>
          </p:nvSpPr>
          <p:spPr>
            <a:xfrm>
              <a:off x="402336" y="2973678"/>
              <a:ext cx="201168" cy="201168"/>
            </a:xfrm>
            <a:prstGeom prst="rect">
              <a:avLst/>
            </a:prstGeom>
            <a:solidFill>
              <a:srgbClr val="E74C3C"/>
            </a:solidFill>
            <a:ln w="12700">
              <a:solidFill>
                <a:srgbClr val="E74C3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94" name="Text 20">
              <a:extLst>
                <a:ext uri="{FF2B5EF4-FFF2-40B4-BE49-F238E27FC236}">
                  <a16:creationId xmlns:a16="http://schemas.microsoft.com/office/drawing/2014/main" id="{A4E5BE46-8923-69A6-AA94-062E5D7B658E}"/>
                </a:ext>
              </a:extLst>
            </p:cNvPr>
            <p:cNvSpPr/>
            <p:nvPr/>
          </p:nvSpPr>
          <p:spPr>
            <a:xfrm>
              <a:off x="402336" y="2973678"/>
              <a:ext cx="201168"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ea typeface="Calibri" pitchFamily="34" charset="-122"/>
                  <a:cs typeface="Calibri" pitchFamily="34" charset="-120"/>
                </a:rPr>
                <a:t>✗</a:t>
              </a:r>
              <a:endParaRPr kumimoji="0" lang="en-US" sz="900" b="0" i="0" u="none" strike="noStrike" kern="0" cap="none" spc="0" normalizeH="0" baseline="0" noProof="0" dirty="0">
                <a:ln>
                  <a:noFill/>
                </a:ln>
                <a:solidFill>
                  <a:prstClr val="black"/>
                </a:solidFill>
                <a:effectLst/>
                <a:uLnTx/>
                <a:uFillTx/>
              </a:endParaRPr>
            </a:p>
          </p:txBody>
        </p:sp>
      </p:grpSp>
      <p:sp>
        <p:nvSpPr>
          <p:cNvPr id="2095" name="Text 21">
            <a:extLst>
              <a:ext uri="{FF2B5EF4-FFF2-40B4-BE49-F238E27FC236}">
                <a16:creationId xmlns:a16="http://schemas.microsoft.com/office/drawing/2014/main" id="{699028FF-F140-8493-460F-3B0384E5BB8A}"/>
              </a:ext>
            </a:extLst>
          </p:cNvPr>
          <p:cNvSpPr/>
          <p:nvPr/>
        </p:nvSpPr>
        <p:spPr>
          <a:xfrm>
            <a:off x="658368" y="2996265"/>
            <a:ext cx="3776472" cy="497763"/>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2C3E50"/>
                </a:solidFill>
                <a:effectLst/>
                <a:uLnTx/>
                <a:uFillTx/>
                <a:ea typeface="Calibri" pitchFamily="34" charset="-122"/>
                <a:cs typeface="Calibri" pitchFamily="34" charset="-120"/>
              </a:rPr>
              <a:t>Saturates fast. A very wide but shallow network can't learn complex multi-step abstractions, because width doesn't add representational depth.</a:t>
            </a:r>
            <a:endParaRPr kumimoji="0" lang="en-US" sz="1200" b="0" i="0" u="none" strike="noStrike" kern="0" cap="none" spc="0" normalizeH="0" baseline="0" noProof="0" dirty="0">
              <a:ln>
                <a:noFill/>
              </a:ln>
              <a:solidFill>
                <a:prstClr val="black"/>
              </a:solidFill>
              <a:effectLst/>
              <a:uLnTx/>
              <a:uFillTx/>
            </a:endParaRPr>
          </a:p>
        </p:txBody>
      </p:sp>
      <p:sp>
        <p:nvSpPr>
          <p:cNvPr id="2096" name="Shape 22">
            <a:extLst>
              <a:ext uri="{FF2B5EF4-FFF2-40B4-BE49-F238E27FC236}">
                <a16:creationId xmlns:a16="http://schemas.microsoft.com/office/drawing/2014/main" id="{03FE5958-70C3-D0FF-C897-CD9243A09C48}"/>
              </a:ext>
            </a:extLst>
          </p:cNvPr>
          <p:cNvSpPr/>
          <p:nvPr/>
        </p:nvSpPr>
        <p:spPr>
          <a:xfrm>
            <a:off x="274319" y="3713485"/>
            <a:ext cx="4222866" cy="1069848"/>
          </a:xfrm>
          <a:prstGeom prst="rect">
            <a:avLst/>
          </a:prstGeom>
          <a:solidFill>
            <a:srgbClr val="FFFFFF"/>
          </a:solidFill>
          <a:ln w="6350">
            <a:solidFill>
              <a:srgbClr val="D8DEE9"/>
            </a:solidFill>
            <a:prstDash val="solid"/>
          </a:ln>
          <a:effectLst>
            <a:outerShdw blurRad="63500" dist="25400" dir="8100000" algn="bl" rotWithShape="0">
              <a:srgbClr val="000000">
                <a:alpha val="7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097" name="Shape 23">
            <a:extLst>
              <a:ext uri="{FF2B5EF4-FFF2-40B4-BE49-F238E27FC236}">
                <a16:creationId xmlns:a16="http://schemas.microsoft.com/office/drawing/2014/main" id="{5EDED212-A169-0F7C-554C-C75A8FD25682}"/>
              </a:ext>
            </a:extLst>
          </p:cNvPr>
          <p:cNvSpPr/>
          <p:nvPr/>
        </p:nvSpPr>
        <p:spPr>
          <a:xfrm>
            <a:off x="274319" y="3713485"/>
            <a:ext cx="50292" cy="1069848"/>
          </a:xfrm>
          <a:prstGeom prst="rect">
            <a:avLst/>
          </a:prstGeom>
          <a:solidFill>
            <a:srgbClr val="27AE60"/>
          </a:solidFill>
          <a:ln w="12700">
            <a:solidFill>
              <a:srgbClr val="27AE6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098" name="Text 24">
            <a:extLst>
              <a:ext uri="{FF2B5EF4-FFF2-40B4-BE49-F238E27FC236}">
                <a16:creationId xmlns:a16="http://schemas.microsoft.com/office/drawing/2014/main" id="{3D4E23D0-3A05-305F-86D3-710E2576551B}"/>
              </a:ext>
            </a:extLst>
          </p:cNvPr>
          <p:cNvSpPr/>
          <p:nvPr/>
        </p:nvSpPr>
        <p:spPr>
          <a:xfrm>
            <a:off x="402335" y="3786637"/>
            <a:ext cx="3977640"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27AE60"/>
                </a:solidFill>
                <a:effectLst/>
                <a:uLnTx/>
                <a:uFillTx/>
                <a:ea typeface="Calibri" pitchFamily="34" charset="-122"/>
                <a:cs typeface="Calibri" pitchFamily="34" charset="-120"/>
              </a:rPr>
              <a:t>HIGHER RESOLUTION  (larger input)</a:t>
            </a:r>
            <a:endParaRPr kumimoji="0" lang="en-US" sz="1100" b="0" i="0" u="none" strike="noStrike" kern="0" cap="none" spc="0" normalizeH="0" baseline="0" noProof="0" dirty="0">
              <a:ln>
                <a:noFill/>
              </a:ln>
              <a:solidFill>
                <a:prstClr val="black"/>
              </a:solidFill>
              <a:effectLst/>
              <a:uLnTx/>
              <a:uFillTx/>
            </a:endParaRPr>
          </a:p>
        </p:txBody>
      </p:sp>
      <p:sp>
        <p:nvSpPr>
          <p:cNvPr id="2099" name="Shape 25">
            <a:extLst>
              <a:ext uri="{FF2B5EF4-FFF2-40B4-BE49-F238E27FC236}">
                <a16:creationId xmlns:a16="http://schemas.microsoft.com/office/drawing/2014/main" id="{6B60E2EC-53E0-D3B0-776B-A9001194D543}"/>
              </a:ext>
            </a:extLst>
          </p:cNvPr>
          <p:cNvSpPr/>
          <p:nvPr/>
        </p:nvSpPr>
        <p:spPr>
          <a:xfrm>
            <a:off x="402335" y="4060957"/>
            <a:ext cx="201168" cy="201168"/>
          </a:xfrm>
          <a:prstGeom prst="rect">
            <a:avLst/>
          </a:prstGeom>
          <a:solidFill>
            <a:srgbClr val="27AE60"/>
          </a:solidFill>
          <a:ln w="12700">
            <a:solidFill>
              <a:srgbClr val="27AE6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00" name="Text 26">
            <a:extLst>
              <a:ext uri="{FF2B5EF4-FFF2-40B4-BE49-F238E27FC236}">
                <a16:creationId xmlns:a16="http://schemas.microsoft.com/office/drawing/2014/main" id="{B0FB4C58-B7A5-0FE3-1424-8D65414F4DC3}"/>
              </a:ext>
            </a:extLst>
          </p:cNvPr>
          <p:cNvSpPr/>
          <p:nvPr/>
        </p:nvSpPr>
        <p:spPr>
          <a:xfrm>
            <a:off x="402335" y="4060957"/>
            <a:ext cx="201168"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ea typeface="Calibri" pitchFamily="34" charset="-122"/>
                <a:cs typeface="Calibri" pitchFamily="34" charset="-120"/>
              </a:rPr>
              <a:t>✓</a:t>
            </a:r>
            <a:endParaRPr kumimoji="0" lang="en-US" sz="900" b="0" i="0" u="none" strike="noStrike" kern="0" cap="none" spc="0" normalizeH="0" baseline="0" noProof="0" dirty="0">
              <a:ln>
                <a:noFill/>
              </a:ln>
              <a:solidFill>
                <a:prstClr val="black"/>
              </a:solidFill>
              <a:effectLst/>
              <a:uLnTx/>
              <a:uFillTx/>
            </a:endParaRPr>
          </a:p>
        </p:txBody>
      </p:sp>
      <p:sp>
        <p:nvSpPr>
          <p:cNvPr id="2101" name="Text 27">
            <a:extLst>
              <a:ext uri="{FF2B5EF4-FFF2-40B4-BE49-F238E27FC236}">
                <a16:creationId xmlns:a16="http://schemas.microsoft.com/office/drawing/2014/main" id="{CDF02190-8629-798D-D084-9162528EEFBC}"/>
              </a:ext>
            </a:extLst>
          </p:cNvPr>
          <p:cNvSpPr/>
          <p:nvPr/>
        </p:nvSpPr>
        <p:spPr>
          <a:xfrm>
            <a:off x="658367" y="4067607"/>
            <a:ext cx="3721608" cy="219456"/>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2C3E50"/>
                </a:solidFill>
                <a:effectLst/>
                <a:uLnTx/>
                <a:uFillTx/>
                <a:ea typeface="Calibri" pitchFamily="34" charset="-122"/>
                <a:cs typeface="Calibri" pitchFamily="34" charset="-120"/>
              </a:rPr>
              <a:t>More spatial detail — catches subtle texture &amp; colour differences</a:t>
            </a:r>
            <a:endParaRPr kumimoji="0" lang="en-US" sz="1200" b="0" i="0" u="none" strike="noStrike" kern="0" cap="none" spc="0" normalizeH="0" baseline="0" noProof="0" dirty="0">
              <a:ln>
                <a:noFill/>
              </a:ln>
              <a:solidFill>
                <a:prstClr val="black"/>
              </a:solidFill>
              <a:effectLst/>
              <a:uLnTx/>
              <a:uFillTx/>
            </a:endParaRPr>
          </a:p>
        </p:txBody>
      </p:sp>
      <p:sp>
        <p:nvSpPr>
          <p:cNvPr id="2102" name="Shape 28">
            <a:extLst>
              <a:ext uri="{FF2B5EF4-FFF2-40B4-BE49-F238E27FC236}">
                <a16:creationId xmlns:a16="http://schemas.microsoft.com/office/drawing/2014/main" id="{E2D4F0D0-CCFD-6F96-A05A-C88F83560555}"/>
              </a:ext>
            </a:extLst>
          </p:cNvPr>
          <p:cNvSpPr/>
          <p:nvPr/>
        </p:nvSpPr>
        <p:spPr>
          <a:xfrm>
            <a:off x="402335" y="4335277"/>
            <a:ext cx="201168" cy="201168"/>
          </a:xfrm>
          <a:prstGeom prst="rect">
            <a:avLst/>
          </a:prstGeom>
          <a:solidFill>
            <a:srgbClr val="E74C3C"/>
          </a:solidFill>
          <a:ln w="12700">
            <a:solidFill>
              <a:srgbClr val="E74C3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103" name="Text 29">
            <a:extLst>
              <a:ext uri="{FF2B5EF4-FFF2-40B4-BE49-F238E27FC236}">
                <a16:creationId xmlns:a16="http://schemas.microsoft.com/office/drawing/2014/main" id="{7B977CA7-FDA8-161A-B177-FBB9CBF40880}"/>
              </a:ext>
            </a:extLst>
          </p:cNvPr>
          <p:cNvSpPr/>
          <p:nvPr/>
        </p:nvSpPr>
        <p:spPr>
          <a:xfrm>
            <a:off x="402335" y="4335277"/>
            <a:ext cx="201168"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ea typeface="Calibri" pitchFamily="34" charset="-122"/>
                <a:cs typeface="Calibri" pitchFamily="34" charset="-120"/>
              </a:rPr>
              <a:t>✗</a:t>
            </a:r>
            <a:endParaRPr kumimoji="0" lang="en-US" sz="900" b="0" i="0" u="none" strike="noStrike" kern="0" cap="none" spc="0" normalizeH="0" baseline="0" noProof="0" dirty="0">
              <a:ln>
                <a:noFill/>
              </a:ln>
              <a:solidFill>
                <a:prstClr val="black"/>
              </a:solidFill>
              <a:effectLst/>
              <a:uLnTx/>
              <a:uFillTx/>
            </a:endParaRPr>
          </a:p>
        </p:txBody>
      </p:sp>
      <p:sp>
        <p:nvSpPr>
          <p:cNvPr id="2104" name="Text 30">
            <a:extLst>
              <a:ext uri="{FF2B5EF4-FFF2-40B4-BE49-F238E27FC236}">
                <a16:creationId xmlns:a16="http://schemas.microsoft.com/office/drawing/2014/main" id="{27E2B0D3-C602-BD76-3C96-D79A11813E20}"/>
              </a:ext>
            </a:extLst>
          </p:cNvPr>
          <p:cNvSpPr/>
          <p:nvPr/>
        </p:nvSpPr>
        <p:spPr>
          <a:xfrm>
            <a:off x="658367" y="4403857"/>
            <a:ext cx="3685032" cy="219456"/>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2C3E50"/>
                </a:solidFill>
                <a:effectLst/>
                <a:uLnTx/>
                <a:uFillTx/>
                <a:ea typeface="Calibri" pitchFamily="34" charset="-122"/>
                <a:cs typeface="Calibri" pitchFamily="34" charset="-120"/>
              </a:rPr>
              <a:t>4× more compute per resolution doubling; accuracy plateaus fast</a:t>
            </a:r>
            <a:endParaRPr kumimoji="0" lang="en-US" sz="1200" b="0" i="0" u="none" strike="noStrike" kern="0" cap="none" spc="0" normalizeH="0" baseline="0" noProof="0" dirty="0">
              <a:ln>
                <a:noFill/>
              </a:ln>
              <a:solidFill>
                <a:prstClr val="black"/>
              </a:solidFill>
              <a:effectLst/>
              <a:uLnTx/>
              <a:uFillTx/>
            </a:endParaRPr>
          </a:p>
        </p:txBody>
      </p:sp>
      <p:sp>
        <p:nvSpPr>
          <p:cNvPr id="2107" name="Text 3">
            <a:extLst>
              <a:ext uri="{FF2B5EF4-FFF2-40B4-BE49-F238E27FC236}">
                <a16:creationId xmlns:a16="http://schemas.microsoft.com/office/drawing/2014/main" id="{2CC90341-2949-BCA7-F6D9-E1F9BC50C8CF}"/>
              </a:ext>
            </a:extLst>
          </p:cNvPr>
          <p:cNvSpPr/>
          <p:nvPr/>
        </p:nvSpPr>
        <p:spPr>
          <a:xfrm>
            <a:off x="274320" y="749808"/>
            <a:ext cx="4222866" cy="256032"/>
          </a:xfrm>
          <a:prstGeom prst="rect">
            <a:avLst/>
          </a:prstGeom>
          <a:noFill/>
          <a:ln/>
        </p:spPr>
        <p:txBody>
          <a:bodyPr wrap="square" lIns="0" tIns="0" rIns="0" bIns="0" rtlCol="0" anchor="ctr"/>
          <a:lstStyle/>
          <a:p>
            <a:pPr marL="0" indent="0">
              <a:buNone/>
            </a:pPr>
            <a:r>
              <a:rPr lang="en-US" sz="1200" b="1" kern="0" spc="150" dirty="0">
                <a:solidFill>
                  <a:srgbClr val="4472C4"/>
                </a:solidFill>
                <a:latin typeface="Calibri" pitchFamily="34" charset="0"/>
                <a:cs typeface="Calibri" pitchFamily="34" charset="-120"/>
              </a:rPr>
              <a:t>Most CNN architectures scale up by going either</a:t>
            </a:r>
          </a:p>
        </p:txBody>
      </p:sp>
      <p:sp>
        <p:nvSpPr>
          <p:cNvPr id="2117" name="Shape 70">
            <a:extLst>
              <a:ext uri="{FF2B5EF4-FFF2-40B4-BE49-F238E27FC236}">
                <a16:creationId xmlns:a16="http://schemas.microsoft.com/office/drawing/2014/main" id="{8B9ABE37-33E3-F4C8-76EA-6803F0E71A8D}"/>
              </a:ext>
            </a:extLst>
          </p:cNvPr>
          <p:cNvSpPr/>
          <p:nvPr/>
        </p:nvSpPr>
        <p:spPr>
          <a:xfrm>
            <a:off x="4709161" y="1033831"/>
            <a:ext cx="4358836" cy="1453896"/>
          </a:xfrm>
          <a:prstGeom prst="rect">
            <a:avLst/>
          </a:prstGeom>
          <a:solidFill>
            <a:srgbClr val="FFFFFF"/>
          </a:solidFill>
          <a:ln w="6350">
            <a:solidFill>
              <a:srgbClr val="D8DEE9"/>
            </a:solidFill>
            <a:prstDash val="solid"/>
          </a:ln>
          <a:effectLst>
            <a:outerShdw blurRad="63500" dist="25400" dir="8100000" algn="bl" rotWithShape="0">
              <a:srgbClr val="000000">
                <a:alpha val="7000"/>
              </a:srgbClr>
            </a:outerShdw>
          </a:effectLst>
        </p:spPr>
        <p:txBody>
          <a:bodyPr/>
          <a:lstStyle/>
          <a:p>
            <a:endParaRPr lang="en-US"/>
          </a:p>
        </p:txBody>
      </p:sp>
      <p:sp>
        <p:nvSpPr>
          <p:cNvPr id="2118" name="Shape 71">
            <a:extLst>
              <a:ext uri="{FF2B5EF4-FFF2-40B4-BE49-F238E27FC236}">
                <a16:creationId xmlns:a16="http://schemas.microsoft.com/office/drawing/2014/main" id="{3290C02A-8B1B-A9A9-8542-352FD00BDAA8}"/>
              </a:ext>
            </a:extLst>
          </p:cNvPr>
          <p:cNvSpPr/>
          <p:nvPr/>
        </p:nvSpPr>
        <p:spPr>
          <a:xfrm>
            <a:off x="4709162" y="1033831"/>
            <a:ext cx="50292" cy="1453896"/>
          </a:xfrm>
          <a:prstGeom prst="rect">
            <a:avLst/>
          </a:prstGeom>
          <a:solidFill>
            <a:srgbClr val="4472C4"/>
          </a:solidFill>
          <a:ln w="12700">
            <a:solidFill>
              <a:srgbClr val="4472C4"/>
            </a:solidFill>
            <a:prstDash val="solid"/>
          </a:ln>
        </p:spPr>
        <p:txBody>
          <a:bodyPr/>
          <a:lstStyle/>
          <a:p>
            <a:endParaRPr lang="en-US"/>
          </a:p>
        </p:txBody>
      </p:sp>
      <p:sp>
        <p:nvSpPr>
          <p:cNvPr id="2119" name="Text 72">
            <a:extLst>
              <a:ext uri="{FF2B5EF4-FFF2-40B4-BE49-F238E27FC236}">
                <a16:creationId xmlns:a16="http://schemas.microsoft.com/office/drawing/2014/main" id="{7590D0B4-E723-337A-489A-E6E5E90F95C5}"/>
              </a:ext>
            </a:extLst>
          </p:cNvPr>
          <p:cNvSpPr/>
          <p:nvPr/>
        </p:nvSpPr>
        <p:spPr>
          <a:xfrm>
            <a:off x="4837178" y="1079551"/>
            <a:ext cx="3977640" cy="256032"/>
          </a:xfrm>
          <a:prstGeom prst="rect">
            <a:avLst/>
          </a:prstGeom>
          <a:noFill/>
          <a:ln/>
        </p:spPr>
        <p:txBody>
          <a:bodyPr wrap="square" lIns="0" tIns="0" rIns="0" bIns="0" rtlCol="0" anchor="ctr"/>
          <a:lstStyle/>
          <a:p>
            <a:pPr marL="0" indent="0">
              <a:buNone/>
            </a:pPr>
            <a:r>
              <a:rPr lang="en-US" sz="1200" b="1" dirty="0">
                <a:solidFill>
                  <a:srgbClr val="1B3869"/>
                </a:solidFill>
                <a:latin typeface="Calibri" pitchFamily="34" charset="0"/>
                <a:ea typeface="Calibri" pitchFamily="34" charset="-122"/>
                <a:cs typeface="Calibri" pitchFamily="34" charset="-120"/>
              </a:rPr>
              <a:t>EfficientNetB3 follows compound scaling</a:t>
            </a:r>
            <a:endParaRPr lang="en-US" sz="1200" dirty="0"/>
          </a:p>
        </p:txBody>
      </p:sp>
      <p:sp>
        <p:nvSpPr>
          <p:cNvPr id="2120" name="Text 73">
            <a:extLst>
              <a:ext uri="{FF2B5EF4-FFF2-40B4-BE49-F238E27FC236}">
                <a16:creationId xmlns:a16="http://schemas.microsoft.com/office/drawing/2014/main" id="{FF5B9F90-0524-0481-2A50-D2AFAD16D87D}"/>
              </a:ext>
            </a:extLst>
          </p:cNvPr>
          <p:cNvSpPr/>
          <p:nvPr/>
        </p:nvSpPr>
        <p:spPr>
          <a:xfrm>
            <a:off x="4837178" y="1316736"/>
            <a:ext cx="4119372" cy="1024128"/>
          </a:xfrm>
          <a:prstGeom prst="rect">
            <a:avLst/>
          </a:prstGeom>
          <a:noFill/>
          <a:ln/>
        </p:spPr>
        <p:txBody>
          <a:bodyPr wrap="square" lIns="0" tIns="0" rIns="0" bIns="0" rtlCol="0" anchor="t"/>
          <a:lstStyle/>
          <a:p>
            <a:pPr marL="0" indent="0" algn="just">
              <a:buNone/>
            </a:pPr>
            <a:r>
              <a:rPr lang="en-US" sz="1200" dirty="0">
                <a:solidFill>
                  <a:srgbClr val="444F5A"/>
                </a:solidFill>
                <a:latin typeface="Calibri" pitchFamily="34" charset="0"/>
                <a:cs typeface="Calibri" pitchFamily="34" charset="-120"/>
              </a:rPr>
              <a:t>It scales all three together in a principled ratio, keeping the network balanced.</a:t>
            </a:r>
          </a:p>
          <a:p>
            <a:pPr marL="171450" indent="-171450" algn="just">
              <a:buFont typeface="Arial" panose="020B0604020202020204" pitchFamily="34" charset="0"/>
              <a:buChar char="•"/>
            </a:pPr>
            <a:r>
              <a:rPr lang="en-US" sz="1200" dirty="0">
                <a:solidFill>
                  <a:srgbClr val="444F5A"/>
                </a:solidFill>
                <a:latin typeface="Calibri" pitchFamily="34" charset="0"/>
                <a:ea typeface="Calibri" pitchFamily="34" charset="-122"/>
                <a:cs typeface="Calibri" pitchFamily="34" charset="-120"/>
              </a:rPr>
              <a:t>Higher resolution is useless if the network is too shallow to process the detail. </a:t>
            </a:r>
          </a:p>
          <a:p>
            <a:pPr marL="171450" indent="-171450" algn="just">
              <a:buFont typeface="Arial" panose="020B0604020202020204" pitchFamily="34" charset="0"/>
              <a:buChar char="•"/>
            </a:pPr>
            <a:r>
              <a:rPr lang="en-US" sz="1200" dirty="0">
                <a:solidFill>
                  <a:srgbClr val="444F5A"/>
                </a:solidFill>
                <a:latin typeface="Calibri" pitchFamily="34" charset="0"/>
                <a:ea typeface="Calibri" pitchFamily="34" charset="-122"/>
                <a:cs typeface="Calibri" pitchFamily="34" charset="-120"/>
              </a:rPr>
              <a:t>Going deeper is wasteful if channels are too narrow to carry information.</a:t>
            </a:r>
            <a:endParaRPr lang="en-US" sz="1200" dirty="0"/>
          </a:p>
        </p:txBody>
      </p:sp>
      <p:sp>
        <p:nvSpPr>
          <p:cNvPr id="2121" name="Text 74">
            <a:extLst>
              <a:ext uri="{FF2B5EF4-FFF2-40B4-BE49-F238E27FC236}">
                <a16:creationId xmlns:a16="http://schemas.microsoft.com/office/drawing/2014/main" id="{2C3425E5-A440-7508-5270-2A1E77ABC21E}"/>
              </a:ext>
            </a:extLst>
          </p:cNvPr>
          <p:cNvSpPr/>
          <p:nvPr/>
        </p:nvSpPr>
        <p:spPr>
          <a:xfrm>
            <a:off x="4709161" y="4600453"/>
            <a:ext cx="4297680" cy="182880"/>
          </a:xfrm>
          <a:prstGeom prst="rect">
            <a:avLst/>
          </a:prstGeom>
          <a:noFill/>
          <a:ln/>
        </p:spPr>
        <p:txBody>
          <a:bodyPr wrap="square" lIns="0" tIns="0" rIns="0" bIns="0" rtlCol="0" anchor="ctr"/>
          <a:lstStyle/>
          <a:p>
            <a:pPr marL="0" indent="0">
              <a:buNone/>
            </a:pPr>
            <a:r>
              <a:rPr lang="en-US" sz="650" i="1" dirty="0">
                <a:solidFill>
                  <a:srgbClr val="8899AA"/>
                </a:solidFill>
                <a:latin typeface="Calibri" pitchFamily="34" charset="0"/>
                <a:ea typeface="Calibri" pitchFamily="34" charset="-122"/>
                <a:cs typeface="Calibri" pitchFamily="34" charset="-120"/>
              </a:rPr>
              <a:t>Tan &amp; Le (2019). EfficientNet: Rethinking Model Scaling for Convolutional Neural Networks. ICML.</a:t>
            </a:r>
            <a:endParaRPr lang="en-US" sz="650" dirty="0"/>
          </a:p>
        </p:txBody>
      </p:sp>
      <p:pic>
        <p:nvPicPr>
          <p:cNvPr id="2122" name="Picture 4">
            <a:extLst>
              <a:ext uri="{FF2B5EF4-FFF2-40B4-BE49-F238E27FC236}">
                <a16:creationId xmlns:a16="http://schemas.microsoft.com/office/drawing/2014/main" id="{D6D31135-829E-5C18-E91A-87578EFDB6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9161" y="2655774"/>
            <a:ext cx="4358836" cy="1868072"/>
          </a:xfrm>
          <a:prstGeom prst="rect">
            <a:avLst/>
          </a:prstGeom>
          <a:noFill/>
          <a:extLst>
            <a:ext uri="{909E8E84-426E-40DD-AFC4-6F175D3DCCD1}">
              <a14:hiddenFill xmlns:a14="http://schemas.microsoft.com/office/drawing/2010/main">
                <a:solidFill>
                  <a:srgbClr val="FFFFFF"/>
                </a:solidFill>
              </a14:hiddenFill>
            </a:ext>
          </a:extLst>
        </p:spPr>
      </p:pic>
      <p:grpSp>
        <p:nvGrpSpPr>
          <p:cNvPr id="2127" name="Group 2126">
            <a:extLst>
              <a:ext uri="{FF2B5EF4-FFF2-40B4-BE49-F238E27FC236}">
                <a16:creationId xmlns:a16="http://schemas.microsoft.com/office/drawing/2014/main" id="{8544647E-6B19-4E49-41F4-5510045869FD}"/>
              </a:ext>
            </a:extLst>
          </p:cNvPr>
          <p:cNvGrpSpPr/>
          <p:nvPr/>
        </p:nvGrpSpPr>
        <p:grpSpPr>
          <a:xfrm>
            <a:off x="401324" y="1811021"/>
            <a:ext cx="201168" cy="201168"/>
            <a:chOff x="402336" y="2973678"/>
            <a:chExt cx="201168" cy="201168"/>
          </a:xfrm>
        </p:grpSpPr>
        <p:sp>
          <p:nvSpPr>
            <p:cNvPr id="2128" name="Shape 19">
              <a:extLst>
                <a:ext uri="{FF2B5EF4-FFF2-40B4-BE49-F238E27FC236}">
                  <a16:creationId xmlns:a16="http://schemas.microsoft.com/office/drawing/2014/main" id="{97173B26-87D1-1095-66EB-6714363B21A8}"/>
                </a:ext>
              </a:extLst>
            </p:cNvPr>
            <p:cNvSpPr/>
            <p:nvPr/>
          </p:nvSpPr>
          <p:spPr>
            <a:xfrm>
              <a:off x="402336" y="2973678"/>
              <a:ext cx="201168" cy="201168"/>
            </a:xfrm>
            <a:prstGeom prst="rect">
              <a:avLst/>
            </a:prstGeom>
            <a:solidFill>
              <a:srgbClr val="E74C3C"/>
            </a:solidFill>
            <a:ln w="12700">
              <a:solidFill>
                <a:srgbClr val="E74C3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129" name="Text 20">
              <a:extLst>
                <a:ext uri="{FF2B5EF4-FFF2-40B4-BE49-F238E27FC236}">
                  <a16:creationId xmlns:a16="http://schemas.microsoft.com/office/drawing/2014/main" id="{1B065801-358A-48DB-C23F-0176498154AF}"/>
                </a:ext>
              </a:extLst>
            </p:cNvPr>
            <p:cNvSpPr/>
            <p:nvPr/>
          </p:nvSpPr>
          <p:spPr>
            <a:xfrm>
              <a:off x="402336" y="2973678"/>
              <a:ext cx="201168"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ea typeface="Calibri" pitchFamily="34" charset="-122"/>
                  <a:cs typeface="Calibri" pitchFamily="34" charset="-120"/>
                </a:rPr>
                <a:t>✗</a:t>
              </a:r>
              <a:endParaRPr kumimoji="0" lang="en-US" sz="900" b="0" i="0" u="none" strike="noStrike" kern="0" cap="none" spc="0" normalizeH="0" baseline="0" noProof="0" dirty="0">
                <a:ln>
                  <a:noFill/>
                </a:ln>
                <a:solidFill>
                  <a:prstClr val="black"/>
                </a:solidFill>
                <a:effectLst/>
                <a:uLnTx/>
                <a:uFillTx/>
              </a:endParaRPr>
            </a:p>
          </p:txBody>
        </p:sp>
      </p:grpSp>
    </p:spTree>
    <p:extLst>
      <p:ext uri="{BB962C8B-B14F-4D97-AF65-F5344CB8AC3E}">
        <p14:creationId xmlns:p14="http://schemas.microsoft.com/office/powerpoint/2010/main" val="2527883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a:extLst>
            <a:ext uri="{FF2B5EF4-FFF2-40B4-BE49-F238E27FC236}">
              <a16:creationId xmlns:a16="http://schemas.microsoft.com/office/drawing/2014/main" id="{519B76F4-D209-BD44-094B-9EC17922507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F952CD-35BD-2217-9881-456F2FD65A50}"/>
              </a:ext>
            </a:extLst>
          </p:cNvPr>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95FD405-28F9-BF22-1DEA-83962AA6A062}"/>
              </a:ext>
            </a:extLst>
          </p:cNvPr>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E3A7022-493F-EA54-F0DD-E693ECFDFE41}"/>
              </a:ext>
            </a:extLst>
          </p:cNvPr>
          <p:cNvSpPr txBox="1"/>
          <p:nvPr/>
        </p:nvSpPr>
        <p:spPr>
          <a:xfrm>
            <a:off x="274320" y="113740"/>
            <a:ext cx="8595360" cy="430887"/>
          </a:xfrm>
          <a:prstGeom prst="rect">
            <a:avLst/>
          </a:prstGeom>
          <a:noFill/>
        </p:spPr>
        <p:txBody>
          <a:bodyPr wrap="square" lIns="45720" rIns="45720" anchor="ctr">
            <a:spAutoFit/>
          </a:bodyPr>
          <a:lstStyle/>
          <a:p>
            <a:pPr algn="l"/>
            <a:r>
              <a:rPr lang="en-AU" sz="2200" b="1" dirty="0">
                <a:solidFill>
                  <a:srgbClr val="FFFFFF"/>
                </a:solidFill>
                <a:latin typeface="Calibri"/>
              </a:rPr>
              <a:t>3</a:t>
            </a:r>
            <a:r>
              <a:rPr lang="en-AU" sz="2200" b="1" i="0" dirty="0">
                <a:solidFill>
                  <a:srgbClr val="FFFFFF"/>
                </a:solidFill>
                <a:latin typeface="Calibri"/>
              </a:rPr>
              <a:t>. Why EfficientNet-B3?</a:t>
            </a:r>
          </a:p>
        </p:txBody>
      </p:sp>
      <p:pic>
        <p:nvPicPr>
          <p:cNvPr id="2050" name="Picture 2">
            <a:extLst>
              <a:ext uri="{FF2B5EF4-FFF2-40B4-BE49-F238E27FC236}">
                <a16:creationId xmlns:a16="http://schemas.microsoft.com/office/drawing/2014/main" id="{1D28DC9B-C322-1DDC-874E-51C5E96F7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964625"/>
            <a:ext cx="4472247" cy="3363878"/>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a:extLst>
              <a:ext uri="{FF2B5EF4-FFF2-40B4-BE49-F238E27FC236}">
                <a16:creationId xmlns:a16="http://schemas.microsoft.com/office/drawing/2014/main" id="{AE2E7193-104C-D5A5-5EB7-576998543EDA}"/>
              </a:ext>
            </a:extLst>
          </p:cNvPr>
          <p:cNvSpPr/>
          <p:nvPr/>
        </p:nvSpPr>
        <p:spPr>
          <a:xfrm>
            <a:off x="274320" y="969756"/>
            <a:ext cx="4114800" cy="354454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a:extLst>
              <a:ext uri="{FF2B5EF4-FFF2-40B4-BE49-F238E27FC236}">
                <a16:creationId xmlns:a16="http://schemas.microsoft.com/office/drawing/2014/main" id="{31A021E4-154D-8BA4-3A5D-11E042EBAC36}"/>
              </a:ext>
            </a:extLst>
          </p:cNvPr>
          <p:cNvSpPr/>
          <p:nvPr/>
        </p:nvSpPr>
        <p:spPr>
          <a:xfrm>
            <a:off x="274320" y="969756"/>
            <a:ext cx="4114800"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C6386DC6-2B7D-1996-5EE7-D8922DC94ED2}"/>
              </a:ext>
            </a:extLst>
          </p:cNvPr>
          <p:cNvSpPr txBox="1"/>
          <p:nvPr/>
        </p:nvSpPr>
        <p:spPr>
          <a:xfrm>
            <a:off x="411480" y="1015476"/>
            <a:ext cx="3840480" cy="384048"/>
          </a:xfrm>
          <a:prstGeom prst="rect">
            <a:avLst/>
          </a:prstGeom>
          <a:noFill/>
        </p:spPr>
        <p:txBody>
          <a:bodyPr wrap="square" lIns="45720" rIns="45720">
            <a:spAutoFit/>
          </a:bodyPr>
          <a:lstStyle/>
          <a:p>
            <a:pPr algn="l"/>
            <a:r>
              <a:rPr sz="1300" b="1" i="0" dirty="0">
                <a:solidFill>
                  <a:srgbClr val="1F497D"/>
                </a:solidFill>
                <a:latin typeface="Calibri"/>
              </a:rPr>
              <a:t>Why EfficientNet-B3?</a:t>
            </a:r>
          </a:p>
        </p:txBody>
      </p:sp>
      <p:sp>
        <p:nvSpPr>
          <p:cNvPr id="48" name="Rectangle 47">
            <a:extLst>
              <a:ext uri="{FF2B5EF4-FFF2-40B4-BE49-F238E27FC236}">
                <a16:creationId xmlns:a16="http://schemas.microsoft.com/office/drawing/2014/main" id="{1F2C36F1-DA91-1823-53A0-2E37D8CA0698}"/>
              </a:ext>
            </a:extLst>
          </p:cNvPr>
          <p:cNvSpPr/>
          <p:nvPr/>
        </p:nvSpPr>
        <p:spPr>
          <a:xfrm>
            <a:off x="365760" y="1340088"/>
            <a:ext cx="3931920" cy="768096"/>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F531BEAB-FBC3-B0E6-CDDE-78D9136EFB1D}"/>
              </a:ext>
            </a:extLst>
          </p:cNvPr>
          <p:cNvSpPr txBox="1"/>
          <p:nvPr/>
        </p:nvSpPr>
        <p:spPr>
          <a:xfrm>
            <a:off x="457200" y="1376664"/>
            <a:ext cx="3566160" cy="184666"/>
          </a:xfrm>
          <a:prstGeom prst="rect">
            <a:avLst/>
          </a:prstGeom>
          <a:noFill/>
        </p:spPr>
        <p:txBody>
          <a:bodyPr wrap="square" lIns="0" tIns="0" rIns="0" bIns="0">
            <a:spAutoFit/>
          </a:bodyPr>
          <a:lstStyle/>
          <a:p>
            <a:pPr algn="l"/>
            <a:r>
              <a:rPr sz="1200" b="1" i="0" dirty="0">
                <a:solidFill>
                  <a:srgbClr val="2E74B5"/>
                </a:solidFill>
                <a:latin typeface="Calibri"/>
              </a:rPr>
              <a:t>300 × 300 input</a:t>
            </a:r>
          </a:p>
        </p:txBody>
      </p:sp>
      <p:sp>
        <p:nvSpPr>
          <p:cNvPr id="50" name="TextBox 49">
            <a:extLst>
              <a:ext uri="{FF2B5EF4-FFF2-40B4-BE49-F238E27FC236}">
                <a16:creationId xmlns:a16="http://schemas.microsoft.com/office/drawing/2014/main" id="{3794640C-4DE3-A48B-28C3-4A13CB9BF03A}"/>
              </a:ext>
            </a:extLst>
          </p:cNvPr>
          <p:cNvSpPr txBox="1"/>
          <p:nvPr/>
        </p:nvSpPr>
        <p:spPr>
          <a:xfrm>
            <a:off x="457200" y="1614408"/>
            <a:ext cx="3794760" cy="369332"/>
          </a:xfrm>
          <a:prstGeom prst="rect">
            <a:avLst/>
          </a:prstGeom>
          <a:noFill/>
        </p:spPr>
        <p:txBody>
          <a:bodyPr wrap="square" lIns="0" tIns="0" rIns="0" bIns="0">
            <a:spAutoFit/>
          </a:bodyPr>
          <a:lstStyle/>
          <a:p>
            <a:pPr algn="l"/>
            <a:r>
              <a:rPr sz="1200" b="0" i="0" dirty="0">
                <a:solidFill>
                  <a:srgbClr val="1A1A2E"/>
                </a:solidFill>
                <a:latin typeface="Calibri"/>
              </a:rPr>
              <a:t>High-res</a:t>
            </a:r>
            <a:r>
              <a:rPr lang="vi-VN" sz="1200" b="0" i="0" dirty="0">
                <a:solidFill>
                  <a:srgbClr val="1A1A2E"/>
                </a:solidFill>
                <a:latin typeface="Calibri"/>
              </a:rPr>
              <a:t>olution</a:t>
            </a:r>
            <a:r>
              <a:rPr sz="1200" b="0" i="0" dirty="0">
                <a:solidFill>
                  <a:srgbClr val="1A1A2E"/>
                </a:solidFill>
                <a:latin typeface="Calibri"/>
              </a:rPr>
              <a:t> input captures the fine </a:t>
            </a:r>
            <a:r>
              <a:rPr sz="1200" b="0" i="0" dirty="0" err="1">
                <a:solidFill>
                  <a:srgbClr val="1A1A2E"/>
                </a:solidFill>
                <a:latin typeface="Calibri"/>
              </a:rPr>
              <a:t>colour</a:t>
            </a:r>
            <a:r>
              <a:rPr sz="1200" b="0" i="0" dirty="0">
                <a:solidFill>
                  <a:srgbClr val="1A1A2E"/>
                </a:solidFill>
                <a:latin typeface="Calibri"/>
              </a:rPr>
              <a:t> &amp; texture detail needed to tell apple varieties apart.</a:t>
            </a:r>
          </a:p>
        </p:txBody>
      </p:sp>
      <p:sp>
        <p:nvSpPr>
          <p:cNvPr id="51" name="Rectangle 50">
            <a:extLst>
              <a:ext uri="{FF2B5EF4-FFF2-40B4-BE49-F238E27FC236}">
                <a16:creationId xmlns:a16="http://schemas.microsoft.com/office/drawing/2014/main" id="{6E58E09D-3461-E906-7A02-EC0ED9EA089B}"/>
              </a:ext>
            </a:extLst>
          </p:cNvPr>
          <p:cNvSpPr/>
          <p:nvPr/>
        </p:nvSpPr>
        <p:spPr>
          <a:xfrm>
            <a:off x="365760" y="2407150"/>
            <a:ext cx="3931920" cy="768096"/>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00D4025F-4925-229D-B191-BD872431A073}"/>
              </a:ext>
            </a:extLst>
          </p:cNvPr>
          <p:cNvSpPr txBox="1"/>
          <p:nvPr/>
        </p:nvSpPr>
        <p:spPr>
          <a:xfrm>
            <a:off x="457200" y="2443726"/>
            <a:ext cx="3566160" cy="184666"/>
          </a:xfrm>
          <a:prstGeom prst="rect">
            <a:avLst/>
          </a:prstGeom>
          <a:noFill/>
        </p:spPr>
        <p:txBody>
          <a:bodyPr wrap="square" lIns="0" tIns="0" rIns="0" bIns="0">
            <a:spAutoFit/>
          </a:bodyPr>
          <a:lstStyle/>
          <a:p>
            <a:pPr algn="l"/>
            <a:r>
              <a:rPr lang="vi-VN" sz="1200" b="1" i="0" dirty="0">
                <a:solidFill>
                  <a:srgbClr val="2E74B5"/>
                </a:solidFill>
                <a:latin typeface="Calibri"/>
              </a:rPr>
              <a:t>12</a:t>
            </a:r>
            <a:r>
              <a:rPr sz="1200" b="1" i="0" dirty="0">
                <a:solidFill>
                  <a:srgbClr val="2E74B5"/>
                </a:solidFill>
                <a:latin typeface="Calibri"/>
              </a:rPr>
              <a:t>M parameters</a:t>
            </a:r>
          </a:p>
        </p:txBody>
      </p:sp>
      <p:sp>
        <p:nvSpPr>
          <p:cNvPr id="53" name="TextBox 52">
            <a:extLst>
              <a:ext uri="{FF2B5EF4-FFF2-40B4-BE49-F238E27FC236}">
                <a16:creationId xmlns:a16="http://schemas.microsoft.com/office/drawing/2014/main" id="{7A4A01FD-B615-56F0-997A-13861A82000B}"/>
              </a:ext>
            </a:extLst>
          </p:cNvPr>
          <p:cNvSpPr txBox="1"/>
          <p:nvPr/>
        </p:nvSpPr>
        <p:spPr>
          <a:xfrm>
            <a:off x="457200" y="2681469"/>
            <a:ext cx="3794760" cy="369332"/>
          </a:xfrm>
          <a:prstGeom prst="rect">
            <a:avLst/>
          </a:prstGeom>
          <a:noFill/>
        </p:spPr>
        <p:txBody>
          <a:bodyPr wrap="square" lIns="0" tIns="0" rIns="0" bIns="0">
            <a:spAutoFit/>
          </a:bodyPr>
          <a:lstStyle/>
          <a:p>
            <a:pPr algn="l"/>
            <a:r>
              <a:rPr sz="1200" b="0" i="0" dirty="0">
                <a:solidFill>
                  <a:srgbClr val="1A1A2E"/>
                </a:solidFill>
                <a:latin typeface="Calibri"/>
              </a:rPr>
              <a:t>Compact enough to train well on a small dataset of ~1,500 images.</a:t>
            </a:r>
          </a:p>
        </p:txBody>
      </p:sp>
      <p:sp>
        <p:nvSpPr>
          <p:cNvPr id="54" name="Rectangle 53">
            <a:extLst>
              <a:ext uri="{FF2B5EF4-FFF2-40B4-BE49-F238E27FC236}">
                <a16:creationId xmlns:a16="http://schemas.microsoft.com/office/drawing/2014/main" id="{B4E04B62-A0BB-FA58-2AB2-8E3F7D65433E}"/>
              </a:ext>
            </a:extLst>
          </p:cNvPr>
          <p:cNvSpPr/>
          <p:nvPr/>
        </p:nvSpPr>
        <p:spPr>
          <a:xfrm>
            <a:off x="365760" y="3557508"/>
            <a:ext cx="3931920" cy="765864"/>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DC85357F-2E5B-3BFE-F7F6-9221C37A3AD7}"/>
              </a:ext>
            </a:extLst>
          </p:cNvPr>
          <p:cNvSpPr txBox="1"/>
          <p:nvPr/>
        </p:nvSpPr>
        <p:spPr>
          <a:xfrm>
            <a:off x="457200" y="3594084"/>
            <a:ext cx="3566160" cy="184666"/>
          </a:xfrm>
          <a:prstGeom prst="rect">
            <a:avLst/>
          </a:prstGeom>
          <a:noFill/>
        </p:spPr>
        <p:txBody>
          <a:bodyPr wrap="square" lIns="0" tIns="0" rIns="0" bIns="0">
            <a:spAutoFit/>
          </a:bodyPr>
          <a:lstStyle/>
          <a:p>
            <a:pPr algn="l"/>
            <a:r>
              <a:rPr sz="1200" b="1" i="0" dirty="0">
                <a:solidFill>
                  <a:srgbClr val="2E74B5"/>
                </a:solidFill>
                <a:latin typeface="Calibri"/>
              </a:rPr>
              <a:t>ImageNet pretrained</a:t>
            </a:r>
          </a:p>
        </p:txBody>
      </p:sp>
      <p:sp>
        <p:nvSpPr>
          <p:cNvPr id="56" name="TextBox 55">
            <a:extLst>
              <a:ext uri="{FF2B5EF4-FFF2-40B4-BE49-F238E27FC236}">
                <a16:creationId xmlns:a16="http://schemas.microsoft.com/office/drawing/2014/main" id="{662A53E5-0B6C-2E4E-0A44-6F0574E23FB8}"/>
              </a:ext>
            </a:extLst>
          </p:cNvPr>
          <p:cNvSpPr txBox="1"/>
          <p:nvPr/>
        </p:nvSpPr>
        <p:spPr>
          <a:xfrm>
            <a:off x="457200" y="3831828"/>
            <a:ext cx="3566160" cy="369332"/>
          </a:xfrm>
          <a:prstGeom prst="rect">
            <a:avLst/>
          </a:prstGeom>
          <a:noFill/>
        </p:spPr>
        <p:txBody>
          <a:bodyPr wrap="square" lIns="0" tIns="0" rIns="0" bIns="0">
            <a:spAutoFit/>
          </a:bodyPr>
          <a:lstStyle/>
          <a:p>
            <a:pPr algn="l"/>
            <a:r>
              <a:rPr sz="1200" b="0" i="0" dirty="0">
                <a:solidFill>
                  <a:srgbClr val="1A1A2E"/>
                </a:solidFill>
                <a:latin typeface="Calibri"/>
              </a:rPr>
              <a:t>Starts with rich general visual knowledge, needing only fine-tuning for fruit.</a:t>
            </a:r>
          </a:p>
        </p:txBody>
      </p:sp>
      <p:sp>
        <p:nvSpPr>
          <p:cNvPr id="57" name="Text 74">
            <a:extLst>
              <a:ext uri="{FF2B5EF4-FFF2-40B4-BE49-F238E27FC236}">
                <a16:creationId xmlns:a16="http://schemas.microsoft.com/office/drawing/2014/main" id="{F7646368-2C9E-9AE3-A146-9E8BD3C7B571}"/>
              </a:ext>
            </a:extLst>
          </p:cNvPr>
          <p:cNvSpPr/>
          <p:nvPr/>
        </p:nvSpPr>
        <p:spPr>
          <a:xfrm>
            <a:off x="4580312" y="4379329"/>
            <a:ext cx="4297680" cy="182880"/>
          </a:xfrm>
          <a:prstGeom prst="rect">
            <a:avLst/>
          </a:prstGeom>
          <a:noFill/>
          <a:ln/>
        </p:spPr>
        <p:txBody>
          <a:bodyPr wrap="square" lIns="0" tIns="0" rIns="0" bIns="0" rtlCol="0" anchor="ctr"/>
          <a:lstStyle/>
          <a:p>
            <a:pPr marL="0" indent="0">
              <a:buNone/>
            </a:pPr>
            <a:r>
              <a:rPr lang="en-US" sz="650" i="1" dirty="0">
                <a:solidFill>
                  <a:srgbClr val="8899AA"/>
                </a:solidFill>
                <a:latin typeface="Calibri" pitchFamily="34" charset="0"/>
                <a:ea typeface="Calibri" pitchFamily="34" charset="-122"/>
                <a:cs typeface="Calibri" pitchFamily="34" charset="-120"/>
              </a:rPr>
              <a:t>Tan &amp; Le (2019). EfficientNet: Rethinking Model Scaling for Convolutional Neural Networks. ICML.</a:t>
            </a:r>
            <a:endParaRPr lang="en-US" sz="650" dirty="0"/>
          </a:p>
        </p:txBody>
      </p:sp>
    </p:spTree>
    <p:extLst>
      <p:ext uri="{BB962C8B-B14F-4D97-AF65-F5344CB8AC3E}">
        <p14:creationId xmlns:p14="http://schemas.microsoft.com/office/powerpoint/2010/main" val="2869806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a:extLst>
            <a:ext uri="{FF2B5EF4-FFF2-40B4-BE49-F238E27FC236}">
              <a16:creationId xmlns:a16="http://schemas.microsoft.com/office/drawing/2014/main" id="{59F0688A-8E16-CFEE-E74D-90D3C52ECD14}"/>
            </a:ext>
          </a:extLst>
        </p:cNvPr>
        <p:cNvGrpSpPr/>
        <p:nvPr/>
      </p:nvGrpSpPr>
      <p:grpSpPr>
        <a:xfrm>
          <a:off x="0" y="0"/>
          <a:ext cx="0" cy="0"/>
          <a:chOff x="0" y="0"/>
          <a:chExt cx="0" cy="0"/>
        </a:xfrm>
      </p:grpSpPr>
      <p:sp>
        <p:nvSpPr>
          <p:cNvPr id="2108" name="Rectangle 2107">
            <a:extLst>
              <a:ext uri="{FF2B5EF4-FFF2-40B4-BE49-F238E27FC236}">
                <a16:creationId xmlns:a16="http://schemas.microsoft.com/office/drawing/2014/main" id="{F9F54796-8217-E38B-8684-362E3DD06E27}"/>
              </a:ext>
            </a:extLst>
          </p:cNvPr>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9" name="Rectangle 2108">
            <a:extLst>
              <a:ext uri="{FF2B5EF4-FFF2-40B4-BE49-F238E27FC236}">
                <a16:creationId xmlns:a16="http://schemas.microsoft.com/office/drawing/2014/main" id="{1DECC270-57F6-621E-089F-1ADA25515A2C}"/>
              </a:ext>
            </a:extLst>
          </p:cNvPr>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0" name="TextBox 2109">
            <a:extLst>
              <a:ext uri="{FF2B5EF4-FFF2-40B4-BE49-F238E27FC236}">
                <a16:creationId xmlns:a16="http://schemas.microsoft.com/office/drawing/2014/main" id="{5F8D41D5-F70F-754C-AD8A-8827E90008FF}"/>
              </a:ext>
            </a:extLst>
          </p:cNvPr>
          <p:cNvSpPr txBox="1"/>
          <p:nvPr/>
        </p:nvSpPr>
        <p:spPr>
          <a:xfrm>
            <a:off x="274320" y="113740"/>
            <a:ext cx="8595360" cy="430887"/>
          </a:xfrm>
          <a:prstGeom prst="rect">
            <a:avLst/>
          </a:prstGeom>
          <a:noFill/>
        </p:spPr>
        <p:txBody>
          <a:bodyPr wrap="square" lIns="45720" rIns="45720" anchor="ctr">
            <a:spAutoFit/>
          </a:bodyPr>
          <a:lstStyle/>
          <a:p>
            <a:pPr marL="0" indent="0">
              <a:buNone/>
            </a:pPr>
            <a:r>
              <a:rPr lang="en-US" sz="2200" b="1" dirty="0">
                <a:solidFill>
                  <a:srgbClr val="FFFFFF"/>
                </a:solidFill>
                <a:latin typeface="Calibri" pitchFamily="34" charset="0"/>
                <a:ea typeface="Calibri" pitchFamily="34" charset="-122"/>
                <a:cs typeface="Calibri" pitchFamily="34" charset="-120"/>
              </a:rPr>
              <a:t>4. EfficientNet-B3 Architecture: Inspiration</a:t>
            </a:r>
            <a:endParaRPr lang="en-US" sz="2200" dirty="0"/>
          </a:p>
        </p:txBody>
      </p:sp>
      <p:pic>
        <p:nvPicPr>
          <p:cNvPr id="10244" name="Picture 4" descr="EfficientNet: Boost CNN Accuracy with Less Compute">
            <a:extLst>
              <a:ext uri="{FF2B5EF4-FFF2-40B4-BE49-F238E27FC236}">
                <a16:creationId xmlns:a16="http://schemas.microsoft.com/office/drawing/2014/main" id="{61AF611A-8F00-5468-5A30-44E267E6E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5700185" y="1836799"/>
            <a:ext cx="3667303" cy="1812641"/>
          </a:xfrm>
          <a:prstGeom prst="rect">
            <a:avLst/>
          </a:prstGeom>
          <a:noFill/>
          <a:extLst>
            <a:ext uri="{909E8E84-426E-40DD-AFC4-6F175D3DCCD1}">
              <a14:hiddenFill xmlns:a14="http://schemas.microsoft.com/office/drawing/2010/main">
                <a:solidFill>
                  <a:srgbClr val="FFFFFF"/>
                </a:solidFill>
              </a14:hiddenFill>
            </a:ext>
          </a:extLst>
        </p:spPr>
      </p:pic>
      <p:sp>
        <p:nvSpPr>
          <p:cNvPr id="33" name="Text 74">
            <a:extLst>
              <a:ext uri="{FF2B5EF4-FFF2-40B4-BE49-F238E27FC236}">
                <a16:creationId xmlns:a16="http://schemas.microsoft.com/office/drawing/2014/main" id="{87755F9D-1562-48AD-7DE6-C03511813119}"/>
              </a:ext>
            </a:extLst>
          </p:cNvPr>
          <p:cNvSpPr/>
          <p:nvPr/>
        </p:nvSpPr>
        <p:spPr>
          <a:xfrm>
            <a:off x="6355996" y="4690711"/>
            <a:ext cx="2513684" cy="182880"/>
          </a:xfrm>
          <a:prstGeom prst="rect">
            <a:avLst/>
          </a:prstGeom>
          <a:noFill/>
          <a:ln/>
        </p:spPr>
        <p:txBody>
          <a:bodyPr wrap="square" lIns="0" tIns="0" rIns="0" bIns="0" rtlCol="0" anchor="ctr"/>
          <a:lstStyle/>
          <a:p>
            <a:pPr marL="0" indent="0">
              <a:buNone/>
            </a:pPr>
            <a:r>
              <a:rPr lang="en-US" sz="650" i="1" dirty="0" err="1">
                <a:solidFill>
                  <a:srgbClr val="8899AA"/>
                </a:solidFill>
                <a:latin typeface="Calibri" pitchFamily="34" charset="0"/>
                <a:ea typeface="Calibri" pitchFamily="34" charset="-122"/>
                <a:cs typeface="Calibri" pitchFamily="34" charset="-120"/>
              </a:rPr>
              <a:t>Tashin</a:t>
            </a:r>
            <a:r>
              <a:rPr lang="en-US" sz="650" i="1" dirty="0">
                <a:solidFill>
                  <a:srgbClr val="8899AA"/>
                </a:solidFill>
                <a:latin typeface="Calibri" pitchFamily="34" charset="0"/>
                <a:ea typeface="Calibri" pitchFamily="34" charset="-122"/>
                <a:cs typeface="Calibri" pitchFamily="34" charset="-120"/>
              </a:rPr>
              <a:t> &amp; Noor (2021). EfficientNet: Classification and understanding of cloud structures via satellite images with </a:t>
            </a:r>
            <a:r>
              <a:rPr lang="en-US" sz="650" i="1" dirty="0" err="1">
                <a:solidFill>
                  <a:srgbClr val="8899AA"/>
                </a:solidFill>
                <a:latin typeface="Calibri" pitchFamily="34" charset="0"/>
                <a:ea typeface="Calibri" pitchFamily="34" charset="-122"/>
                <a:cs typeface="Calibri" pitchFamily="34" charset="-120"/>
              </a:rPr>
              <a:t>EfficientUNet</a:t>
            </a:r>
            <a:endParaRPr lang="en-US" sz="650" dirty="0"/>
          </a:p>
        </p:txBody>
      </p:sp>
      <p:grpSp>
        <p:nvGrpSpPr>
          <p:cNvPr id="34" name="Group 33">
            <a:extLst>
              <a:ext uri="{FF2B5EF4-FFF2-40B4-BE49-F238E27FC236}">
                <a16:creationId xmlns:a16="http://schemas.microsoft.com/office/drawing/2014/main" id="{D72A022A-B626-A88B-C1F0-20F8A9E1A61A}"/>
              </a:ext>
            </a:extLst>
          </p:cNvPr>
          <p:cNvGrpSpPr/>
          <p:nvPr/>
        </p:nvGrpSpPr>
        <p:grpSpPr>
          <a:xfrm>
            <a:off x="211740" y="917719"/>
            <a:ext cx="5969689" cy="4112041"/>
            <a:chOff x="1779139" y="352702"/>
            <a:chExt cx="5969689" cy="4112041"/>
          </a:xfrm>
        </p:grpSpPr>
        <p:sp>
          <p:nvSpPr>
            <p:cNvPr id="39" name="Shape 10">
              <a:extLst>
                <a:ext uri="{FF2B5EF4-FFF2-40B4-BE49-F238E27FC236}">
                  <a16:creationId xmlns:a16="http://schemas.microsoft.com/office/drawing/2014/main" id="{6A1D0774-704F-D817-5094-B5A69C031C95}"/>
                </a:ext>
              </a:extLst>
            </p:cNvPr>
            <p:cNvSpPr/>
            <p:nvPr/>
          </p:nvSpPr>
          <p:spPr>
            <a:xfrm flipH="1">
              <a:off x="2488510" y="515096"/>
              <a:ext cx="1898824" cy="769095"/>
            </a:xfrm>
            <a:prstGeom prst="line">
              <a:avLst/>
            </a:prstGeom>
            <a:noFill/>
            <a:ln w="19050">
              <a:solidFill>
                <a:srgbClr val="9EAAB8"/>
              </a:solidFill>
              <a:prstDash val="solid"/>
            </a:ln>
          </p:spPr>
          <p:txBody>
            <a:bodyPr/>
            <a:lstStyle/>
            <a:p>
              <a:endParaRPr lang="en-US"/>
            </a:p>
          </p:txBody>
        </p:sp>
        <p:sp>
          <p:nvSpPr>
            <p:cNvPr id="2057" name="Shape 10">
              <a:extLst>
                <a:ext uri="{FF2B5EF4-FFF2-40B4-BE49-F238E27FC236}">
                  <a16:creationId xmlns:a16="http://schemas.microsoft.com/office/drawing/2014/main" id="{124CF59F-D73C-F073-17B6-5201A532C7B0}"/>
                </a:ext>
              </a:extLst>
            </p:cNvPr>
            <p:cNvSpPr/>
            <p:nvPr/>
          </p:nvSpPr>
          <p:spPr>
            <a:xfrm>
              <a:off x="4739192" y="509588"/>
              <a:ext cx="1957360" cy="788860"/>
            </a:xfrm>
            <a:prstGeom prst="line">
              <a:avLst/>
            </a:prstGeom>
            <a:noFill/>
            <a:ln w="19050">
              <a:solidFill>
                <a:srgbClr val="9EAAB8"/>
              </a:solidFill>
              <a:prstDash val="solid"/>
            </a:ln>
          </p:spPr>
          <p:txBody>
            <a:bodyPr/>
            <a:lstStyle/>
            <a:p>
              <a:endParaRPr lang="en-US"/>
            </a:p>
          </p:txBody>
        </p:sp>
        <p:grpSp>
          <p:nvGrpSpPr>
            <p:cNvPr id="2058" name="Group 2057">
              <a:extLst>
                <a:ext uri="{FF2B5EF4-FFF2-40B4-BE49-F238E27FC236}">
                  <a16:creationId xmlns:a16="http://schemas.microsoft.com/office/drawing/2014/main" id="{2ED0C037-BDF5-0EE1-A437-3525E43D60DA}"/>
                </a:ext>
              </a:extLst>
            </p:cNvPr>
            <p:cNvGrpSpPr/>
            <p:nvPr/>
          </p:nvGrpSpPr>
          <p:grpSpPr>
            <a:xfrm>
              <a:off x="4387333" y="352702"/>
              <a:ext cx="369334" cy="331470"/>
              <a:chOff x="4279392" y="749808"/>
              <a:chExt cx="585216" cy="475488"/>
            </a:xfrm>
          </p:grpSpPr>
          <p:sp>
            <p:nvSpPr>
              <p:cNvPr id="2155" name="Shape 3">
                <a:extLst>
                  <a:ext uri="{FF2B5EF4-FFF2-40B4-BE49-F238E27FC236}">
                    <a16:creationId xmlns:a16="http://schemas.microsoft.com/office/drawing/2014/main" id="{07E5BD87-2DFF-C386-CBCC-5E3C081D6EA8}"/>
                  </a:ext>
                </a:extLst>
              </p:cNvPr>
              <p:cNvSpPr/>
              <p:nvPr/>
            </p:nvSpPr>
            <p:spPr>
              <a:xfrm>
                <a:off x="4279392" y="749808"/>
                <a:ext cx="585216" cy="475488"/>
              </a:xfrm>
              <a:prstGeom prst="rect">
                <a:avLst/>
              </a:prstGeom>
              <a:solidFill>
                <a:srgbClr val="EBF3FC"/>
              </a:solidFill>
              <a:ln w="19050">
                <a:solidFill>
                  <a:srgbClr val="4472C4"/>
                </a:solidFill>
                <a:prstDash val="solid"/>
              </a:ln>
              <a:effectLst>
                <a:outerShdw blurRad="63500" dist="25400" dir="8100000" algn="bl" rotWithShape="0">
                  <a:srgbClr val="000000">
                    <a:alpha val="10000"/>
                  </a:srgbClr>
                </a:outerShdw>
              </a:effectLst>
            </p:spPr>
            <p:txBody>
              <a:bodyPr/>
              <a:lstStyle/>
              <a:p>
                <a:endParaRPr lang="en-US"/>
              </a:p>
            </p:txBody>
          </p:sp>
          <p:sp>
            <p:nvSpPr>
              <p:cNvPr id="2156" name="Shape 4">
                <a:extLst>
                  <a:ext uri="{FF2B5EF4-FFF2-40B4-BE49-F238E27FC236}">
                    <a16:creationId xmlns:a16="http://schemas.microsoft.com/office/drawing/2014/main" id="{CEF76B82-96C8-BDB0-AB76-F123D0AA2947}"/>
                  </a:ext>
                </a:extLst>
              </p:cNvPr>
              <p:cNvSpPr/>
              <p:nvPr/>
            </p:nvSpPr>
            <p:spPr>
              <a:xfrm>
                <a:off x="4389120" y="877824"/>
                <a:ext cx="365760" cy="0"/>
              </a:xfrm>
              <a:prstGeom prst="line">
                <a:avLst/>
              </a:prstGeom>
              <a:noFill/>
              <a:ln w="10160">
                <a:solidFill>
                  <a:srgbClr val="4472C4"/>
                </a:solidFill>
                <a:prstDash val="solid"/>
              </a:ln>
            </p:spPr>
            <p:txBody>
              <a:bodyPr/>
              <a:lstStyle/>
              <a:p>
                <a:endParaRPr lang="en-US"/>
              </a:p>
            </p:txBody>
          </p:sp>
          <p:sp>
            <p:nvSpPr>
              <p:cNvPr id="2157" name="Shape 5">
                <a:extLst>
                  <a:ext uri="{FF2B5EF4-FFF2-40B4-BE49-F238E27FC236}">
                    <a16:creationId xmlns:a16="http://schemas.microsoft.com/office/drawing/2014/main" id="{2677C3F2-0898-AD0D-581B-62A8E9C7745F}"/>
                  </a:ext>
                </a:extLst>
              </p:cNvPr>
              <p:cNvSpPr/>
              <p:nvPr/>
            </p:nvSpPr>
            <p:spPr>
              <a:xfrm>
                <a:off x="4389120" y="987552"/>
                <a:ext cx="365760" cy="0"/>
              </a:xfrm>
              <a:prstGeom prst="line">
                <a:avLst/>
              </a:prstGeom>
              <a:noFill/>
              <a:ln w="10160">
                <a:solidFill>
                  <a:srgbClr val="4472C4"/>
                </a:solidFill>
                <a:prstDash val="solid"/>
              </a:ln>
            </p:spPr>
            <p:txBody>
              <a:bodyPr/>
              <a:lstStyle/>
              <a:p>
                <a:endParaRPr lang="en-US"/>
              </a:p>
            </p:txBody>
          </p:sp>
          <p:sp>
            <p:nvSpPr>
              <p:cNvPr id="2158" name="Shape 6">
                <a:extLst>
                  <a:ext uri="{FF2B5EF4-FFF2-40B4-BE49-F238E27FC236}">
                    <a16:creationId xmlns:a16="http://schemas.microsoft.com/office/drawing/2014/main" id="{9B9B08A5-C641-2984-51B2-5E5C2EB43EBC}"/>
                  </a:ext>
                </a:extLst>
              </p:cNvPr>
              <p:cNvSpPr/>
              <p:nvPr/>
            </p:nvSpPr>
            <p:spPr>
              <a:xfrm>
                <a:off x="4389120" y="1078992"/>
                <a:ext cx="365760" cy="0"/>
              </a:xfrm>
              <a:prstGeom prst="line">
                <a:avLst/>
              </a:prstGeom>
              <a:noFill/>
              <a:ln w="10160">
                <a:solidFill>
                  <a:srgbClr val="4472C4"/>
                </a:solidFill>
                <a:prstDash val="solid"/>
              </a:ln>
            </p:spPr>
            <p:txBody>
              <a:bodyPr/>
              <a:lstStyle/>
              <a:p>
                <a:endParaRPr lang="en-US"/>
              </a:p>
            </p:txBody>
          </p:sp>
        </p:grpSp>
        <p:sp>
          <p:nvSpPr>
            <p:cNvPr id="2059" name="Text 7">
              <a:extLst>
                <a:ext uri="{FF2B5EF4-FFF2-40B4-BE49-F238E27FC236}">
                  <a16:creationId xmlns:a16="http://schemas.microsoft.com/office/drawing/2014/main" id="{15787710-6DC6-3615-6C14-E914A85DE86C}"/>
                </a:ext>
              </a:extLst>
            </p:cNvPr>
            <p:cNvSpPr/>
            <p:nvPr/>
          </p:nvSpPr>
          <p:spPr>
            <a:xfrm>
              <a:off x="4039861" y="769029"/>
              <a:ext cx="1073418" cy="201168"/>
            </a:xfrm>
            <a:prstGeom prst="rect">
              <a:avLst/>
            </a:prstGeom>
            <a:noFill/>
            <a:ln/>
          </p:spPr>
          <p:txBody>
            <a:bodyPr wrap="square" lIns="0" tIns="0" rIns="0" bIns="0" rtlCol="0" anchor="ctr"/>
            <a:lstStyle/>
            <a:p>
              <a:pPr marL="0" indent="0" algn="ctr">
                <a:buNone/>
              </a:pPr>
              <a:r>
                <a:rPr lang="en-US" sz="1100" b="1" dirty="0">
                  <a:solidFill>
                    <a:srgbClr val="1B3869"/>
                  </a:solidFill>
                  <a:latin typeface="Calibri" pitchFamily="34" charset="0"/>
                  <a:ea typeface="Calibri" pitchFamily="34" charset="-122"/>
                  <a:cs typeface="Calibri" pitchFamily="34" charset="-120"/>
                </a:rPr>
                <a:t>Instance</a:t>
              </a:r>
              <a:endParaRPr lang="en-US" sz="1100" dirty="0"/>
            </a:p>
          </p:txBody>
        </p:sp>
        <p:grpSp>
          <p:nvGrpSpPr>
            <p:cNvPr id="2060" name="Group 2059">
              <a:extLst>
                <a:ext uri="{FF2B5EF4-FFF2-40B4-BE49-F238E27FC236}">
                  <a16:creationId xmlns:a16="http://schemas.microsoft.com/office/drawing/2014/main" id="{DFD8F3D6-A7B6-0B1B-4D03-229AB0921841}"/>
                </a:ext>
              </a:extLst>
            </p:cNvPr>
            <p:cNvGrpSpPr/>
            <p:nvPr/>
          </p:nvGrpSpPr>
          <p:grpSpPr>
            <a:xfrm>
              <a:off x="1779139" y="1284192"/>
              <a:ext cx="1408176" cy="1404144"/>
              <a:chOff x="941832" y="1344168"/>
              <a:chExt cx="1408176" cy="1404144"/>
            </a:xfrm>
          </p:grpSpPr>
          <p:sp>
            <p:nvSpPr>
              <p:cNvPr id="2141" name="Shape 13">
                <a:extLst>
                  <a:ext uri="{FF2B5EF4-FFF2-40B4-BE49-F238E27FC236}">
                    <a16:creationId xmlns:a16="http://schemas.microsoft.com/office/drawing/2014/main" id="{8C3AAB0E-B4EA-1C35-EB0D-5C5BBCBEB286}"/>
                  </a:ext>
                </a:extLst>
              </p:cNvPr>
              <p:cNvSpPr/>
              <p:nvPr/>
            </p:nvSpPr>
            <p:spPr>
              <a:xfrm flipH="1">
                <a:off x="1289304" y="1444752"/>
                <a:ext cx="356616" cy="374904"/>
              </a:xfrm>
              <a:prstGeom prst="line">
                <a:avLst/>
              </a:prstGeom>
              <a:noFill/>
              <a:ln w="19050">
                <a:solidFill>
                  <a:srgbClr val="E8820A"/>
                </a:solidFill>
                <a:prstDash val="solid"/>
              </a:ln>
            </p:spPr>
            <p:txBody>
              <a:bodyPr/>
              <a:lstStyle/>
              <a:p>
                <a:endParaRPr lang="en-US"/>
              </a:p>
            </p:txBody>
          </p:sp>
          <p:sp>
            <p:nvSpPr>
              <p:cNvPr id="2142" name="Shape 14">
                <a:extLst>
                  <a:ext uri="{FF2B5EF4-FFF2-40B4-BE49-F238E27FC236}">
                    <a16:creationId xmlns:a16="http://schemas.microsoft.com/office/drawing/2014/main" id="{F6087976-4BF3-A525-1458-46AFEBDA3673}"/>
                  </a:ext>
                </a:extLst>
              </p:cNvPr>
              <p:cNvSpPr/>
              <p:nvPr/>
            </p:nvSpPr>
            <p:spPr>
              <a:xfrm>
                <a:off x="1645920" y="1444752"/>
                <a:ext cx="402336" cy="475488"/>
              </a:xfrm>
              <a:prstGeom prst="line">
                <a:avLst/>
              </a:prstGeom>
              <a:noFill/>
              <a:ln w="12700">
                <a:solidFill>
                  <a:srgbClr val="9EAAB8"/>
                </a:solidFill>
                <a:prstDash val="solid"/>
              </a:ln>
            </p:spPr>
            <p:txBody>
              <a:bodyPr/>
              <a:lstStyle/>
              <a:p>
                <a:endParaRPr lang="en-US"/>
              </a:p>
            </p:txBody>
          </p:sp>
          <p:sp>
            <p:nvSpPr>
              <p:cNvPr id="2143" name="Shape 15">
                <a:extLst>
                  <a:ext uri="{FF2B5EF4-FFF2-40B4-BE49-F238E27FC236}">
                    <a16:creationId xmlns:a16="http://schemas.microsoft.com/office/drawing/2014/main" id="{1A6B6E8D-F2F5-0C93-CD55-46C427A44B9C}"/>
                  </a:ext>
                </a:extLst>
              </p:cNvPr>
              <p:cNvSpPr/>
              <p:nvPr/>
            </p:nvSpPr>
            <p:spPr>
              <a:xfrm flipH="1">
                <a:off x="1097280" y="1920240"/>
                <a:ext cx="146304" cy="384048"/>
              </a:xfrm>
              <a:prstGeom prst="line">
                <a:avLst/>
              </a:prstGeom>
              <a:noFill/>
              <a:ln w="12700">
                <a:solidFill>
                  <a:srgbClr val="9EAAB8"/>
                </a:solidFill>
                <a:prstDash val="solid"/>
              </a:ln>
            </p:spPr>
            <p:txBody>
              <a:bodyPr/>
              <a:lstStyle/>
              <a:p>
                <a:endParaRPr lang="en-US"/>
              </a:p>
            </p:txBody>
          </p:sp>
          <p:sp>
            <p:nvSpPr>
              <p:cNvPr id="2144" name="Shape 16">
                <a:extLst>
                  <a:ext uri="{FF2B5EF4-FFF2-40B4-BE49-F238E27FC236}">
                    <a16:creationId xmlns:a16="http://schemas.microsoft.com/office/drawing/2014/main" id="{1725BF85-94E8-94CA-A4D2-F9F8599381DA}"/>
                  </a:ext>
                </a:extLst>
              </p:cNvPr>
              <p:cNvSpPr/>
              <p:nvPr/>
            </p:nvSpPr>
            <p:spPr>
              <a:xfrm>
                <a:off x="1243584" y="1920240"/>
                <a:ext cx="201168" cy="475488"/>
              </a:xfrm>
              <a:prstGeom prst="line">
                <a:avLst/>
              </a:prstGeom>
              <a:noFill/>
              <a:ln w="19050">
                <a:solidFill>
                  <a:srgbClr val="E8820A"/>
                </a:solidFill>
                <a:prstDash val="solid"/>
              </a:ln>
            </p:spPr>
            <p:txBody>
              <a:bodyPr/>
              <a:lstStyle/>
              <a:p>
                <a:endParaRPr lang="en-US"/>
              </a:p>
            </p:txBody>
          </p:sp>
          <p:sp>
            <p:nvSpPr>
              <p:cNvPr id="2145" name="Shape 17">
                <a:extLst>
                  <a:ext uri="{FF2B5EF4-FFF2-40B4-BE49-F238E27FC236}">
                    <a16:creationId xmlns:a16="http://schemas.microsoft.com/office/drawing/2014/main" id="{9AC25395-6FDE-12DB-FAB3-0D2CC345083B}"/>
                  </a:ext>
                </a:extLst>
              </p:cNvPr>
              <p:cNvSpPr/>
              <p:nvPr/>
            </p:nvSpPr>
            <p:spPr>
              <a:xfrm flipH="1">
                <a:off x="1865376" y="1920240"/>
                <a:ext cx="182880" cy="393192"/>
              </a:xfrm>
              <a:prstGeom prst="line">
                <a:avLst/>
              </a:prstGeom>
              <a:noFill/>
              <a:ln w="12700">
                <a:solidFill>
                  <a:srgbClr val="9EAAB8"/>
                </a:solidFill>
                <a:prstDash val="solid"/>
              </a:ln>
            </p:spPr>
            <p:txBody>
              <a:bodyPr/>
              <a:lstStyle/>
              <a:p>
                <a:endParaRPr lang="en-US"/>
              </a:p>
            </p:txBody>
          </p:sp>
          <p:sp>
            <p:nvSpPr>
              <p:cNvPr id="2146" name="Shape 18">
                <a:extLst>
                  <a:ext uri="{FF2B5EF4-FFF2-40B4-BE49-F238E27FC236}">
                    <a16:creationId xmlns:a16="http://schemas.microsoft.com/office/drawing/2014/main" id="{7BD994DA-2AD4-9893-927A-41F206AF2B33}"/>
                  </a:ext>
                </a:extLst>
              </p:cNvPr>
              <p:cNvSpPr/>
              <p:nvPr/>
            </p:nvSpPr>
            <p:spPr>
              <a:xfrm>
                <a:off x="2048256" y="1920240"/>
                <a:ext cx="201168" cy="475488"/>
              </a:xfrm>
              <a:prstGeom prst="line">
                <a:avLst/>
              </a:prstGeom>
              <a:noFill/>
              <a:ln w="12700">
                <a:solidFill>
                  <a:srgbClr val="9EAAB8"/>
                </a:solidFill>
                <a:prstDash val="solid"/>
              </a:ln>
            </p:spPr>
            <p:txBody>
              <a:bodyPr/>
              <a:lstStyle/>
              <a:p>
                <a:endParaRPr lang="en-US"/>
              </a:p>
            </p:txBody>
          </p:sp>
          <p:sp>
            <p:nvSpPr>
              <p:cNvPr id="2147" name="Shape 19">
                <a:extLst>
                  <a:ext uri="{FF2B5EF4-FFF2-40B4-BE49-F238E27FC236}">
                    <a16:creationId xmlns:a16="http://schemas.microsoft.com/office/drawing/2014/main" id="{89971070-3CEE-F905-00D7-8B487B958751}"/>
                  </a:ext>
                </a:extLst>
              </p:cNvPr>
              <p:cNvSpPr/>
              <p:nvPr/>
            </p:nvSpPr>
            <p:spPr>
              <a:xfrm>
                <a:off x="1545336" y="1344168"/>
                <a:ext cx="201168" cy="201168"/>
              </a:xfrm>
              <a:prstGeom prst="ellipse">
                <a:avLst/>
              </a:prstGeom>
              <a:solidFill>
                <a:srgbClr val="E8820A"/>
              </a:solidFill>
              <a:ln w="25400">
                <a:solidFill>
                  <a:srgbClr val="B85E00"/>
                </a:solidFill>
                <a:prstDash val="solid"/>
              </a:ln>
            </p:spPr>
            <p:txBody>
              <a:bodyPr/>
              <a:lstStyle/>
              <a:p>
                <a:endParaRPr lang="en-US"/>
              </a:p>
            </p:txBody>
          </p:sp>
          <p:sp>
            <p:nvSpPr>
              <p:cNvPr id="2148" name="Shape 20">
                <a:extLst>
                  <a:ext uri="{FF2B5EF4-FFF2-40B4-BE49-F238E27FC236}">
                    <a16:creationId xmlns:a16="http://schemas.microsoft.com/office/drawing/2014/main" id="{C3D1A2B5-282A-CA67-4489-5C1865A61F12}"/>
                  </a:ext>
                </a:extLst>
              </p:cNvPr>
              <p:cNvSpPr/>
              <p:nvPr/>
            </p:nvSpPr>
            <p:spPr>
              <a:xfrm>
                <a:off x="1143000" y="1819656"/>
                <a:ext cx="201168" cy="201168"/>
              </a:xfrm>
              <a:prstGeom prst="ellipse">
                <a:avLst/>
              </a:prstGeom>
              <a:solidFill>
                <a:srgbClr val="E8820A"/>
              </a:solidFill>
              <a:ln w="25400">
                <a:solidFill>
                  <a:srgbClr val="B85E00"/>
                </a:solidFill>
                <a:prstDash val="solid"/>
              </a:ln>
            </p:spPr>
            <p:txBody>
              <a:bodyPr/>
              <a:lstStyle/>
              <a:p>
                <a:endParaRPr lang="en-US"/>
              </a:p>
            </p:txBody>
          </p:sp>
          <p:sp>
            <p:nvSpPr>
              <p:cNvPr id="2149" name="Shape 21">
                <a:extLst>
                  <a:ext uri="{FF2B5EF4-FFF2-40B4-BE49-F238E27FC236}">
                    <a16:creationId xmlns:a16="http://schemas.microsoft.com/office/drawing/2014/main" id="{254E6591-F39B-BDB7-A4F4-9869D38FBB32}"/>
                  </a:ext>
                </a:extLst>
              </p:cNvPr>
              <p:cNvSpPr/>
              <p:nvPr/>
            </p:nvSpPr>
            <p:spPr>
              <a:xfrm>
                <a:off x="1947672" y="1819656"/>
                <a:ext cx="201168" cy="201168"/>
              </a:xfrm>
              <a:prstGeom prst="ellipse">
                <a:avLst/>
              </a:prstGeom>
              <a:solidFill>
                <a:srgbClr val="9DC8EE"/>
              </a:solidFill>
              <a:ln w="12700">
                <a:solidFill>
                  <a:srgbClr val="4A88C8"/>
                </a:solidFill>
                <a:prstDash val="solid"/>
              </a:ln>
            </p:spPr>
            <p:txBody>
              <a:bodyPr/>
              <a:lstStyle/>
              <a:p>
                <a:endParaRPr lang="en-US"/>
              </a:p>
            </p:txBody>
          </p:sp>
          <p:sp>
            <p:nvSpPr>
              <p:cNvPr id="2150" name="Shape 22">
                <a:extLst>
                  <a:ext uri="{FF2B5EF4-FFF2-40B4-BE49-F238E27FC236}">
                    <a16:creationId xmlns:a16="http://schemas.microsoft.com/office/drawing/2014/main" id="{126C6DF4-0648-5D02-4612-D042799FDB65}"/>
                  </a:ext>
                </a:extLst>
              </p:cNvPr>
              <p:cNvSpPr/>
              <p:nvPr/>
            </p:nvSpPr>
            <p:spPr>
              <a:xfrm>
                <a:off x="941832"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151" name="Shape 23">
                <a:extLst>
                  <a:ext uri="{FF2B5EF4-FFF2-40B4-BE49-F238E27FC236}">
                    <a16:creationId xmlns:a16="http://schemas.microsoft.com/office/drawing/2014/main" id="{DA5F6E23-669E-13D5-D4A5-71057588C486}"/>
                  </a:ext>
                </a:extLst>
              </p:cNvPr>
              <p:cNvSpPr/>
              <p:nvPr/>
            </p:nvSpPr>
            <p:spPr>
              <a:xfrm>
                <a:off x="1344168" y="2295144"/>
                <a:ext cx="201168" cy="201168"/>
              </a:xfrm>
              <a:prstGeom prst="ellipse">
                <a:avLst/>
              </a:prstGeom>
              <a:solidFill>
                <a:srgbClr val="E8820A"/>
              </a:solidFill>
              <a:ln w="25400">
                <a:solidFill>
                  <a:srgbClr val="B85E00"/>
                </a:solidFill>
                <a:prstDash val="solid"/>
              </a:ln>
            </p:spPr>
            <p:txBody>
              <a:bodyPr/>
              <a:lstStyle/>
              <a:p>
                <a:endParaRPr lang="en-US"/>
              </a:p>
            </p:txBody>
          </p:sp>
          <p:sp>
            <p:nvSpPr>
              <p:cNvPr id="2152" name="Shape 24">
                <a:extLst>
                  <a:ext uri="{FF2B5EF4-FFF2-40B4-BE49-F238E27FC236}">
                    <a16:creationId xmlns:a16="http://schemas.microsoft.com/office/drawing/2014/main" id="{5C52F1B9-7C26-6402-63A1-23F87FC12A90}"/>
                  </a:ext>
                </a:extLst>
              </p:cNvPr>
              <p:cNvSpPr/>
              <p:nvPr/>
            </p:nvSpPr>
            <p:spPr>
              <a:xfrm>
                <a:off x="1746504"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153" name="Shape 25">
                <a:extLst>
                  <a:ext uri="{FF2B5EF4-FFF2-40B4-BE49-F238E27FC236}">
                    <a16:creationId xmlns:a16="http://schemas.microsoft.com/office/drawing/2014/main" id="{BDD6998B-9B0D-65F7-0C21-A834C543E482}"/>
                  </a:ext>
                </a:extLst>
              </p:cNvPr>
              <p:cNvSpPr/>
              <p:nvPr/>
            </p:nvSpPr>
            <p:spPr>
              <a:xfrm>
                <a:off x="2148840"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154" name="Shape 26">
                <a:extLst>
                  <a:ext uri="{FF2B5EF4-FFF2-40B4-BE49-F238E27FC236}">
                    <a16:creationId xmlns:a16="http://schemas.microsoft.com/office/drawing/2014/main" id="{B3761614-2FC6-719F-8D8A-5C186BC79554}"/>
                  </a:ext>
                </a:extLst>
              </p:cNvPr>
              <p:cNvSpPr/>
              <p:nvPr/>
            </p:nvSpPr>
            <p:spPr>
              <a:xfrm>
                <a:off x="1444752" y="2496312"/>
                <a:ext cx="0" cy="252000"/>
              </a:xfrm>
              <a:prstGeom prst="line">
                <a:avLst/>
              </a:prstGeom>
              <a:noFill/>
              <a:ln w="19050">
                <a:solidFill>
                  <a:srgbClr val="E8820A"/>
                </a:solidFill>
                <a:prstDash val="solid"/>
              </a:ln>
            </p:spPr>
            <p:txBody>
              <a:bodyPr/>
              <a:lstStyle/>
              <a:p>
                <a:endParaRPr lang="en-US"/>
              </a:p>
            </p:txBody>
          </p:sp>
        </p:grpSp>
        <p:grpSp>
          <p:nvGrpSpPr>
            <p:cNvPr id="2061" name="Group 2060">
              <a:extLst>
                <a:ext uri="{FF2B5EF4-FFF2-40B4-BE49-F238E27FC236}">
                  <a16:creationId xmlns:a16="http://schemas.microsoft.com/office/drawing/2014/main" id="{E25CBD23-75DD-EB42-F181-68B9B3BD3CAC}"/>
                </a:ext>
              </a:extLst>
            </p:cNvPr>
            <p:cNvGrpSpPr/>
            <p:nvPr/>
          </p:nvGrpSpPr>
          <p:grpSpPr>
            <a:xfrm>
              <a:off x="1799056" y="2685780"/>
              <a:ext cx="914400" cy="292608"/>
              <a:chOff x="1188720" y="3401568"/>
              <a:chExt cx="914400" cy="292608"/>
            </a:xfrm>
          </p:grpSpPr>
          <p:sp>
            <p:nvSpPr>
              <p:cNvPr id="2139" name="Shape 28">
                <a:extLst>
                  <a:ext uri="{FF2B5EF4-FFF2-40B4-BE49-F238E27FC236}">
                    <a16:creationId xmlns:a16="http://schemas.microsoft.com/office/drawing/2014/main" id="{E4836783-205E-51A1-8E67-A6F4813C9B3B}"/>
                  </a:ext>
                </a:extLst>
              </p:cNvPr>
              <p:cNvSpPr/>
              <p:nvPr/>
            </p:nvSpPr>
            <p:spPr>
              <a:xfrm>
                <a:off x="1188720" y="3401568"/>
                <a:ext cx="914400" cy="292608"/>
              </a:xfrm>
              <a:prstGeom prst="rect">
                <a:avLst/>
              </a:prstGeom>
              <a:solidFill>
                <a:srgbClr val="FFFFFF"/>
              </a:solidFill>
              <a:ln w="19050">
                <a:solidFill>
                  <a:srgbClr val="00B050"/>
                </a:solidFill>
                <a:prstDash val="solid"/>
              </a:ln>
              <a:effectLst>
                <a:outerShdw blurRad="63500" dist="25400" dir="8100000" algn="bl" rotWithShape="0">
                  <a:srgbClr val="000000">
                    <a:alpha val="10000"/>
                  </a:srgbClr>
                </a:outerShdw>
              </a:effectLst>
            </p:spPr>
            <p:txBody>
              <a:bodyPr/>
              <a:lstStyle/>
              <a:p>
                <a:endParaRPr lang="en-US"/>
              </a:p>
            </p:txBody>
          </p:sp>
          <p:sp>
            <p:nvSpPr>
              <p:cNvPr id="2140" name="Text 29">
                <a:extLst>
                  <a:ext uri="{FF2B5EF4-FFF2-40B4-BE49-F238E27FC236}">
                    <a16:creationId xmlns:a16="http://schemas.microsoft.com/office/drawing/2014/main" id="{7B2D80EC-F003-CB10-178B-F2306FF1FEE7}"/>
                  </a:ext>
                </a:extLst>
              </p:cNvPr>
              <p:cNvSpPr/>
              <p:nvPr/>
            </p:nvSpPr>
            <p:spPr>
              <a:xfrm>
                <a:off x="1188720" y="3401568"/>
                <a:ext cx="914400" cy="292608"/>
              </a:xfrm>
              <a:prstGeom prst="rect">
                <a:avLst/>
              </a:prstGeom>
              <a:noFill/>
              <a:ln/>
            </p:spPr>
            <p:txBody>
              <a:bodyPr wrap="square" lIns="0" tIns="0" rIns="0" bIns="0" rtlCol="0" anchor="ctr"/>
              <a:lstStyle/>
              <a:p>
                <a:pPr marL="0" indent="0" algn="ctr">
                  <a:buNone/>
                </a:pPr>
                <a:r>
                  <a:rPr lang="en-US" sz="1000" b="1" dirty="0">
                    <a:solidFill>
                      <a:srgbClr val="00B050"/>
                    </a:solidFill>
                    <a:latin typeface="Calibri" pitchFamily="34" charset="0"/>
                    <a:ea typeface="Calibri" pitchFamily="34" charset="-122"/>
                    <a:cs typeface="Calibri" pitchFamily="34" charset="-120"/>
                  </a:rPr>
                  <a:t>Class-A</a:t>
                </a:r>
                <a:endParaRPr lang="en-US" sz="1000" dirty="0">
                  <a:solidFill>
                    <a:srgbClr val="00B050"/>
                  </a:solidFill>
                </a:endParaRPr>
              </a:p>
            </p:txBody>
          </p:sp>
        </p:grpSp>
        <p:sp>
          <p:nvSpPr>
            <p:cNvPr id="2062" name="Text 30">
              <a:extLst>
                <a:ext uri="{FF2B5EF4-FFF2-40B4-BE49-F238E27FC236}">
                  <a16:creationId xmlns:a16="http://schemas.microsoft.com/office/drawing/2014/main" id="{A6043D5C-3338-6137-41DC-B5F25B4A41B3}"/>
                </a:ext>
              </a:extLst>
            </p:cNvPr>
            <p:cNvSpPr/>
            <p:nvPr/>
          </p:nvSpPr>
          <p:spPr>
            <a:xfrm>
              <a:off x="1893126" y="1755108"/>
              <a:ext cx="1097280" cy="201168"/>
            </a:xfrm>
            <a:prstGeom prst="rect">
              <a:avLst/>
            </a:prstGeom>
            <a:noFill/>
            <a:ln/>
          </p:spPr>
          <p:txBody>
            <a:bodyPr wrap="square" lIns="0" tIns="0" rIns="0" bIns="0"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Tree-1</a:t>
              </a:r>
              <a:endParaRPr lang="en-US" sz="950" dirty="0"/>
            </a:p>
          </p:txBody>
        </p:sp>
        <p:grpSp>
          <p:nvGrpSpPr>
            <p:cNvPr id="2063" name="Group 2062">
              <a:extLst>
                <a:ext uri="{FF2B5EF4-FFF2-40B4-BE49-F238E27FC236}">
                  <a16:creationId xmlns:a16="http://schemas.microsoft.com/office/drawing/2014/main" id="{EA45068F-7860-9A0F-7927-B20628E57379}"/>
                </a:ext>
              </a:extLst>
            </p:cNvPr>
            <p:cNvGrpSpPr/>
            <p:nvPr/>
          </p:nvGrpSpPr>
          <p:grpSpPr>
            <a:xfrm>
              <a:off x="3873741" y="1271949"/>
              <a:ext cx="1408176" cy="1404144"/>
              <a:chOff x="3867912" y="1344168"/>
              <a:chExt cx="1408176" cy="1404144"/>
            </a:xfrm>
          </p:grpSpPr>
          <p:sp>
            <p:nvSpPr>
              <p:cNvPr id="2111" name="Shape 31">
                <a:extLst>
                  <a:ext uri="{FF2B5EF4-FFF2-40B4-BE49-F238E27FC236}">
                    <a16:creationId xmlns:a16="http://schemas.microsoft.com/office/drawing/2014/main" id="{CEC9F879-0548-46E9-25CF-DD1FC7B283D2}"/>
                  </a:ext>
                </a:extLst>
              </p:cNvPr>
              <p:cNvSpPr/>
              <p:nvPr/>
            </p:nvSpPr>
            <p:spPr>
              <a:xfrm flipH="1">
                <a:off x="4169664" y="1444752"/>
                <a:ext cx="402336" cy="408052"/>
              </a:xfrm>
              <a:prstGeom prst="line">
                <a:avLst/>
              </a:prstGeom>
              <a:noFill/>
              <a:ln w="12700">
                <a:solidFill>
                  <a:srgbClr val="9EAAB8"/>
                </a:solidFill>
                <a:prstDash val="solid"/>
              </a:ln>
            </p:spPr>
            <p:txBody>
              <a:bodyPr/>
              <a:lstStyle/>
              <a:p>
                <a:endParaRPr lang="en-US"/>
              </a:p>
            </p:txBody>
          </p:sp>
          <p:sp>
            <p:nvSpPr>
              <p:cNvPr id="2117" name="Shape 32">
                <a:extLst>
                  <a:ext uri="{FF2B5EF4-FFF2-40B4-BE49-F238E27FC236}">
                    <a16:creationId xmlns:a16="http://schemas.microsoft.com/office/drawing/2014/main" id="{7C246C83-267E-5B14-1D1C-1D9B9A69B00E}"/>
                  </a:ext>
                </a:extLst>
              </p:cNvPr>
              <p:cNvSpPr/>
              <p:nvPr/>
            </p:nvSpPr>
            <p:spPr>
              <a:xfrm>
                <a:off x="4572000" y="1444752"/>
                <a:ext cx="402336" cy="475488"/>
              </a:xfrm>
              <a:prstGeom prst="line">
                <a:avLst/>
              </a:prstGeom>
              <a:noFill/>
              <a:ln w="19050">
                <a:solidFill>
                  <a:srgbClr val="E8820A"/>
                </a:solidFill>
                <a:prstDash val="solid"/>
              </a:ln>
            </p:spPr>
            <p:txBody>
              <a:bodyPr/>
              <a:lstStyle/>
              <a:p>
                <a:endParaRPr lang="en-US" dirty="0"/>
              </a:p>
            </p:txBody>
          </p:sp>
          <p:sp>
            <p:nvSpPr>
              <p:cNvPr id="2118" name="Shape 33">
                <a:extLst>
                  <a:ext uri="{FF2B5EF4-FFF2-40B4-BE49-F238E27FC236}">
                    <a16:creationId xmlns:a16="http://schemas.microsoft.com/office/drawing/2014/main" id="{E8E7245C-91F5-1C15-DFD0-B68E4BDFA54E}"/>
                  </a:ext>
                </a:extLst>
              </p:cNvPr>
              <p:cNvSpPr/>
              <p:nvPr/>
            </p:nvSpPr>
            <p:spPr>
              <a:xfrm flipH="1">
                <a:off x="3968496" y="1920240"/>
                <a:ext cx="201168" cy="408052"/>
              </a:xfrm>
              <a:prstGeom prst="line">
                <a:avLst/>
              </a:prstGeom>
              <a:noFill/>
              <a:ln w="12700">
                <a:solidFill>
                  <a:srgbClr val="9EAAB8"/>
                </a:solidFill>
                <a:prstDash val="solid"/>
              </a:ln>
            </p:spPr>
            <p:txBody>
              <a:bodyPr/>
              <a:lstStyle/>
              <a:p>
                <a:endParaRPr lang="en-US"/>
              </a:p>
            </p:txBody>
          </p:sp>
          <p:sp>
            <p:nvSpPr>
              <p:cNvPr id="2119" name="Shape 34">
                <a:extLst>
                  <a:ext uri="{FF2B5EF4-FFF2-40B4-BE49-F238E27FC236}">
                    <a16:creationId xmlns:a16="http://schemas.microsoft.com/office/drawing/2014/main" id="{25EA7D9E-83C0-FCED-09C5-66856C14745A}"/>
                  </a:ext>
                </a:extLst>
              </p:cNvPr>
              <p:cNvSpPr/>
              <p:nvPr/>
            </p:nvSpPr>
            <p:spPr>
              <a:xfrm>
                <a:off x="4169664" y="1920240"/>
                <a:ext cx="201168" cy="475488"/>
              </a:xfrm>
              <a:prstGeom prst="line">
                <a:avLst/>
              </a:prstGeom>
              <a:noFill/>
              <a:ln w="12700">
                <a:solidFill>
                  <a:srgbClr val="9EAAB8"/>
                </a:solidFill>
                <a:prstDash val="solid"/>
              </a:ln>
            </p:spPr>
            <p:txBody>
              <a:bodyPr/>
              <a:lstStyle/>
              <a:p>
                <a:endParaRPr lang="en-US"/>
              </a:p>
            </p:txBody>
          </p:sp>
          <p:sp>
            <p:nvSpPr>
              <p:cNvPr id="2120" name="Shape 35">
                <a:extLst>
                  <a:ext uri="{FF2B5EF4-FFF2-40B4-BE49-F238E27FC236}">
                    <a16:creationId xmlns:a16="http://schemas.microsoft.com/office/drawing/2014/main" id="{990173F6-9856-6915-2EA8-3D0118D09DE9}"/>
                  </a:ext>
                </a:extLst>
              </p:cNvPr>
              <p:cNvSpPr/>
              <p:nvPr/>
            </p:nvSpPr>
            <p:spPr>
              <a:xfrm flipH="1">
                <a:off x="4773166" y="1920240"/>
                <a:ext cx="201170" cy="384048"/>
              </a:xfrm>
              <a:prstGeom prst="line">
                <a:avLst/>
              </a:prstGeom>
              <a:noFill/>
              <a:ln w="19050">
                <a:solidFill>
                  <a:srgbClr val="E8820A"/>
                </a:solidFill>
                <a:prstDash val="solid"/>
              </a:ln>
            </p:spPr>
            <p:txBody>
              <a:bodyPr/>
              <a:lstStyle/>
              <a:p>
                <a:endParaRPr lang="en-US"/>
              </a:p>
            </p:txBody>
          </p:sp>
          <p:sp>
            <p:nvSpPr>
              <p:cNvPr id="2121" name="Shape 36">
                <a:extLst>
                  <a:ext uri="{FF2B5EF4-FFF2-40B4-BE49-F238E27FC236}">
                    <a16:creationId xmlns:a16="http://schemas.microsoft.com/office/drawing/2014/main" id="{15642CB0-7282-90E7-2D2A-6DFDA92AEB97}"/>
                  </a:ext>
                </a:extLst>
              </p:cNvPr>
              <p:cNvSpPr/>
              <p:nvPr/>
            </p:nvSpPr>
            <p:spPr>
              <a:xfrm>
                <a:off x="4974336" y="1920240"/>
                <a:ext cx="201168" cy="475488"/>
              </a:xfrm>
              <a:prstGeom prst="line">
                <a:avLst/>
              </a:prstGeom>
              <a:noFill/>
              <a:ln w="12700">
                <a:solidFill>
                  <a:srgbClr val="9EAAB8"/>
                </a:solidFill>
                <a:prstDash val="solid"/>
              </a:ln>
            </p:spPr>
            <p:txBody>
              <a:bodyPr/>
              <a:lstStyle/>
              <a:p>
                <a:endParaRPr lang="en-US"/>
              </a:p>
            </p:txBody>
          </p:sp>
          <p:sp>
            <p:nvSpPr>
              <p:cNvPr id="2122" name="Shape 37">
                <a:extLst>
                  <a:ext uri="{FF2B5EF4-FFF2-40B4-BE49-F238E27FC236}">
                    <a16:creationId xmlns:a16="http://schemas.microsoft.com/office/drawing/2014/main" id="{36494F92-E428-E00F-52DA-6D3C8597E721}"/>
                  </a:ext>
                </a:extLst>
              </p:cNvPr>
              <p:cNvSpPr/>
              <p:nvPr/>
            </p:nvSpPr>
            <p:spPr>
              <a:xfrm>
                <a:off x="4471416" y="1344168"/>
                <a:ext cx="201168" cy="201168"/>
              </a:xfrm>
              <a:prstGeom prst="ellipse">
                <a:avLst/>
              </a:prstGeom>
              <a:solidFill>
                <a:srgbClr val="E8820A"/>
              </a:solidFill>
              <a:ln w="25400">
                <a:solidFill>
                  <a:srgbClr val="B85E00"/>
                </a:solidFill>
                <a:prstDash val="solid"/>
              </a:ln>
            </p:spPr>
            <p:txBody>
              <a:bodyPr/>
              <a:lstStyle/>
              <a:p>
                <a:endParaRPr lang="en-US"/>
              </a:p>
            </p:txBody>
          </p:sp>
          <p:sp>
            <p:nvSpPr>
              <p:cNvPr id="2126" name="Shape 38">
                <a:extLst>
                  <a:ext uri="{FF2B5EF4-FFF2-40B4-BE49-F238E27FC236}">
                    <a16:creationId xmlns:a16="http://schemas.microsoft.com/office/drawing/2014/main" id="{A453F5F2-3983-F2AD-AF77-E97A00C6D2BA}"/>
                  </a:ext>
                </a:extLst>
              </p:cNvPr>
              <p:cNvSpPr/>
              <p:nvPr/>
            </p:nvSpPr>
            <p:spPr>
              <a:xfrm>
                <a:off x="4069080" y="1819656"/>
                <a:ext cx="201168" cy="201168"/>
              </a:xfrm>
              <a:prstGeom prst="ellipse">
                <a:avLst/>
              </a:prstGeom>
              <a:solidFill>
                <a:srgbClr val="9DC8EE"/>
              </a:solidFill>
              <a:ln w="12700">
                <a:solidFill>
                  <a:srgbClr val="4A88C8"/>
                </a:solidFill>
                <a:prstDash val="solid"/>
              </a:ln>
            </p:spPr>
            <p:txBody>
              <a:bodyPr/>
              <a:lstStyle/>
              <a:p>
                <a:endParaRPr lang="en-US"/>
              </a:p>
            </p:txBody>
          </p:sp>
          <p:sp>
            <p:nvSpPr>
              <p:cNvPr id="2127" name="Shape 39">
                <a:extLst>
                  <a:ext uri="{FF2B5EF4-FFF2-40B4-BE49-F238E27FC236}">
                    <a16:creationId xmlns:a16="http://schemas.microsoft.com/office/drawing/2014/main" id="{EE06D834-0835-309F-B504-6795B8C0F6D2}"/>
                  </a:ext>
                </a:extLst>
              </p:cNvPr>
              <p:cNvSpPr/>
              <p:nvPr/>
            </p:nvSpPr>
            <p:spPr>
              <a:xfrm>
                <a:off x="4873752" y="1819656"/>
                <a:ext cx="201168" cy="201168"/>
              </a:xfrm>
              <a:prstGeom prst="ellipse">
                <a:avLst/>
              </a:prstGeom>
              <a:solidFill>
                <a:srgbClr val="E8820A"/>
              </a:solidFill>
              <a:ln w="25400">
                <a:solidFill>
                  <a:srgbClr val="B85E00"/>
                </a:solidFill>
                <a:prstDash val="solid"/>
              </a:ln>
            </p:spPr>
            <p:txBody>
              <a:bodyPr/>
              <a:lstStyle/>
              <a:p>
                <a:endParaRPr lang="en-US"/>
              </a:p>
            </p:txBody>
          </p:sp>
          <p:sp>
            <p:nvSpPr>
              <p:cNvPr id="2128" name="Shape 40">
                <a:extLst>
                  <a:ext uri="{FF2B5EF4-FFF2-40B4-BE49-F238E27FC236}">
                    <a16:creationId xmlns:a16="http://schemas.microsoft.com/office/drawing/2014/main" id="{7DFEEFF8-C864-6E4B-B594-5D3A795C10FA}"/>
                  </a:ext>
                </a:extLst>
              </p:cNvPr>
              <p:cNvSpPr/>
              <p:nvPr/>
            </p:nvSpPr>
            <p:spPr>
              <a:xfrm>
                <a:off x="3867912"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129" name="Shape 41">
                <a:extLst>
                  <a:ext uri="{FF2B5EF4-FFF2-40B4-BE49-F238E27FC236}">
                    <a16:creationId xmlns:a16="http://schemas.microsoft.com/office/drawing/2014/main" id="{D885568C-A42D-D3C8-CCA0-3507390F8CD9}"/>
                  </a:ext>
                </a:extLst>
              </p:cNvPr>
              <p:cNvSpPr/>
              <p:nvPr/>
            </p:nvSpPr>
            <p:spPr>
              <a:xfrm>
                <a:off x="4270248"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135" name="Shape 42">
                <a:extLst>
                  <a:ext uri="{FF2B5EF4-FFF2-40B4-BE49-F238E27FC236}">
                    <a16:creationId xmlns:a16="http://schemas.microsoft.com/office/drawing/2014/main" id="{BF85D822-77B1-8B25-6020-4A0AC4DF8711}"/>
                  </a:ext>
                </a:extLst>
              </p:cNvPr>
              <p:cNvSpPr/>
              <p:nvPr/>
            </p:nvSpPr>
            <p:spPr>
              <a:xfrm>
                <a:off x="4672584" y="2295144"/>
                <a:ext cx="201168" cy="201168"/>
              </a:xfrm>
              <a:prstGeom prst="ellipse">
                <a:avLst/>
              </a:prstGeom>
              <a:solidFill>
                <a:srgbClr val="E8820A"/>
              </a:solidFill>
              <a:ln w="25400">
                <a:solidFill>
                  <a:srgbClr val="B85E00"/>
                </a:solidFill>
                <a:prstDash val="solid"/>
              </a:ln>
            </p:spPr>
            <p:txBody>
              <a:bodyPr/>
              <a:lstStyle/>
              <a:p>
                <a:endParaRPr lang="en-US"/>
              </a:p>
            </p:txBody>
          </p:sp>
          <p:sp>
            <p:nvSpPr>
              <p:cNvPr id="2137" name="Shape 43">
                <a:extLst>
                  <a:ext uri="{FF2B5EF4-FFF2-40B4-BE49-F238E27FC236}">
                    <a16:creationId xmlns:a16="http://schemas.microsoft.com/office/drawing/2014/main" id="{057981DF-8869-4CF6-C1D3-33DEBE446A12}"/>
                  </a:ext>
                </a:extLst>
              </p:cNvPr>
              <p:cNvSpPr/>
              <p:nvPr/>
            </p:nvSpPr>
            <p:spPr>
              <a:xfrm>
                <a:off x="5074920"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138" name="Shape 44">
                <a:extLst>
                  <a:ext uri="{FF2B5EF4-FFF2-40B4-BE49-F238E27FC236}">
                    <a16:creationId xmlns:a16="http://schemas.microsoft.com/office/drawing/2014/main" id="{4663E6D9-70C2-E3AA-059B-FBC94ADD09B5}"/>
                  </a:ext>
                </a:extLst>
              </p:cNvPr>
              <p:cNvSpPr/>
              <p:nvPr/>
            </p:nvSpPr>
            <p:spPr>
              <a:xfrm flipH="1">
                <a:off x="4773166" y="2496312"/>
                <a:ext cx="2" cy="252000"/>
              </a:xfrm>
              <a:prstGeom prst="line">
                <a:avLst/>
              </a:prstGeom>
              <a:noFill/>
              <a:ln w="19050">
                <a:solidFill>
                  <a:srgbClr val="E8820A"/>
                </a:solidFill>
                <a:prstDash val="solid"/>
              </a:ln>
            </p:spPr>
            <p:txBody>
              <a:bodyPr/>
              <a:lstStyle/>
              <a:p>
                <a:endParaRPr lang="en-US"/>
              </a:p>
            </p:txBody>
          </p:sp>
        </p:grpSp>
        <p:grpSp>
          <p:nvGrpSpPr>
            <p:cNvPr id="2064" name="Group 2063">
              <a:extLst>
                <a:ext uri="{FF2B5EF4-FFF2-40B4-BE49-F238E27FC236}">
                  <a16:creationId xmlns:a16="http://schemas.microsoft.com/office/drawing/2014/main" id="{CDCDCB9A-89C3-054F-D7EB-7DA9279D0A14}"/>
                </a:ext>
              </a:extLst>
            </p:cNvPr>
            <p:cNvGrpSpPr/>
            <p:nvPr/>
          </p:nvGrpSpPr>
          <p:grpSpPr>
            <a:xfrm>
              <a:off x="4321795" y="2676636"/>
              <a:ext cx="914400" cy="292608"/>
              <a:chOff x="4114800" y="3401568"/>
              <a:chExt cx="914400" cy="292608"/>
            </a:xfrm>
          </p:grpSpPr>
          <p:sp>
            <p:nvSpPr>
              <p:cNvPr id="2105" name="Shape 46">
                <a:extLst>
                  <a:ext uri="{FF2B5EF4-FFF2-40B4-BE49-F238E27FC236}">
                    <a16:creationId xmlns:a16="http://schemas.microsoft.com/office/drawing/2014/main" id="{BB58D389-9A27-C009-21A4-50D0D0262122}"/>
                  </a:ext>
                </a:extLst>
              </p:cNvPr>
              <p:cNvSpPr/>
              <p:nvPr/>
            </p:nvSpPr>
            <p:spPr>
              <a:xfrm>
                <a:off x="4114800" y="3401568"/>
                <a:ext cx="914400" cy="292608"/>
              </a:xfrm>
              <a:prstGeom prst="rect">
                <a:avLst/>
              </a:prstGeom>
              <a:solidFill>
                <a:srgbClr val="FFFFFF"/>
              </a:solidFill>
              <a:ln w="19050">
                <a:solidFill>
                  <a:srgbClr val="7030A0"/>
                </a:solidFill>
                <a:prstDash val="solid"/>
              </a:ln>
              <a:effectLst>
                <a:outerShdw blurRad="63500" dist="25400" dir="8100000" algn="bl" rotWithShape="0">
                  <a:srgbClr val="000000">
                    <a:alpha val="10000"/>
                  </a:srgbClr>
                </a:outerShdw>
              </a:effectLst>
            </p:spPr>
            <p:txBody>
              <a:bodyPr/>
              <a:lstStyle/>
              <a:p>
                <a:endParaRPr lang="en-US">
                  <a:solidFill>
                    <a:srgbClr val="7030A0"/>
                  </a:solidFill>
                </a:endParaRPr>
              </a:p>
            </p:txBody>
          </p:sp>
          <p:sp>
            <p:nvSpPr>
              <p:cNvPr id="2107" name="Text 47">
                <a:extLst>
                  <a:ext uri="{FF2B5EF4-FFF2-40B4-BE49-F238E27FC236}">
                    <a16:creationId xmlns:a16="http://schemas.microsoft.com/office/drawing/2014/main" id="{BBDB94F6-CB82-FD22-01EF-588FEC203611}"/>
                  </a:ext>
                </a:extLst>
              </p:cNvPr>
              <p:cNvSpPr/>
              <p:nvPr/>
            </p:nvSpPr>
            <p:spPr>
              <a:xfrm>
                <a:off x="4114800" y="3401568"/>
                <a:ext cx="914400" cy="292608"/>
              </a:xfrm>
              <a:prstGeom prst="rect">
                <a:avLst/>
              </a:prstGeom>
              <a:noFill/>
              <a:ln>
                <a:solidFill>
                  <a:srgbClr val="7030A0"/>
                </a:solidFill>
              </a:ln>
            </p:spPr>
            <p:txBody>
              <a:bodyPr wrap="square" lIns="0" tIns="0" rIns="0" bIns="0" rtlCol="0" anchor="ctr"/>
              <a:lstStyle/>
              <a:p>
                <a:pPr marL="0" indent="0" algn="ctr">
                  <a:buNone/>
                </a:pPr>
                <a:r>
                  <a:rPr lang="en-US" sz="1000" b="1" dirty="0">
                    <a:solidFill>
                      <a:srgbClr val="7030A0"/>
                    </a:solidFill>
                    <a:latin typeface="Calibri" pitchFamily="34" charset="0"/>
                    <a:ea typeface="Calibri" pitchFamily="34" charset="-122"/>
                    <a:cs typeface="Calibri" pitchFamily="34" charset="-120"/>
                  </a:rPr>
                  <a:t>Class-B</a:t>
                </a:r>
                <a:endParaRPr lang="en-US" sz="1000" dirty="0">
                  <a:solidFill>
                    <a:srgbClr val="7030A0"/>
                  </a:solidFill>
                </a:endParaRPr>
              </a:p>
            </p:txBody>
          </p:sp>
        </p:grpSp>
        <p:sp>
          <p:nvSpPr>
            <p:cNvPr id="2065" name="Text 48">
              <a:extLst>
                <a:ext uri="{FF2B5EF4-FFF2-40B4-BE49-F238E27FC236}">
                  <a16:creationId xmlns:a16="http://schemas.microsoft.com/office/drawing/2014/main" id="{0B5D3717-9A22-A4FD-3581-D2B9320F04B7}"/>
                </a:ext>
              </a:extLst>
            </p:cNvPr>
            <p:cNvSpPr/>
            <p:nvPr/>
          </p:nvSpPr>
          <p:spPr>
            <a:xfrm>
              <a:off x="4015594" y="1755108"/>
              <a:ext cx="1097280" cy="201168"/>
            </a:xfrm>
            <a:prstGeom prst="rect">
              <a:avLst/>
            </a:prstGeom>
            <a:noFill/>
            <a:ln/>
          </p:spPr>
          <p:txBody>
            <a:bodyPr wrap="square" lIns="0" tIns="0" rIns="0" bIns="0"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Tree-2</a:t>
              </a:r>
              <a:endParaRPr lang="en-US" sz="950" dirty="0"/>
            </a:p>
          </p:txBody>
        </p:sp>
        <p:grpSp>
          <p:nvGrpSpPr>
            <p:cNvPr id="2066" name="Group 2065">
              <a:extLst>
                <a:ext uri="{FF2B5EF4-FFF2-40B4-BE49-F238E27FC236}">
                  <a16:creationId xmlns:a16="http://schemas.microsoft.com/office/drawing/2014/main" id="{4F65C13A-DF32-9403-FF66-9047E918C292}"/>
                </a:ext>
              </a:extLst>
            </p:cNvPr>
            <p:cNvGrpSpPr/>
            <p:nvPr/>
          </p:nvGrpSpPr>
          <p:grpSpPr>
            <a:xfrm>
              <a:off x="5984036" y="1271949"/>
              <a:ext cx="1408176" cy="1404144"/>
              <a:chOff x="6793992" y="1344168"/>
              <a:chExt cx="1408176" cy="1404144"/>
            </a:xfrm>
          </p:grpSpPr>
          <p:sp>
            <p:nvSpPr>
              <p:cNvPr id="2091" name="Shape 49">
                <a:extLst>
                  <a:ext uri="{FF2B5EF4-FFF2-40B4-BE49-F238E27FC236}">
                    <a16:creationId xmlns:a16="http://schemas.microsoft.com/office/drawing/2014/main" id="{36394715-918A-ED1B-8527-DF33C240AC27}"/>
                  </a:ext>
                </a:extLst>
              </p:cNvPr>
              <p:cNvSpPr/>
              <p:nvPr/>
            </p:nvSpPr>
            <p:spPr>
              <a:xfrm flipH="1">
                <a:off x="7095744" y="1444752"/>
                <a:ext cx="402336" cy="374904"/>
              </a:xfrm>
              <a:prstGeom prst="line">
                <a:avLst/>
              </a:prstGeom>
              <a:noFill/>
              <a:ln w="12700">
                <a:solidFill>
                  <a:srgbClr val="9EAAB8"/>
                </a:solidFill>
                <a:prstDash val="solid"/>
              </a:ln>
            </p:spPr>
            <p:txBody>
              <a:bodyPr/>
              <a:lstStyle/>
              <a:p>
                <a:endParaRPr lang="en-US"/>
              </a:p>
            </p:txBody>
          </p:sp>
          <p:sp>
            <p:nvSpPr>
              <p:cNvPr id="2092" name="Shape 50">
                <a:extLst>
                  <a:ext uri="{FF2B5EF4-FFF2-40B4-BE49-F238E27FC236}">
                    <a16:creationId xmlns:a16="http://schemas.microsoft.com/office/drawing/2014/main" id="{5CFA1A19-1AC2-6309-1AE5-172ED561B47F}"/>
                  </a:ext>
                </a:extLst>
              </p:cNvPr>
              <p:cNvSpPr/>
              <p:nvPr/>
            </p:nvSpPr>
            <p:spPr>
              <a:xfrm>
                <a:off x="7498080" y="1444752"/>
                <a:ext cx="402336" cy="475488"/>
              </a:xfrm>
              <a:prstGeom prst="line">
                <a:avLst/>
              </a:prstGeom>
              <a:noFill/>
              <a:ln w="19050">
                <a:solidFill>
                  <a:srgbClr val="E8820A"/>
                </a:solidFill>
                <a:prstDash val="solid"/>
              </a:ln>
            </p:spPr>
            <p:txBody>
              <a:bodyPr/>
              <a:lstStyle/>
              <a:p>
                <a:endParaRPr lang="en-US"/>
              </a:p>
            </p:txBody>
          </p:sp>
          <p:sp>
            <p:nvSpPr>
              <p:cNvPr id="2093" name="Shape 51">
                <a:extLst>
                  <a:ext uri="{FF2B5EF4-FFF2-40B4-BE49-F238E27FC236}">
                    <a16:creationId xmlns:a16="http://schemas.microsoft.com/office/drawing/2014/main" id="{ADA39B10-9CF8-011C-BAC9-6AF423CAD619}"/>
                  </a:ext>
                </a:extLst>
              </p:cNvPr>
              <p:cNvSpPr/>
              <p:nvPr/>
            </p:nvSpPr>
            <p:spPr>
              <a:xfrm flipH="1">
                <a:off x="6894576" y="1920240"/>
                <a:ext cx="201168" cy="374904"/>
              </a:xfrm>
              <a:prstGeom prst="line">
                <a:avLst/>
              </a:prstGeom>
              <a:noFill/>
              <a:ln w="12700">
                <a:solidFill>
                  <a:srgbClr val="9EAAB8"/>
                </a:solidFill>
                <a:prstDash val="solid"/>
              </a:ln>
            </p:spPr>
            <p:txBody>
              <a:bodyPr/>
              <a:lstStyle/>
              <a:p>
                <a:endParaRPr lang="en-US"/>
              </a:p>
            </p:txBody>
          </p:sp>
          <p:sp>
            <p:nvSpPr>
              <p:cNvPr id="2094" name="Shape 52">
                <a:extLst>
                  <a:ext uri="{FF2B5EF4-FFF2-40B4-BE49-F238E27FC236}">
                    <a16:creationId xmlns:a16="http://schemas.microsoft.com/office/drawing/2014/main" id="{2A6D15AE-D98A-574C-1228-D8B400649003}"/>
                  </a:ext>
                </a:extLst>
              </p:cNvPr>
              <p:cNvSpPr/>
              <p:nvPr/>
            </p:nvSpPr>
            <p:spPr>
              <a:xfrm>
                <a:off x="7095744" y="1920240"/>
                <a:ext cx="201168" cy="475488"/>
              </a:xfrm>
              <a:prstGeom prst="line">
                <a:avLst/>
              </a:prstGeom>
              <a:noFill/>
              <a:ln w="12700">
                <a:solidFill>
                  <a:srgbClr val="9EAAB8"/>
                </a:solidFill>
                <a:prstDash val="solid"/>
              </a:ln>
            </p:spPr>
            <p:txBody>
              <a:bodyPr/>
              <a:lstStyle/>
              <a:p>
                <a:endParaRPr lang="en-US"/>
              </a:p>
            </p:txBody>
          </p:sp>
          <p:sp>
            <p:nvSpPr>
              <p:cNvPr id="2095" name="Shape 53">
                <a:extLst>
                  <a:ext uri="{FF2B5EF4-FFF2-40B4-BE49-F238E27FC236}">
                    <a16:creationId xmlns:a16="http://schemas.microsoft.com/office/drawing/2014/main" id="{33F46222-F618-87D1-96FD-973DD608D684}"/>
                  </a:ext>
                </a:extLst>
              </p:cNvPr>
              <p:cNvSpPr/>
              <p:nvPr/>
            </p:nvSpPr>
            <p:spPr>
              <a:xfrm flipH="1">
                <a:off x="7699248" y="1920240"/>
                <a:ext cx="201168" cy="384048"/>
              </a:xfrm>
              <a:prstGeom prst="line">
                <a:avLst/>
              </a:prstGeom>
              <a:noFill/>
              <a:ln w="12700">
                <a:solidFill>
                  <a:srgbClr val="9EAAB8"/>
                </a:solidFill>
                <a:prstDash val="solid"/>
              </a:ln>
            </p:spPr>
            <p:txBody>
              <a:bodyPr/>
              <a:lstStyle/>
              <a:p>
                <a:endParaRPr lang="en-US"/>
              </a:p>
            </p:txBody>
          </p:sp>
          <p:sp>
            <p:nvSpPr>
              <p:cNvPr id="2096" name="Shape 54">
                <a:extLst>
                  <a:ext uri="{FF2B5EF4-FFF2-40B4-BE49-F238E27FC236}">
                    <a16:creationId xmlns:a16="http://schemas.microsoft.com/office/drawing/2014/main" id="{664C8623-F27A-3228-4982-A408C2340E96}"/>
                  </a:ext>
                </a:extLst>
              </p:cNvPr>
              <p:cNvSpPr/>
              <p:nvPr/>
            </p:nvSpPr>
            <p:spPr>
              <a:xfrm>
                <a:off x="7900416" y="1920240"/>
                <a:ext cx="201168" cy="475488"/>
              </a:xfrm>
              <a:prstGeom prst="line">
                <a:avLst/>
              </a:prstGeom>
              <a:noFill/>
              <a:ln w="19050">
                <a:solidFill>
                  <a:srgbClr val="E8820A"/>
                </a:solidFill>
                <a:prstDash val="solid"/>
              </a:ln>
            </p:spPr>
            <p:txBody>
              <a:bodyPr/>
              <a:lstStyle/>
              <a:p>
                <a:endParaRPr lang="en-US"/>
              </a:p>
            </p:txBody>
          </p:sp>
          <p:sp>
            <p:nvSpPr>
              <p:cNvPr id="2097" name="Shape 55">
                <a:extLst>
                  <a:ext uri="{FF2B5EF4-FFF2-40B4-BE49-F238E27FC236}">
                    <a16:creationId xmlns:a16="http://schemas.microsoft.com/office/drawing/2014/main" id="{854D2462-C78B-1090-4F1E-3AC00574FA9B}"/>
                  </a:ext>
                </a:extLst>
              </p:cNvPr>
              <p:cNvSpPr/>
              <p:nvPr/>
            </p:nvSpPr>
            <p:spPr>
              <a:xfrm>
                <a:off x="7397496" y="1344168"/>
                <a:ext cx="201168" cy="201168"/>
              </a:xfrm>
              <a:prstGeom prst="ellipse">
                <a:avLst/>
              </a:prstGeom>
              <a:solidFill>
                <a:srgbClr val="E8820A"/>
              </a:solidFill>
              <a:ln w="25400">
                <a:solidFill>
                  <a:srgbClr val="B85E00"/>
                </a:solidFill>
                <a:prstDash val="solid"/>
              </a:ln>
            </p:spPr>
            <p:txBody>
              <a:bodyPr/>
              <a:lstStyle/>
              <a:p>
                <a:endParaRPr lang="en-US"/>
              </a:p>
            </p:txBody>
          </p:sp>
          <p:sp>
            <p:nvSpPr>
              <p:cNvPr id="2098" name="Shape 56">
                <a:extLst>
                  <a:ext uri="{FF2B5EF4-FFF2-40B4-BE49-F238E27FC236}">
                    <a16:creationId xmlns:a16="http://schemas.microsoft.com/office/drawing/2014/main" id="{70B99323-D1B7-DE77-D564-63330671F5E4}"/>
                  </a:ext>
                </a:extLst>
              </p:cNvPr>
              <p:cNvSpPr/>
              <p:nvPr/>
            </p:nvSpPr>
            <p:spPr>
              <a:xfrm>
                <a:off x="6995160" y="1819656"/>
                <a:ext cx="201168" cy="201168"/>
              </a:xfrm>
              <a:prstGeom prst="ellipse">
                <a:avLst/>
              </a:prstGeom>
              <a:solidFill>
                <a:srgbClr val="9DC8EE"/>
              </a:solidFill>
              <a:ln w="12700">
                <a:solidFill>
                  <a:srgbClr val="4A88C8"/>
                </a:solidFill>
                <a:prstDash val="solid"/>
              </a:ln>
            </p:spPr>
            <p:txBody>
              <a:bodyPr/>
              <a:lstStyle/>
              <a:p>
                <a:endParaRPr lang="en-US"/>
              </a:p>
            </p:txBody>
          </p:sp>
          <p:sp>
            <p:nvSpPr>
              <p:cNvPr id="2099" name="Shape 57">
                <a:extLst>
                  <a:ext uri="{FF2B5EF4-FFF2-40B4-BE49-F238E27FC236}">
                    <a16:creationId xmlns:a16="http://schemas.microsoft.com/office/drawing/2014/main" id="{3DEAC41D-D3B2-D294-2FA1-073D6D72C662}"/>
                  </a:ext>
                </a:extLst>
              </p:cNvPr>
              <p:cNvSpPr/>
              <p:nvPr/>
            </p:nvSpPr>
            <p:spPr>
              <a:xfrm>
                <a:off x="7799832" y="1819656"/>
                <a:ext cx="201168" cy="201168"/>
              </a:xfrm>
              <a:prstGeom prst="ellipse">
                <a:avLst/>
              </a:prstGeom>
              <a:solidFill>
                <a:srgbClr val="E8820A"/>
              </a:solidFill>
              <a:ln w="25400">
                <a:solidFill>
                  <a:srgbClr val="B85E00"/>
                </a:solidFill>
                <a:prstDash val="solid"/>
              </a:ln>
            </p:spPr>
            <p:txBody>
              <a:bodyPr/>
              <a:lstStyle/>
              <a:p>
                <a:endParaRPr lang="en-US"/>
              </a:p>
            </p:txBody>
          </p:sp>
          <p:sp>
            <p:nvSpPr>
              <p:cNvPr id="2100" name="Shape 58">
                <a:extLst>
                  <a:ext uri="{FF2B5EF4-FFF2-40B4-BE49-F238E27FC236}">
                    <a16:creationId xmlns:a16="http://schemas.microsoft.com/office/drawing/2014/main" id="{738C70EE-6F1A-61B8-E524-F5D10B9FA539}"/>
                  </a:ext>
                </a:extLst>
              </p:cNvPr>
              <p:cNvSpPr/>
              <p:nvPr/>
            </p:nvSpPr>
            <p:spPr>
              <a:xfrm>
                <a:off x="6793992"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101" name="Shape 59">
                <a:extLst>
                  <a:ext uri="{FF2B5EF4-FFF2-40B4-BE49-F238E27FC236}">
                    <a16:creationId xmlns:a16="http://schemas.microsoft.com/office/drawing/2014/main" id="{4332CFE6-7F3B-C099-F874-3FB14EC82D1C}"/>
                  </a:ext>
                </a:extLst>
              </p:cNvPr>
              <p:cNvSpPr/>
              <p:nvPr/>
            </p:nvSpPr>
            <p:spPr>
              <a:xfrm>
                <a:off x="7196328"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102" name="Shape 60">
                <a:extLst>
                  <a:ext uri="{FF2B5EF4-FFF2-40B4-BE49-F238E27FC236}">
                    <a16:creationId xmlns:a16="http://schemas.microsoft.com/office/drawing/2014/main" id="{FEBAC063-A085-8DA9-62A0-F135FD687C9F}"/>
                  </a:ext>
                </a:extLst>
              </p:cNvPr>
              <p:cNvSpPr/>
              <p:nvPr/>
            </p:nvSpPr>
            <p:spPr>
              <a:xfrm>
                <a:off x="7598664"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103" name="Shape 61">
                <a:extLst>
                  <a:ext uri="{FF2B5EF4-FFF2-40B4-BE49-F238E27FC236}">
                    <a16:creationId xmlns:a16="http://schemas.microsoft.com/office/drawing/2014/main" id="{BFDE7F36-461A-1615-F87A-957E7412F59C}"/>
                  </a:ext>
                </a:extLst>
              </p:cNvPr>
              <p:cNvSpPr/>
              <p:nvPr/>
            </p:nvSpPr>
            <p:spPr>
              <a:xfrm>
                <a:off x="8001000" y="2295144"/>
                <a:ext cx="201168" cy="201168"/>
              </a:xfrm>
              <a:prstGeom prst="ellipse">
                <a:avLst/>
              </a:prstGeom>
              <a:solidFill>
                <a:srgbClr val="E8820A"/>
              </a:solidFill>
              <a:ln w="25400">
                <a:solidFill>
                  <a:srgbClr val="B85E00"/>
                </a:solidFill>
                <a:prstDash val="solid"/>
              </a:ln>
            </p:spPr>
            <p:txBody>
              <a:bodyPr/>
              <a:lstStyle/>
              <a:p>
                <a:endParaRPr lang="en-US"/>
              </a:p>
            </p:txBody>
          </p:sp>
          <p:sp>
            <p:nvSpPr>
              <p:cNvPr id="2104" name="Shape 62">
                <a:extLst>
                  <a:ext uri="{FF2B5EF4-FFF2-40B4-BE49-F238E27FC236}">
                    <a16:creationId xmlns:a16="http://schemas.microsoft.com/office/drawing/2014/main" id="{DF57D833-7BFF-20E9-AF0B-DA4DA6BB3C7A}"/>
                  </a:ext>
                </a:extLst>
              </p:cNvPr>
              <p:cNvSpPr/>
              <p:nvPr/>
            </p:nvSpPr>
            <p:spPr>
              <a:xfrm>
                <a:off x="8101584" y="2496312"/>
                <a:ext cx="0" cy="252000"/>
              </a:xfrm>
              <a:prstGeom prst="line">
                <a:avLst/>
              </a:prstGeom>
              <a:noFill/>
              <a:ln w="19050">
                <a:solidFill>
                  <a:srgbClr val="E8820A"/>
                </a:solidFill>
                <a:prstDash val="solid"/>
              </a:ln>
            </p:spPr>
            <p:txBody>
              <a:bodyPr/>
              <a:lstStyle/>
              <a:p>
                <a:endParaRPr lang="en-US"/>
              </a:p>
            </p:txBody>
          </p:sp>
        </p:grpSp>
        <p:sp>
          <p:nvSpPr>
            <p:cNvPr id="2067" name="Text 66">
              <a:extLst>
                <a:ext uri="{FF2B5EF4-FFF2-40B4-BE49-F238E27FC236}">
                  <a16:creationId xmlns:a16="http://schemas.microsoft.com/office/drawing/2014/main" id="{02B53212-3C7B-DDDB-3A16-3BC11B9F27A4}"/>
                </a:ext>
              </a:extLst>
            </p:cNvPr>
            <p:cNvSpPr/>
            <p:nvPr/>
          </p:nvSpPr>
          <p:spPr>
            <a:xfrm>
              <a:off x="6147912" y="1742865"/>
              <a:ext cx="1097280" cy="201168"/>
            </a:xfrm>
            <a:prstGeom prst="rect">
              <a:avLst/>
            </a:prstGeom>
            <a:noFill/>
            <a:ln/>
          </p:spPr>
          <p:txBody>
            <a:bodyPr wrap="square" lIns="0" tIns="0" rIns="0" bIns="0"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Tree-n</a:t>
              </a:r>
              <a:endParaRPr lang="en-US" sz="950" dirty="0"/>
            </a:p>
          </p:txBody>
        </p:sp>
        <p:sp>
          <p:nvSpPr>
            <p:cNvPr id="2068" name="Text 67">
              <a:extLst>
                <a:ext uri="{FF2B5EF4-FFF2-40B4-BE49-F238E27FC236}">
                  <a16:creationId xmlns:a16="http://schemas.microsoft.com/office/drawing/2014/main" id="{690D6765-B44C-C9C3-AD95-FB83698F754B}"/>
                </a:ext>
              </a:extLst>
            </p:cNvPr>
            <p:cNvSpPr/>
            <p:nvPr/>
          </p:nvSpPr>
          <p:spPr>
            <a:xfrm>
              <a:off x="5264105" y="1679087"/>
              <a:ext cx="640080" cy="219456"/>
            </a:xfrm>
            <a:prstGeom prst="rect">
              <a:avLst/>
            </a:prstGeom>
            <a:noFill/>
            <a:ln/>
          </p:spPr>
          <p:txBody>
            <a:bodyPr wrap="square" lIns="0" tIns="0" rIns="0" bIns="0" rtlCol="0" anchor="ctr"/>
            <a:lstStyle/>
            <a:p>
              <a:pPr marL="0" indent="0" algn="ctr">
                <a:buNone/>
              </a:pPr>
              <a:r>
                <a:rPr lang="en-US" sz="1600" b="1" dirty="0">
                  <a:solidFill>
                    <a:srgbClr val="BBBBBB"/>
                  </a:solidFill>
                  <a:latin typeface="Calibri" pitchFamily="34" charset="0"/>
                  <a:ea typeface="Calibri" pitchFamily="34" charset="-122"/>
                  <a:cs typeface="Calibri" pitchFamily="34" charset="-120"/>
                </a:rPr>
                <a:t>· · ·</a:t>
              </a:r>
              <a:endParaRPr lang="en-US" sz="1600" dirty="0"/>
            </a:p>
          </p:txBody>
        </p:sp>
        <p:sp>
          <p:nvSpPr>
            <p:cNvPr id="2069" name="Shape 69">
              <a:extLst>
                <a:ext uri="{FF2B5EF4-FFF2-40B4-BE49-F238E27FC236}">
                  <a16:creationId xmlns:a16="http://schemas.microsoft.com/office/drawing/2014/main" id="{F4FD533C-6073-09A5-1B0D-532148137B41}"/>
                </a:ext>
              </a:extLst>
            </p:cNvPr>
            <p:cNvSpPr/>
            <p:nvPr/>
          </p:nvSpPr>
          <p:spPr>
            <a:xfrm>
              <a:off x="4778995" y="2978388"/>
              <a:ext cx="0" cy="283464"/>
            </a:xfrm>
            <a:prstGeom prst="line">
              <a:avLst/>
            </a:prstGeom>
            <a:noFill/>
            <a:ln w="19050">
              <a:solidFill>
                <a:srgbClr val="9EAAB8"/>
              </a:solidFill>
              <a:prstDash val="solid"/>
            </a:ln>
          </p:spPr>
          <p:txBody>
            <a:bodyPr/>
            <a:lstStyle/>
            <a:p>
              <a:endParaRPr lang="en-US"/>
            </a:p>
          </p:txBody>
        </p:sp>
        <p:sp>
          <p:nvSpPr>
            <p:cNvPr id="2078" name="Shape 70">
              <a:extLst>
                <a:ext uri="{FF2B5EF4-FFF2-40B4-BE49-F238E27FC236}">
                  <a16:creationId xmlns:a16="http://schemas.microsoft.com/office/drawing/2014/main" id="{AA4B2CF5-A407-04DC-4BB1-37BDBE4E1C95}"/>
                </a:ext>
              </a:extLst>
            </p:cNvPr>
            <p:cNvSpPr/>
            <p:nvPr/>
          </p:nvSpPr>
          <p:spPr>
            <a:xfrm>
              <a:off x="7295832" y="2965972"/>
              <a:ext cx="0" cy="283464"/>
            </a:xfrm>
            <a:prstGeom prst="line">
              <a:avLst/>
            </a:prstGeom>
            <a:noFill/>
            <a:ln w="19050">
              <a:solidFill>
                <a:srgbClr val="9EAAB8"/>
              </a:solidFill>
              <a:prstDash val="solid"/>
            </a:ln>
          </p:spPr>
          <p:txBody>
            <a:bodyPr/>
            <a:lstStyle/>
            <a:p>
              <a:endParaRPr lang="en-US"/>
            </a:p>
          </p:txBody>
        </p:sp>
        <p:grpSp>
          <p:nvGrpSpPr>
            <p:cNvPr id="2079" name="Group 2078">
              <a:extLst>
                <a:ext uri="{FF2B5EF4-FFF2-40B4-BE49-F238E27FC236}">
                  <a16:creationId xmlns:a16="http://schemas.microsoft.com/office/drawing/2014/main" id="{943A02B4-BAB4-ABDC-3477-9C85FABB36EA}"/>
                </a:ext>
              </a:extLst>
            </p:cNvPr>
            <p:cNvGrpSpPr/>
            <p:nvPr/>
          </p:nvGrpSpPr>
          <p:grpSpPr>
            <a:xfrm>
              <a:off x="1779140" y="3187129"/>
              <a:ext cx="5969686" cy="598486"/>
              <a:chOff x="2651760" y="3977640"/>
              <a:chExt cx="3840480" cy="457200"/>
            </a:xfrm>
          </p:grpSpPr>
          <p:sp>
            <p:nvSpPr>
              <p:cNvPr id="2089" name="Shape 71">
                <a:extLst>
                  <a:ext uri="{FF2B5EF4-FFF2-40B4-BE49-F238E27FC236}">
                    <a16:creationId xmlns:a16="http://schemas.microsoft.com/office/drawing/2014/main" id="{4298FE91-F709-22B6-475C-A11921D28B8C}"/>
                  </a:ext>
                </a:extLst>
              </p:cNvPr>
              <p:cNvSpPr/>
              <p:nvPr/>
            </p:nvSpPr>
            <p:spPr>
              <a:xfrm>
                <a:off x="2651760" y="3977640"/>
                <a:ext cx="3840480" cy="457200"/>
              </a:xfrm>
              <a:prstGeom prst="rect">
                <a:avLst/>
              </a:prstGeom>
              <a:solidFill>
                <a:srgbClr val="EBF3FC"/>
              </a:solidFill>
              <a:ln w="25400">
                <a:solidFill>
                  <a:srgbClr val="2980B9"/>
                </a:solidFill>
                <a:prstDash val="solid"/>
              </a:ln>
              <a:effectLst>
                <a:outerShdw blurRad="63500" dist="25400" dir="8100000" algn="bl" rotWithShape="0">
                  <a:srgbClr val="000000">
                    <a:alpha val="10000"/>
                  </a:srgbClr>
                </a:outerShdw>
              </a:effectLst>
            </p:spPr>
            <p:txBody>
              <a:bodyPr/>
              <a:lstStyle/>
              <a:p>
                <a:endParaRPr lang="en-US"/>
              </a:p>
            </p:txBody>
          </p:sp>
          <p:sp>
            <p:nvSpPr>
              <p:cNvPr id="2090" name="Text 72">
                <a:extLst>
                  <a:ext uri="{FF2B5EF4-FFF2-40B4-BE49-F238E27FC236}">
                    <a16:creationId xmlns:a16="http://schemas.microsoft.com/office/drawing/2014/main" id="{C2517D42-81E3-4D52-CE27-48593939350B}"/>
                  </a:ext>
                </a:extLst>
              </p:cNvPr>
              <p:cNvSpPr/>
              <p:nvPr/>
            </p:nvSpPr>
            <p:spPr>
              <a:xfrm>
                <a:off x="2651760" y="3977640"/>
                <a:ext cx="3840480" cy="457200"/>
              </a:xfrm>
              <a:prstGeom prst="rect">
                <a:avLst/>
              </a:prstGeom>
              <a:noFill/>
              <a:ln/>
            </p:spPr>
            <p:txBody>
              <a:bodyPr wrap="square" lIns="0" tIns="0" rIns="0" bIns="0" rtlCol="0" anchor="ctr"/>
              <a:lstStyle/>
              <a:p>
                <a:pPr marL="0" indent="0" algn="ctr">
                  <a:buNone/>
                </a:pPr>
                <a:r>
                  <a:rPr lang="en-US" sz="1300" b="1" dirty="0">
                    <a:solidFill>
                      <a:srgbClr val="1A5276"/>
                    </a:solidFill>
                    <a:latin typeface="Calibri" pitchFamily="34" charset="0"/>
                    <a:ea typeface="Calibri" pitchFamily="34" charset="-122"/>
                    <a:cs typeface="Calibri" pitchFamily="34" charset="-120"/>
                  </a:rPr>
                  <a:t>Majority-Voting</a:t>
                </a:r>
                <a:endParaRPr lang="en-US" sz="1300" dirty="0"/>
              </a:p>
            </p:txBody>
          </p:sp>
        </p:grpSp>
        <p:sp>
          <p:nvSpPr>
            <p:cNvPr id="2080" name="Shape 73">
              <a:extLst>
                <a:ext uri="{FF2B5EF4-FFF2-40B4-BE49-F238E27FC236}">
                  <a16:creationId xmlns:a16="http://schemas.microsoft.com/office/drawing/2014/main" id="{737B5A51-2C1A-C55F-3997-A92E34A6B137}"/>
                </a:ext>
              </a:extLst>
            </p:cNvPr>
            <p:cNvSpPr/>
            <p:nvPr/>
          </p:nvSpPr>
          <p:spPr>
            <a:xfrm>
              <a:off x="4675201" y="3824663"/>
              <a:ext cx="0" cy="219456"/>
            </a:xfrm>
            <a:prstGeom prst="line">
              <a:avLst/>
            </a:prstGeom>
            <a:noFill/>
            <a:ln w="25400">
              <a:solidFill>
                <a:srgbClr val="888888"/>
              </a:solidFill>
              <a:prstDash val="solid"/>
              <a:tailEnd type="arrow"/>
            </a:ln>
          </p:spPr>
          <p:txBody>
            <a:bodyPr/>
            <a:lstStyle/>
            <a:p>
              <a:endParaRPr lang="en-US"/>
            </a:p>
          </p:txBody>
        </p:sp>
        <p:grpSp>
          <p:nvGrpSpPr>
            <p:cNvPr id="2081" name="Group 2080">
              <a:extLst>
                <a:ext uri="{FF2B5EF4-FFF2-40B4-BE49-F238E27FC236}">
                  <a16:creationId xmlns:a16="http://schemas.microsoft.com/office/drawing/2014/main" id="{DB7846A1-3ADB-B739-55CE-5A70B389F016}"/>
                </a:ext>
              </a:extLst>
            </p:cNvPr>
            <p:cNvGrpSpPr/>
            <p:nvPr/>
          </p:nvGrpSpPr>
          <p:grpSpPr>
            <a:xfrm>
              <a:off x="3291840" y="4044119"/>
              <a:ext cx="2560320" cy="420624"/>
              <a:chOff x="3291840" y="4654296"/>
              <a:chExt cx="2560320" cy="420624"/>
            </a:xfrm>
          </p:grpSpPr>
          <p:sp>
            <p:nvSpPr>
              <p:cNvPr id="2087" name="Shape 74">
                <a:extLst>
                  <a:ext uri="{FF2B5EF4-FFF2-40B4-BE49-F238E27FC236}">
                    <a16:creationId xmlns:a16="http://schemas.microsoft.com/office/drawing/2014/main" id="{370C6C12-CC4A-2540-CBD6-20A499B06279}"/>
                  </a:ext>
                </a:extLst>
              </p:cNvPr>
              <p:cNvSpPr/>
              <p:nvPr/>
            </p:nvSpPr>
            <p:spPr>
              <a:xfrm>
                <a:off x="3291840" y="4654296"/>
                <a:ext cx="2560320" cy="420624"/>
              </a:xfrm>
              <a:prstGeom prst="rect">
                <a:avLst/>
              </a:prstGeom>
              <a:solidFill>
                <a:srgbClr val="1B3869"/>
              </a:solidFill>
              <a:ln w="12700">
                <a:solidFill>
                  <a:srgbClr val="1B3869"/>
                </a:solidFill>
                <a:prstDash val="solid"/>
              </a:ln>
              <a:effectLst>
                <a:outerShdw blurRad="63500" dist="25400" dir="8100000" algn="bl" rotWithShape="0">
                  <a:srgbClr val="000000">
                    <a:alpha val="10000"/>
                  </a:srgbClr>
                </a:outerShdw>
              </a:effectLst>
            </p:spPr>
            <p:txBody>
              <a:bodyPr/>
              <a:lstStyle/>
              <a:p>
                <a:endParaRPr lang="en-US"/>
              </a:p>
            </p:txBody>
          </p:sp>
          <p:sp>
            <p:nvSpPr>
              <p:cNvPr id="2088" name="Text 75">
                <a:extLst>
                  <a:ext uri="{FF2B5EF4-FFF2-40B4-BE49-F238E27FC236}">
                    <a16:creationId xmlns:a16="http://schemas.microsoft.com/office/drawing/2014/main" id="{549DF38E-8061-06C9-336A-15DB7FD9BF20}"/>
                  </a:ext>
                </a:extLst>
              </p:cNvPr>
              <p:cNvSpPr/>
              <p:nvPr/>
            </p:nvSpPr>
            <p:spPr>
              <a:xfrm>
                <a:off x="3291840" y="4654296"/>
                <a:ext cx="2560320"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Final-Class  →  Class-B</a:t>
                </a:r>
                <a:endParaRPr lang="en-US" sz="1300" dirty="0"/>
              </a:p>
            </p:txBody>
          </p:sp>
        </p:grpSp>
        <p:sp>
          <p:nvSpPr>
            <p:cNvPr id="2082" name="Shape 10">
              <a:extLst>
                <a:ext uri="{FF2B5EF4-FFF2-40B4-BE49-F238E27FC236}">
                  <a16:creationId xmlns:a16="http://schemas.microsoft.com/office/drawing/2014/main" id="{0E898638-DDA1-4049-67BD-A2636F5B73DE}"/>
                </a:ext>
              </a:extLst>
            </p:cNvPr>
            <p:cNvSpPr/>
            <p:nvPr/>
          </p:nvSpPr>
          <p:spPr>
            <a:xfrm>
              <a:off x="4572000" y="953611"/>
              <a:ext cx="0" cy="300049"/>
            </a:xfrm>
            <a:prstGeom prst="line">
              <a:avLst/>
            </a:prstGeom>
            <a:noFill/>
            <a:ln w="19050">
              <a:solidFill>
                <a:srgbClr val="9EAAB8"/>
              </a:solidFill>
              <a:prstDash val="solid"/>
            </a:ln>
          </p:spPr>
          <p:txBody>
            <a:bodyPr/>
            <a:lstStyle/>
            <a:p>
              <a:endParaRPr lang="en-US"/>
            </a:p>
          </p:txBody>
        </p:sp>
        <p:grpSp>
          <p:nvGrpSpPr>
            <p:cNvPr id="2083" name="Group 2082">
              <a:extLst>
                <a:ext uri="{FF2B5EF4-FFF2-40B4-BE49-F238E27FC236}">
                  <a16:creationId xmlns:a16="http://schemas.microsoft.com/office/drawing/2014/main" id="{6F031A4E-8EAC-F3CF-813A-9273B963A904}"/>
                </a:ext>
              </a:extLst>
            </p:cNvPr>
            <p:cNvGrpSpPr/>
            <p:nvPr/>
          </p:nvGrpSpPr>
          <p:grpSpPr>
            <a:xfrm>
              <a:off x="6834428" y="2673364"/>
              <a:ext cx="914400" cy="292608"/>
              <a:chOff x="4114800" y="3401568"/>
              <a:chExt cx="914400" cy="292608"/>
            </a:xfrm>
          </p:grpSpPr>
          <p:sp>
            <p:nvSpPr>
              <p:cNvPr id="2085" name="Shape 46">
                <a:extLst>
                  <a:ext uri="{FF2B5EF4-FFF2-40B4-BE49-F238E27FC236}">
                    <a16:creationId xmlns:a16="http://schemas.microsoft.com/office/drawing/2014/main" id="{60033080-321D-0B43-B07B-04F028D532FA}"/>
                  </a:ext>
                </a:extLst>
              </p:cNvPr>
              <p:cNvSpPr/>
              <p:nvPr/>
            </p:nvSpPr>
            <p:spPr>
              <a:xfrm>
                <a:off x="4114800" y="3401568"/>
                <a:ext cx="914400" cy="292608"/>
              </a:xfrm>
              <a:prstGeom prst="rect">
                <a:avLst/>
              </a:prstGeom>
              <a:solidFill>
                <a:srgbClr val="FFFFFF"/>
              </a:solidFill>
              <a:ln w="19050">
                <a:solidFill>
                  <a:srgbClr val="7030A0"/>
                </a:solidFill>
                <a:prstDash val="solid"/>
              </a:ln>
              <a:effectLst>
                <a:outerShdw blurRad="63500" dist="25400" dir="8100000" algn="bl" rotWithShape="0">
                  <a:srgbClr val="000000">
                    <a:alpha val="10000"/>
                  </a:srgbClr>
                </a:outerShdw>
              </a:effectLst>
            </p:spPr>
            <p:txBody>
              <a:bodyPr/>
              <a:lstStyle/>
              <a:p>
                <a:endParaRPr lang="en-US">
                  <a:solidFill>
                    <a:srgbClr val="7030A0"/>
                  </a:solidFill>
                </a:endParaRPr>
              </a:p>
            </p:txBody>
          </p:sp>
          <p:sp>
            <p:nvSpPr>
              <p:cNvPr id="2086" name="Text 47">
                <a:extLst>
                  <a:ext uri="{FF2B5EF4-FFF2-40B4-BE49-F238E27FC236}">
                    <a16:creationId xmlns:a16="http://schemas.microsoft.com/office/drawing/2014/main" id="{6D6C1136-D683-667E-4149-D3F6C18CB1CA}"/>
                  </a:ext>
                </a:extLst>
              </p:cNvPr>
              <p:cNvSpPr/>
              <p:nvPr/>
            </p:nvSpPr>
            <p:spPr>
              <a:xfrm>
                <a:off x="4114800" y="3401568"/>
                <a:ext cx="914400" cy="292608"/>
              </a:xfrm>
              <a:prstGeom prst="rect">
                <a:avLst/>
              </a:prstGeom>
              <a:noFill/>
              <a:ln>
                <a:solidFill>
                  <a:srgbClr val="7030A0"/>
                </a:solidFill>
              </a:ln>
            </p:spPr>
            <p:txBody>
              <a:bodyPr wrap="square" lIns="0" tIns="0" rIns="0" bIns="0" rtlCol="0" anchor="ctr"/>
              <a:lstStyle/>
              <a:p>
                <a:pPr marL="0" indent="0" algn="ctr">
                  <a:buNone/>
                </a:pPr>
                <a:r>
                  <a:rPr lang="en-US" sz="1000" b="1" dirty="0">
                    <a:solidFill>
                      <a:srgbClr val="7030A0"/>
                    </a:solidFill>
                    <a:latin typeface="Calibri" pitchFamily="34" charset="0"/>
                    <a:ea typeface="Calibri" pitchFamily="34" charset="-122"/>
                    <a:cs typeface="Calibri" pitchFamily="34" charset="-120"/>
                  </a:rPr>
                  <a:t>Class-B</a:t>
                </a:r>
                <a:endParaRPr lang="en-US" sz="1000" dirty="0">
                  <a:solidFill>
                    <a:srgbClr val="7030A0"/>
                  </a:solidFill>
                </a:endParaRPr>
              </a:p>
            </p:txBody>
          </p:sp>
        </p:grpSp>
        <p:sp>
          <p:nvSpPr>
            <p:cNvPr id="2084" name="Shape 70">
              <a:extLst>
                <a:ext uri="{FF2B5EF4-FFF2-40B4-BE49-F238E27FC236}">
                  <a16:creationId xmlns:a16="http://schemas.microsoft.com/office/drawing/2014/main" id="{142D6E1D-E6FD-4569-E58E-908A7F751341}"/>
                </a:ext>
              </a:extLst>
            </p:cNvPr>
            <p:cNvSpPr/>
            <p:nvPr/>
          </p:nvSpPr>
          <p:spPr>
            <a:xfrm>
              <a:off x="2256256" y="2978388"/>
              <a:ext cx="0" cy="283464"/>
            </a:xfrm>
            <a:prstGeom prst="line">
              <a:avLst/>
            </a:prstGeom>
            <a:noFill/>
            <a:ln w="19050">
              <a:solidFill>
                <a:srgbClr val="9EAAB8"/>
              </a:solidFill>
              <a:prstDash val="solid"/>
            </a:ln>
          </p:spPr>
          <p:txBody>
            <a:bodyPr/>
            <a:lstStyle/>
            <a:p>
              <a:endParaRPr lang="en-US"/>
            </a:p>
          </p:txBody>
        </p:sp>
      </p:grpSp>
    </p:spTree>
    <p:extLst>
      <p:ext uri="{BB962C8B-B14F-4D97-AF65-F5344CB8AC3E}">
        <p14:creationId xmlns:p14="http://schemas.microsoft.com/office/powerpoint/2010/main" val="2380381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7FAFF"/>
        </a:solidFill>
        <a:effectLst/>
      </p:bgPr>
    </p:bg>
    <p:spTree>
      <p:nvGrpSpPr>
        <p:cNvPr id="1" name="">
          <a:extLst>
            <a:ext uri="{FF2B5EF4-FFF2-40B4-BE49-F238E27FC236}">
              <a16:creationId xmlns:a16="http://schemas.microsoft.com/office/drawing/2014/main" id="{661A8984-302E-205F-71BD-CF716C07CA37}"/>
            </a:ext>
          </a:extLst>
        </p:cNvPr>
        <p:cNvGrpSpPr/>
        <p:nvPr/>
      </p:nvGrpSpPr>
      <p:grpSpPr>
        <a:xfrm>
          <a:off x="0" y="0"/>
          <a:ext cx="0" cy="0"/>
          <a:chOff x="0" y="0"/>
          <a:chExt cx="0" cy="0"/>
        </a:xfrm>
      </p:grpSpPr>
      <p:sp>
        <p:nvSpPr>
          <p:cNvPr id="11" name="Shape 11">
            <a:extLst>
              <a:ext uri="{FF2B5EF4-FFF2-40B4-BE49-F238E27FC236}">
                <a16:creationId xmlns:a16="http://schemas.microsoft.com/office/drawing/2014/main" id="{8E11D6F3-81B3-74F5-F2D8-9E7D132F3F28}"/>
              </a:ext>
            </a:extLst>
          </p:cNvPr>
          <p:cNvSpPr/>
          <p:nvPr/>
        </p:nvSpPr>
        <p:spPr>
          <a:xfrm>
            <a:off x="91440" y="1371600"/>
            <a:ext cx="54864" cy="2103120"/>
          </a:xfrm>
          <a:prstGeom prst="rect">
            <a:avLst/>
          </a:prstGeom>
          <a:solidFill>
            <a:srgbClr val="4472C4"/>
          </a:solidFill>
          <a:ln w="12700">
            <a:solidFill>
              <a:srgbClr val="4472C4"/>
            </a:solidFill>
            <a:prstDash val="solid"/>
          </a:ln>
        </p:spPr>
        <p:txBody>
          <a:bodyPr/>
          <a:lstStyle/>
          <a:p>
            <a:endParaRPr lang="en-US"/>
          </a:p>
        </p:txBody>
      </p:sp>
      <p:sp>
        <p:nvSpPr>
          <p:cNvPr id="2063" name="Text 78">
            <a:extLst>
              <a:ext uri="{FF2B5EF4-FFF2-40B4-BE49-F238E27FC236}">
                <a16:creationId xmlns:a16="http://schemas.microsoft.com/office/drawing/2014/main" id="{C54DC084-C0AC-3ECA-DB54-EFABA521D70B}"/>
              </a:ext>
            </a:extLst>
          </p:cNvPr>
          <p:cNvSpPr/>
          <p:nvPr/>
        </p:nvSpPr>
        <p:spPr>
          <a:xfrm>
            <a:off x="228600" y="4937760"/>
            <a:ext cx="8686800" cy="182880"/>
          </a:xfrm>
          <a:prstGeom prst="rect">
            <a:avLst/>
          </a:prstGeom>
          <a:noFill/>
          <a:ln/>
        </p:spPr>
        <p:txBody>
          <a:bodyPr wrap="square" lIns="0" tIns="0" rIns="0" bIns="0" rtlCol="0" anchor="ctr"/>
          <a:lstStyle/>
          <a:p>
            <a:pPr marL="0" indent="0">
              <a:buNone/>
            </a:pPr>
            <a:r>
              <a:rPr lang="en-US" sz="680" i="1" dirty="0">
                <a:solidFill>
                  <a:srgbClr val="7F8C8D"/>
                </a:solidFill>
                <a:latin typeface="Calibri" pitchFamily="34" charset="0"/>
                <a:ea typeface="Calibri" pitchFamily="34" charset="-122"/>
                <a:cs typeface="Calibri" pitchFamily="34" charset="-120"/>
              </a:rPr>
              <a:t>Each decision tree independently classifies the instance by following a path through its nodes. The majority class across all trees becomes the final prediction — reducing variance and improving accuracy over a single tree.</a:t>
            </a:r>
            <a:endParaRPr lang="en-US" sz="680" dirty="0"/>
          </a:p>
        </p:txBody>
      </p:sp>
      <p:grpSp>
        <p:nvGrpSpPr>
          <p:cNvPr id="2080" name="Group 2079">
            <a:extLst>
              <a:ext uri="{FF2B5EF4-FFF2-40B4-BE49-F238E27FC236}">
                <a16:creationId xmlns:a16="http://schemas.microsoft.com/office/drawing/2014/main" id="{933D6DA5-B6C2-6573-235F-50646A75CE88}"/>
              </a:ext>
            </a:extLst>
          </p:cNvPr>
          <p:cNvGrpSpPr/>
          <p:nvPr/>
        </p:nvGrpSpPr>
        <p:grpSpPr>
          <a:xfrm>
            <a:off x="1779139" y="352702"/>
            <a:ext cx="5969689" cy="4112041"/>
            <a:chOff x="1779139" y="352702"/>
            <a:chExt cx="5969689" cy="4112041"/>
          </a:xfrm>
        </p:grpSpPr>
        <p:sp>
          <p:nvSpPr>
            <p:cNvPr id="10" name="Shape 10">
              <a:extLst>
                <a:ext uri="{FF2B5EF4-FFF2-40B4-BE49-F238E27FC236}">
                  <a16:creationId xmlns:a16="http://schemas.microsoft.com/office/drawing/2014/main" id="{ACF1876E-C6F5-40C4-9DF3-4B5BEC31D712}"/>
                </a:ext>
              </a:extLst>
            </p:cNvPr>
            <p:cNvSpPr/>
            <p:nvPr/>
          </p:nvSpPr>
          <p:spPr>
            <a:xfrm flipH="1">
              <a:off x="2488510" y="515096"/>
              <a:ext cx="1898824" cy="769095"/>
            </a:xfrm>
            <a:prstGeom prst="line">
              <a:avLst/>
            </a:prstGeom>
            <a:noFill/>
            <a:ln w="19050">
              <a:solidFill>
                <a:srgbClr val="9EAAB8"/>
              </a:solidFill>
              <a:prstDash val="solid"/>
            </a:ln>
          </p:spPr>
          <p:txBody>
            <a:bodyPr/>
            <a:lstStyle/>
            <a:p>
              <a:endParaRPr lang="en-US"/>
            </a:p>
          </p:txBody>
        </p:sp>
        <p:sp>
          <p:nvSpPr>
            <p:cNvPr id="2070" name="Shape 10">
              <a:extLst>
                <a:ext uri="{FF2B5EF4-FFF2-40B4-BE49-F238E27FC236}">
                  <a16:creationId xmlns:a16="http://schemas.microsoft.com/office/drawing/2014/main" id="{FC750B26-9FEF-95E2-1EAD-D047E6248D1C}"/>
                </a:ext>
              </a:extLst>
            </p:cNvPr>
            <p:cNvSpPr/>
            <p:nvPr/>
          </p:nvSpPr>
          <p:spPr>
            <a:xfrm>
              <a:off x="4739192" y="509588"/>
              <a:ext cx="1957360" cy="788860"/>
            </a:xfrm>
            <a:prstGeom prst="line">
              <a:avLst/>
            </a:prstGeom>
            <a:noFill/>
            <a:ln w="19050">
              <a:solidFill>
                <a:srgbClr val="9EAAB8"/>
              </a:solidFill>
              <a:prstDash val="solid"/>
            </a:ln>
          </p:spPr>
          <p:txBody>
            <a:bodyPr/>
            <a:lstStyle/>
            <a:p>
              <a:endParaRPr lang="en-US"/>
            </a:p>
          </p:txBody>
        </p:sp>
        <p:grpSp>
          <p:nvGrpSpPr>
            <p:cNvPr id="2064" name="Group 2063">
              <a:extLst>
                <a:ext uri="{FF2B5EF4-FFF2-40B4-BE49-F238E27FC236}">
                  <a16:creationId xmlns:a16="http://schemas.microsoft.com/office/drawing/2014/main" id="{9677A61D-A1F8-E7FC-31CB-F52EBB8EB734}"/>
                </a:ext>
              </a:extLst>
            </p:cNvPr>
            <p:cNvGrpSpPr/>
            <p:nvPr/>
          </p:nvGrpSpPr>
          <p:grpSpPr>
            <a:xfrm>
              <a:off x="4387333" y="352702"/>
              <a:ext cx="369334" cy="331470"/>
              <a:chOff x="4279392" y="749808"/>
              <a:chExt cx="585216" cy="475488"/>
            </a:xfrm>
          </p:grpSpPr>
          <p:sp>
            <p:nvSpPr>
              <p:cNvPr id="2" name="Shape 3">
                <a:extLst>
                  <a:ext uri="{FF2B5EF4-FFF2-40B4-BE49-F238E27FC236}">
                    <a16:creationId xmlns:a16="http://schemas.microsoft.com/office/drawing/2014/main" id="{E2266ACF-2D04-7C04-B376-2CA4A491A1A3}"/>
                  </a:ext>
                </a:extLst>
              </p:cNvPr>
              <p:cNvSpPr/>
              <p:nvPr/>
            </p:nvSpPr>
            <p:spPr>
              <a:xfrm>
                <a:off x="4279392" y="749808"/>
                <a:ext cx="585216" cy="475488"/>
              </a:xfrm>
              <a:prstGeom prst="rect">
                <a:avLst/>
              </a:prstGeom>
              <a:solidFill>
                <a:srgbClr val="EBF3FC"/>
              </a:solidFill>
              <a:ln w="19050">
                <a:solidFill>
                  <a:srgbClr val="4472C4"/>
                </a:solidFill>
                <a:prstDash val="solid"/>
              </a:ln>
              <a:effectLst>
                <a:outerShdw blurRad="63500" dist="25400" dir="8100000" algn="bl" rotWithShape="0">
                  <a:srgbClr val="000000">
                    <a:alpha val="10000"/>
                  </a:srgbClr>
                </a:outerShdw>
              </a:effectLst>
            </p:spPr>
            <p:txBody>
              <a:bodyPr/>
              <a:lstStyle/>
              <a:p>
                <a:endParaRPr lang="en-US"/>
              </a:p>
            </p:txBody>
          </p:sp>
          <p:sp>
            <p:nvSpPr>
              <p:cNvPr id="3" name="Shape 4">
                <a:extLst>
                  <a:ext uri="{FF2B5EF4-FFF2-40B4-BE49-F238E27FC236}">
                    <a16:creationId xmlns:a16="http://schemas.microsoft.com/office/drawing/2014/main" id="{C29B3203-8544-8323-87ED-BF7D29DC2FE2}"/>
                  </a:ext>
                </a:extLst>
              </p:cNvPr>
              <p:cNvSpPr/>
              <p:nvPr/>
            </p:nvSpPr>
            <p:spPr>
              <a:xfrm>
                <a:off x="4389120" y="877824"/>
                <a:ext cx="365760" cy="0"/>
              </a:xfrm>
              <a:prstGeom prst="line">
                <a:avLst/>
              </a:prstGeom>
              <a:noFill/>
              <a:ln w="10160">
                <a:solidFill>
                  <a:srgbClr val="4472C4"/>
                </a:solidFill>
                <a:prstDash val="solid"/>
              </a:ln>
            </p:spPr>
            <p:txBody>
              <a:bodyPr/>
              <a:lstStyle/>
              <a:p>
                <a:endParaRPr lang="en-US"/>
              </a:p>
            </p:txBody>
          </p:sp>
          <p:sp>
            <p:nvSpPr>
              <p:cNvPr id="5" name="Shape 5">
                <a:extLst>
                  <a:ext uri="{FF2B5EF4-FFF2-40B4-BE49-F238E27FC236}">
                    <a16:creationId xmlns:a16="http://schemas.microsoft.com/office/drawing/2014/main" id="{36F07885-6664-380E-B4C8-97D581D4EB1D}"/>
                  </a:ext>
                </a:extLst>
              </p:cNvPr>
              <p:cNvSpPr/>
              <p:nvPr/>
            </p:nvSpPr>
            <p:spPr>
              <a:xfrm>
                <a:off x="4389120" y="987552"/>
                <a:ext cx="365760" cy="0"/>
              </a:xfrm>
              <a:prstGeom prst="line">
                <a:avLst/>
              </a:prstGeom>
              <a:noFill/>
              <a:ln w="10160">
                <a:solidFill>
                  <a:srgbClr val="4472C4"/>
                </a:solidFill>
                <a:prstDash val="solid"/>
              </a:ln>
            </p:spPr>
            <p:txBody>
              <a:bodyPr/>
              <a:lstStyle/>
              <a:p>
                <a:endParaRPr lang="en-US"/>
              </a:p>
            </p:txBody>
          </p:sp>
          <p:sp>
            <p:nvSpPr>
              <p:cNvPr id="6" name="Shape 6">
                <a:extLst>
                  <a:ext uri="{FF2B5EF4-FFF2-40B4-BE49-F238E27FC236}">
                    <a16:creationId xmlns:a16="http://schemas.microsoft.com/office/drawing/2014/main" id="{B350CE29-F712-B18B-6BA1-20B7D449D8EC}"/>
                  </a:ext>
                </a:extLst>
              </p:cNvPr>
              <p:cNvSpPr/>
              <p:nvPr/>
            </p:nvSpPr>
            <p:spPr>
              <a:xfrm>
                <a:off x="4389120" y="1078992"/>
                <a:ext cx="365760" cy="0"/>
              </a:xfrm>
              <a:prstGeom prst="line">
                <a:avLst/>
              </a:prstGeom>
              <a:noFill/>
              <a:ln w="10160">
                <a:solidFill>
                  <a:srgbClr val="4472C4"/>
                </a:solidFill>
                <a:prstDash val="solid"/>
              </a:ln>
            </p:spPr>
            <p:txBody>
              <a:bodyPr/>
              <a:lstStyle/>
              <a:p>
                <a:endParaRPr lang="en-US"/>
              </a:p>
            </p:txBody>
          </p:sp>
        </p:grpSp>
        <p:sp>
          <p:nvSpPr>
            <p:cNvPr id="7" name="Text 7">
              <a:extLst>
                <a:ext uri="{FF2B5EF4-FFF2-40B4-BE49-F238E27FC236}">
                  <a16:creationId xmlns:a16="http://schemas.microsoft.com/office/drawing/2014/main" id="{8503DFEA-52D7-18E8-9EF5-234E83A7D0AF}"/>
                </a:ext>
              </a:extLst>
            </p:cNvPr>
            <p:cNvSpPr/>
            <p:nvPr/>
          </p:nvSpPr>
          <p:spPr>
            <a:xfrm>
              <a:off x="4039861" y="769029"/>
              <a:ext cx="1073418" cy="201168"/>
            </a:xfrm>
            <a:prstGeom prst="rect">
              <a:avLst/>
            </a:prstGeom>
            <a:noFill/>
            <a:ln/>
          </p:spPr>
          <p:txBody>
            <a:bodyPr wrap="square" lIns="0" tIns="0" rIns="0" bIns="0" rtlCol="0" anchor="ctr"/>
            <a:lstStyle/>
            <a:p>
              <a:pPr marL="0" indent="0" algn="ctr">
                <a:buNone/>
              </a:pPr>
              <a:r>
                <a:rPr lang="en-US" sz="1100" b="1" dirty="0">
                  <a:solidFill>
                    <a:srgbClr val="1B3869"/>
                  </a:solidFill>
                  <a:latin typeface="Calibri" pitchFamily="34" charset="0"/>
                  <a:ea typeface="Calibri" pitchFamily="34" charset="-122"/>
                  <a:cs typeface="Calibri" pitchFamily="34" charset="-120"/>
                </a:rPr>
                <a:t>Instance</a:t>
              </a:r>
              <a:endParaRPr lang="en-US" sz="1100" dirty="0"/>
            </a:p>
          </p:txBody>
        </p:sp>
        <p:grpSp>
          <p:nvGrpSpPr>
            <p:cNvPr id="2069" name="Group 2068">
              <a:extLst>
                <a:ext uri="{FF2B5EF4-FFF2-40B4-BE49-F238E27FC236}">
                  <a16:creationId xmlns:a16="http://schemas.microsoft.com/office/drawing/2014/main" id="{2DBC97C8-640C-B816-517B-F2F4991E1AA0}"/>
                </a:ext>
              </a:extLst>
            </p:cNvPr>
            <p:cNvGrpSpPr/>
            <p:nvPr/>
          </p:nvGrpSpPr>
          <p:grpSpPr>
            <a:xfrm>
              <a:off x="1779139" y="1284192"/>
              <a:ext cx="1408176" cy="1404144"/>
              <a:chOff x="941832" y="1344168"/>
              <a:chExt cx="1408176" cy="1404144"/>
            </a:xfrm>
          </p:grpSpPr>
          <p:sp>
            <p:nvSpPr>
              <p:cNvPr id="13" name="Shape 13">
                <a:extLst>
                  <a:ext uri="{FF2B5EF4-FFF2-40B4-BE49-F238E27FC236}">
                    <a16:creationId xmlns:a16="http://schemas.microsoft.com/office/drawing/2014/main" id="{746CE4D7-A7EA-A3E0-7769-3A63C17BFAEB}"/>
                  </a:ext>
                </a:extLst>
              </p:cNvPr>
              <p:cNvSpPr/>
              <p:nvPr/>
            </p:nvSpPr>
            <p:spPr>
              <a:xfrm flipH="1">
                <a:off x="1289304" y="1444752"/>
                <a:ext cx="356616" cy="374904"/>
              </a:xfrm>
              <a:prstGeom prst="line">
                <a:avLst/>
              </a:prstGeom>
              <a:noFill/>
              <a:ln w="19050">
                <a:solidFill>
                  <a:srgbClr val="E8820A"/>
                </a:solidFill>
                <a:prstDash val="solid"/>
              </a:ln>
            </p:spPr>
            <p:txBody>
              <a:bodyPr/>
              <a:lstStyle/>
              <a:p>
                <a:endParaRPr lang="en-US"/>
              </a:p>
            </p:txBody>
          </p:sp>
          <p:sp>
            <p:nvSpPr>
              <p:cNvPr id="14" name="Shape 14">
                <a:extLst>
                  <a:ext uri="{FF2B5EF4-FFF2-40B4-BE49-F238E27FC236}">
                    <a16:creationId xmlns:a16="http://schemas.microsoft.com/office/drawing/2014/main" id="{FB135745-515C-7129-BAA4-356516A7E694}"/>
                  </a:ext>
                </a:extLst>
              </p:cNvPr>
              <p:cNvSpPr/>
              <p:nvPr/>
            </p:nvSpPr>
            <p:spPr>
              <a:xfrm>
                <a:off x="1645920" y="1444752"/>
                <a:ext cx="402336" cy="475488"/>
              </a:xfrm>
              <a:prstGeom prst="line">
                <a:avLst/>
              </a:prstGeom>
              <a:noFill/>
              <a:ln w="12700">
                <a:solidFill>
                  <a:srgbClr val="9EAAB8"/>
                </a:solidFill>
                <a:prstDash val="solid"/>
              </a:ln>
            </p:spPr>
            <p:txBody>
              <a:bodyPr/>
              <a:lstStyle/>
              <a:p>
                <a:endParaRPr lang="en-US"/>
              </a:p>
            </p:txBody>
          </p:sp>
          <p:sp>
            <p:nvSpPr>
              <p:cNvPr id="15" name="Shape 15">
                <a:extLst>
                  <a:ext uri="{FF2B5EF4-FFF2-40B4-BE49-F238E27FC236}">
                    <a16:creationId xmlns:a16="http://schemas.microsoft.com/office/drawing/2014/main" id="{271193B8-ACA5-23E4-0E4C-602DAE443705}"/>
                  </a:ext>
                </a:extLst>
              </p:cNvPr>
              <p:cNvSpPr/>
              <p:nvPr/>
            </p:nvSpPr>
            <p:spPr>
              <a:xfrm flipH="1">
                <a:off x="1097280" y="1920240"/>
                <a:ext cx="146304" cy="384048"/>
              </a:xfrm>
              <a:prstGeom prst="line">
                <a:avLst/>
              </a:prstGeom>
              <a:noFill/>
              <a:ln w="12700">
                <a:solidFill>
                  <a:srgbClr val="9EAAB8"/>
                </a:solidFill>
                <a:prstDash val="solid"/>
              </a:ln>
            </p:spPr>
            <p:txBody>
              <a:bodyPr/>
              <a:lstStyle/>
              <a:p>
                <a:endParaRPr lang="en-US"/>
              </a:p>
            </p:txBody>
          </p:sp>
          <p:sp>
            <p:nvSpPr>
              <p:cNvPr id="16" name="Shape 16">
                <a:extLst>
                  <a:ext uri="{FF2B5EF4-FFF2-40B4-BE49-F238E27FC236}">
                    <a16:creationId xmlns:a16="http://schemas.microsoft.com/office/drawing/2014/main" id="{F8A3DCCA-5B66-80C5-6BFB-635BFB09B6BD}"/>
                  </a:ext>
                </a:extLst>
              </p:cNvPr>
              <p:cNvSpPr/>
              <p:nvPr/>
            </p:nvSpPr>
            <p:spPr>
              <a:xfrm>
                <a:off x="1243584" y="1920240"/>
                <a:ext cx="201168" cy="475488"/>
              </a:xfrm>
              <a:prstGeom prst="line">
                <a:avLst/>
              </a:prstGeom>
              <a:noFill/>
              <a:ln w="19050">
                <a:solidFill>
                  <a:srgbClr val="E8820A"/>
                </a:solidFill>
                <a:prstDash val="solid"/>
              </a:ln>
            </p:spPr>
            <p:txBody>
              <a:bodyPr/>
              <a:lstStyle/>
              <a:p>
                <a:endParaRPr lang="en-US"/>
              </a:p>
            </p:txBody>
          </p:sp>
          <p:sp>
            <p:nvSpPr>
              <p:cNvPr id="17" name="Shape 17">
                <a:extLst>
                  <a:ext uri="{FF2B5EF4-FFF2-40B4-BE49-F238E27FC236}">
                    <a16:creationId xmlns:a16="http://schemas.microsoft.com/office/drawing/2014/main" id="{13B098AB-84F8-7704-0789-249B1A2EB6B5}"/>
                  </a:ext>
                </a:extLst>
              </p:cNvPr>
              <p:cNvSpPr/>
              <p:nvPr/>
            </p:nvSpPr>
            <p:spPr>
              <a:xfrm flipH="1">
                <a:off x="1865376" y="1920240"/>
                <a:ext cx="182880" cy="393192"/>
              </a:xfrm>
              <a:prstGeom prst="line">
                <a:avLst/>
              </a:prstGeom>
              <a:noFill/>
              <a:ln w="12700">
                <a:solidFill>
                  <a:srgbClr val="9EAAB8"/>
                </a:solidFill>
                <a:prstDash val="solid"/>
              </a:ln>
            </p:spPr>
            <p:txBody>
              <a:bodyPr/>
              <a:lstStyle/>
              <a:p>
                <a:endParaRPr lang="en-US"/>
              </a:p>
            </p:txBody>
          </p:sp>
          <p:sp>
            <p:nvSpPr>
              <p:cNvPr id="18" name="Shape 18">
                <a:extLst>
                  <a:ext uri="{FF2B5EF4-FFF2-40B4-BE49-F238E27FC236}">
                    <a16:creationId xmlns:a16="http://schemas.microsoft.com/office/drawing/2014/main" id="{8B8BC22A-AC87-170D-A84D-6573A35000BD}"/>
                  </a:ext>
                </a:extLst>
              </p:cNvPr>
              <p:cNvSpPr/>
              <p:nvPr/>
            </p:nvSpPr>
            <p:spPr>
              <a:xfrm>
                <a:off x="2048256" y="1920240"/>
                <a:ext cx="201168" cy="475488"/>
              </a:xfrm>
              <a:prstGeom prst="line">
                <a:avLst/>
              </a:prstGeom>
              <a:noFill/>
              <a:ln w="12700">
                <a:solidFill>
                  <a:srgbClr val="9EAAB8"/>
                </a:solidFill>
                <a:prstDash val="solid"/>
              </a:ln>
            </p:spPr>
            <p:txBody>
              <a:bodyPr/>
              <a:lstStyle/>
              <a:p>
                <a:endParaRPr lang="en-US"/>
              </a:p>
            </p:txBody>
          </p:sp>
          <p:sp>
            <p:nvSpPr>
              <p:cNvPr id="19" name="Shape 19">
                <a:extLst>
                  <a:ext uri="{FF2B5EF4-FFF2-40B4-BE49-F238E27FC236}">
                    <a16:creationId xmlns:a16="http://schemas.microsoft.com/office/drawing/2014/main" id="{D17BEE53-6B64-5D97-D016-0A52AA648E18}"/>
                  </a:ext>
                </a:extLst>
              </p:cNvPr>
              <p:cNvSpPr/>
              <p:nvPr/>
            </p:nvSpPr>
            <p:spPr>
              <a:xfrm>
                <a:off x="1545336" y="1344168"/>
                <a:ext cx="201168" cy="201168"/>
              </a:xfrm>
              <a:prstGeom prst="ellipse">
                <a:avLst/>
              </a:prstGeom>
              <a:solidFill>
                <a:srgbClr val="E8820A"/>
              </a:solidFill>
              <a:ln w="25400">
                <a:solidFill>
                  <a:srgbClr val="B85E00"/>
                </a:solidFill>
                <a:prstDash val="solid"/>
              </a:ln>
            </p:spPr>
            <p:txBody>
              <a:bodyPr/>
              <a:lstStyle/>
              <a:p>
                <a:endParaRPr lang="en-US"/>
              </a:p>
            </p:txBody>
          </p:sp>
          <p:sp>
            <p:nvSpPr>
              <p:cNvPr id="20" name="Shape 20">
                <a:extLst>
                  <a:ext uri="{FF2B5EF4-FFF2-40B4-BE49-F238E27FC236}">
                    <a16:creationId xmlns:a16="http://schemas.microsoft.com/office/drawing/2014/main" id="{F17ED831-84A2-A03E-5A55-64697A3208EE}"/>
                  </a:ext>
                </a:extLst>
              </p:cNvPr>
              <p:cNvSpPr/>
              <p:nvPr/>
            </p:nvSpPr>
            <p:spPr>
              <a:xfrm>
                <a:off x="1143000" y="1819656"/>
                <a:ext cx="201168" cy="201168"/>
              </a:xfrm>
              <a:prstGeom prst="ellipse">
                <a:avLst/>
              </a:prstGeom>
              <a:solidFill>
                <a:srgbClr val="E8820A"/>
              </a:solidFill>
              <a:ln w="25400">
                <a:solidFill>
                  <a:srgbClr val="B85E00"/>
                </a:solidFill>
                <a:prstDash val="solid"/>
              </a:ln>
            </p:spPr>
            <p:txBody>
              <a:bodyPr/>
              <a:lstStyle/>
              <a:p>
                <a:endParaRPr lang="en-US"/>
              </a:p>
            </p:txBody>
          </p:sp>
          <p:sp>
            <p:nvSpPr>
              <p:cNvPr id="21" name="Shape 21">
                <a:extLst>
                  <a:ext uri="{FF2B5EF4-FFF2-40B4-BE49-F238E27FC236}">
                    <a16:creationId xmlns:a16="http://schemas.microsoft.com/office/drawing/2014/main" id="{07ECE06A-B255-3F88-3576-A5E594CAC346}"/>
                  </a:ext>
                </a:extLst>
              </p:cNvPr>
              <p:cNvSpPr/>
              <p:nvPr/>
            </p:nvSpPr>
            <p:spPr>
              <a:xfrm>
                <a:off x="1947672" y="1819656"/>
                <a:ext cx="201168" cy="201168"/>
              </a:xfrm>
              <a:prstGeom prst="ellipse">
                <a:avLst/>
              </a:prstGeom>
              <a:solidFill>
                <a:srgbClr val="9DC8EE"/>
              </a:solidFill>
              <a:ln w="12700">
                <a:solidFill>
                  <a:srgbClr val="4A88C8"/>
                </a:solidFill>
                <a:prstDash val="solid"/>
              </a:ln>
            </p:spPr>
            <p:txBody>
              <a:bodyPr/>
              <a:lstStyle/>
              <a:p>
                <a:endParaRPr lang="en-US"/>
              </a:p>
            </p:txBody>
          </p:sp>
          <p:sp>
            <p:nvSpPr>
              <p:cNvPr id="22" name="Shape 22">
                <a:extLst>
                  <a:ext uri="{FF2B5EF4-FFF2-40B4-BE49-F238E27FC236}">
                    <a16:creationId xmlns:a16="http://schemas.microsoft.com/office/drawing/2014/main" id="{182EA55C-0F6C-7CAE-F235-C211D7C27BF8}"/>
                  </a:ext>
                </a:extLst>
              </p:cNvPr>
              <p:cNvSpPr/>
              <p:nvPr/>
            </p:nvSpPr>
            <p:spPr>
              <a:xfrm>
                <a:off x="941832"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3" name="Shape 23">
                <a:extLst>
                  <a:ext uri="{FF2B5EF4-FFF2-40B4-BE49-F238E27FC236}">
                    <a16:creationId xmlns:a16="http://schemas.microsoft.com/office/drawing/2014/main" id="{735312A3-BAB3-DB91-EB35-E997EAC36263}"/>
                  </a:ext>
                </a:extLst>
              </p:cNvPr>
              <p:cNvSpPr/>
              <p:nvPr/>
            </p:nvSpPr>
            <p:spPr>
              <a:xfrm>
                <a:off x="1344168" y="2295144"/>
                <a:ext cx="201168" cy="201168"/>
              </a:xfrm>
              <a:prstGeom prst="ellipse">
                <a:avLst/>
              </a:prstGeom>
              <a:solidFill>
                <a:srgbClr val="E8820A"/>
              </a:solidFill>
              <a:ln w="25400">
                <a:solidFill>
                  <a:srgbClr val="B85E00"/>
                </a:solidFill>
                <a:prstDash val="solid"/>
              </a:ln>
            </p:spPr>
            <p:txBody>
              <a:bodyPr/>
              <a:lstStyle/>
              <a:p>
                <a:endParaRPr lang="en-US"/>
              </a:p>
            </p:txBody>
          </p:sp>
          <p:sp>
            <p:nvSpPr>
              <p:cNvPr id="24" name="Shape 24">
                <a:extLst>
                  <a:ext uri="{FF2B5EF4-FFF2-40B4-BE49-F238E27FC236}">
                    <a16:creationId xmlns:a16="http://schemas.microsoft.com/office/drawing/2014/main" id="{5D8DE04E-7966-3C13-C740-9FE9121E90D8}"/>
                  </a:ext>
                </a:extLst>
              </p:cNvPr>
              <p:cNvSpPr/>
              <p:nvPr/>
            </p:nvSpPr>
            <p:spPr>
              <a:xfrm>
                <a:off x="1746504"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5" name="Shape 25">
                <a:extLst>
                  <a:ext uri="{FF2B5EF4-FFF2-40B4-BE49-F238E27FC236}">
                    <a16:creationId xmlns:a16="http://schemas.microsoft.com/office/drawing/2014/main" id="{10DAB137-04E9-967D-C264-572C00634E66}"/>
                  </a:ext>
                </a:extLst>
              </p:cNvPr>
              <p:cNvSpPr/>
              <p:nvPr/>
            </p:nvSpPr>
            <p:spPr>
              <a:xfrm>
                <a:off x="2148840"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26" name="Shape 26">
                <a:extLst>
                  <a:ext uri="{FF2B5EF4-FFF2-40B4-BE49-F238E27FC236}">
                    <a16:creationId xmlns:a16="http://schemas.microsoft.com/office/drawing/2014/main" id="{66153FAB-88BB-9AE0-A6D0-02671D96C5D4}"/>
                  </a:ext>
                </a:extLst>
              </p:cNvPr>
              <p:cNvSpPr/>
              <p:nvPr/>
            </p:nvSpPr>
            <p:spPr>
              <a:xfrm>
                <a:off x="1444752" y="2496312"/>
                <a:ext cx="0" cy="252000"/>
              </a:xfrm>
              <a:prstGeom prst="line">
                <a:avLst/>
              </a:prstGeom>
              <a:noFill/>
              <a:ln w="19050">
                <a:solidFill>
                  <a:srgbClr val="E8820A"/>
                </a:solidFill>
                <a:prstDash val="solid"/>
              </a:ln>
            </p:spPr>
            <p:txBody>
              <a:bodyPr/>
              <a:lstStyle/>
              <a:p>
                <a:endParaRPr lang="en-US"/>
              </a:p>
            </p:txBody>
          </p:sp>
        </p:grpSp>
        <p:grpSp>
          <p:nvGrpSpPr>
            <p:cNvPr id="2072" name="Group 2071">
              <a:extLst>
                <a:ext uri="{FF2B5EF4-FFF2-40B4-BE49-F238E27FC236}">
                  <a16:creationId xmlns:a16="http://schemas.microsoft.com/office/drawing/2014/main" id="{2DABB814-261C-F776-E62C-30A4BC6E3F9E}"/>
                </a:ext>
              </a:extLst>
            </p:cNvPr>
            <p:cNvGrpSpPr/>
            <p:nvPr/>
          </p:nvGrpSpPr>
          <p:grpSpPr>
            <a:xfrm>
              <a:off x="1799056" y="2685780"/>
              <a:ext cx="914400" cy="292608"/>
              <a:chOff x="1188720" y="3401568"/>
              <a:chExt cx="914400" cy="292608"/>
            </a:xfrm>
          </p:grpSpPr>
          <p:sp>
            <p:nvSpPr>
              <p:cNvPr id="28" name="Shape 28">
                <a:extLst>
                  <a:ext uri="{FF2B5EF4-FFF2-40B4-BE49-F238E27FC236}">
                    <a16:creationId xmlns:a16="http://schemas.microsoft.com/office/drawing/2014/main" id="{5BA64C64-7138-A5AD-F71C-81D2965B1E24}"/>
                  </a:ext>
                </a:extLst>
              </p:cNvPr>
              <p:cNvSpPr/>
              <p:nvPr/>
            </p:nvSpPr>
            <p:spPr>
              <a:xfrm>
                <a:off x="1188720" y="3401568"/>
                <a:ext cx="914400" cy="292608"/>
              </a:xfrm>
              <a:prstGeom prst="rect">
                <a:avLst/>
              </a:prstGeom>
              <a:solidFill>
                <a:srgbClr val="FFFFFF"/>
              </a:solidFill>
              <a:ln w="19050">
                <a:solidFill>
                  <a:srgbClr val="00B050"/>
                </a:solidFill>
                <a:prstDash val="solid"/>
              </a:ln>
              <a:effectLst>
                <a:outerShdw blurRad="63500" dist="25400" dir="8100000" algn="bl" rotWithShape="0">
                  <a:srgbClr val="000000">
                    <a:alpha val="10000"/>
                  </a:srgbClr>
                </a:outerShdw>
              </a:effectLst>
            </p:spPr>
            <p:txBody>
              <a:bodyPr/>
              <a:lstStyle/>
              <a:p>
                <a:endParaRPr lang="en-US"/>
              </a:p>
            </p:txBody>
          </p:sp>
          <p:sp>
            <p:nvSpPr>
              <p:cNvPr id="29" name="Text 29">
                <a:extLst>
                  <a:ext uri="{FF2B5EF4-FFF2-40B4-BE49-F238E27FC236}">
                    <a16:creationId xmlns:a16="http://schemas.microsoft.com/office/drawing/2014/main" id="{3986C7AB-3A9A-62B5-2A66-0B370406620C}"/>
                  </a:ext>
                </a:extLst>
              </p:cNvPr>
              <p:cNvSpPr/>
              <p:nvPr/>
            </p:nvSpPr>
            <p:spPr>
              <a:xfrm>
                <a:off x="1188720" y="3401568"/>
                <a:ext cx="914400" cy="292608"/>
              </a:xfrm>
              <a:prstGeom prst="rect">
                <a:avLst/>
              </a:prstGeom>
              <a:noFill/>
              <a:ln/>
            </p:spPr>
            <p:txBody>
              <a:bodyPr wrap="square" lIns="0" tIns="0" rIns="0" bIns="0" rtlCol="0" anchor="ctr"/>
              <a:lstStyle/>
              <a:p>
                <a:pPr marL="0" indent="0" algn="ctr">
                  <a:buNone/>
                </a:pPr>
                <a:r>
                  <a:rPr lang="en-US" sz="1000" b="1" dirty="0">
                    <a:solidFill>
                      <a:srgbClr val="00B050"/>
                    </a:solidFill>
                    <a:latin typeface="Calibri" pitchFamily="34" charset="0"/>
                    <a:ea typeface="Calibri" pitchFamily="34" charset="-122"/>
                    <a:cs typeface="Calibri" pitchFamily="34" charset="-120"/>
                  </a:rPr>
                  <a:t>Class-A</a:t>
                </a:r>
                <a:endParaRPr lang="en-US" sz="1000" dirty="0">
                  <a:solidFill>
                    <a:srgbClr val="00B050"/>
                  </a:solidFill>
                </a:endParaRPr>
              </a:p>
            </p:txBody>
          </p:sp>
        </p:grpSp>
        <p:sp>
          <p:nvSpPr>
            <p:cNvPr id="30" name="Text 30">
              <a:extLst>
                <a:ext uri="{FF2B5EF4-FFF2-40B4-BE49-F238E27FC236}">
                  <a16:creationId xmlns:a16="http://schemas.microsoft.com/office/drawing/2014/main" id="{014A965D-AA32-974B-9850-E07D3943E027}"/>
                </a:ext>
              </a:extLst>
            </p:cNvPr>
            <p:cNvSpPr/>
            <p:nvPr/>
          </p:nvSpPr>
          <p:spPr>
            <a:xfrm>
              <a:off x="1893126" y="1755108"/>
              <a:ext cx="1097280" cy="201168"/>
            </a:xfrm>
            <a:prstGeom prst="rect">
              <a:avLst/>
            </a:prstGeom>
            <a:noFill/>
            <a:ln/>
          </p:spPr>
          <p:txBody>
            <a:bodyPr wrap="square" lIns="0" tIns="0" rIns="0" bIns="0"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Tree-1</a:t>
              </a:r>
              <a:endParaRPr lang="en-US" sz="950" dirty="0"/>
            </a:p>
          </p:txBody>
        </p:sp>
        <p:grpSp>
          <p:nvGrpSpPr>
            <p:cNvPr id="2068" name="Group 2067">
              <a:extLst>
                <a:ext uri="{FF2B5EF4-FFF2-40B4-BE49-F238E27FC236}">
                  <a16:creationId xmlns:a16="http://schemas.microsoft.com/office/drawing/2014/main" id="{4DB6E04E-A844-757B-7E0F-4A59F1196988}"/>
                </a:ext>
              </a:extLst>
            </p:cNvPr>
            <p:cNvGrpSpPr/>
            <p:nvPr/>
          </p:nvGrpSpPr>
          <p:grpSpPr>
            <a:xfrm>
              <a:off x="3873741" y="1271949"/>
              <a:ext cx="1408176" cy="1404144"/>
              <a:chOff x="3867912" y="1344168"/>
              <a:chExt cx="1408176" cy="1404144"/>
            </a:xfrm>
          </p:grpSpPr>
          <p:sp>
            <p:nvSpPr>
              <p:cNvPr id="31" name="Shape 31">
                <a:extLst>
                  <a:ext uri="{FF2B5EF4-FFF2-40B4-BE49-F238E27FC236}">
                    <a16:creationId xmlns:a16="http://schemas.microsoft.com/office/drawing/2014/main" id="{2E90CA41-06ED-DB63-371F-3E8D985AD7C3}"/>
                  </a:ext>
                </a:extLst>
              </p:cNvPr>
              <p:cNvSpPr/>
              <p:nvPr/>
            </p:nvSpPr>
            <p:spPr>
              <a:xfrm flipH="1">
                <a:off x="4169664" y="1444752"/>
                <a:ext cx="402336" cy="408052"/>
              </a:xfrm>
              <a:prstGeom prst="line">
                <a:avLst/>
              </a:prstGeom>
              <a:noFill/>
              <a:ln w="12700">
                <a:solidFill>
                  <a:srgbClr val="9EAAB8"/>
                </a:solidFill>
                <a:prstDash val="solid"/>
              </a:ln>
            </p:spPr>
            <p:txBody>
              <a:bodyPr/>
              <a:lstStyle/>
              <a:p>
                <a:endParaRPr lang="en-US"/>
              </a:p>
            </p:txBody>
          </p:sp>
          <p:sp>
            <p:nvSpPr>
              <p:cNvPr id="32" name="Shape 32">
                <a:extLst>
                  <a:ext uri="{FF2B5EF4-FFF2-40B4-BE49-F238E27FC236}">
                    <a16:creationId xmlns:a16="http://schemas.microsoft.com/office/drawing/2014/main" id="{1934049D-D64E-8885-B0B6-7408CD0E3164}"/>
                  </a:ext>
                </a:extLst>
              </p:cNvPr>
              <p:cNvSpPr/>
              <p:nvPr/>
            </p:nvSpPr>
            <p:spPr>
              <a:xfrm>
                <a:off x="4572000" y="1444752"/>
                <a:ext cx="402336" cy="475488"/>
              </a:xfrm>
              <a:prstGeom prst="line">
                <a:avLst/>
              </a:prstGeom>
              <a:noFill/>
              <a:ln w="19050">
                <a:solidFill>
                  <a:srgbClr val="E8820A"/>
                </a:solidFill>
                <a:prstDash val="solid"/>
              </a:ln>
            </p:spPr>
            <p:txBody>
              <a:bodyPr/>
              <a:lstStyle/>
              <a:p>
                <a:endParaRPr lang="en-US" dirty="0"/>
              </a:p>
            </p:txBody>
          </p:sp>
          <p:sp>
            <p:nvSpPr>
              <p:cNvPr id="34" name="Shape 33">
                <a:extLst>
                  <a:ext uri="{FF2B5EF4-FFF2-40B4-BE49-F238E27FC236}">
                    <a16:creationId xmlns:a16="http://schemas.microsoft.com/office/drawing/2014/main" id="{FC3DAB67-E464-B1CF-CD11-C682F3F18554}"/>
                  </a:ext>
                </a:extLst>
              </p:cNvPr>
              <p:cNvSpPr/>
              <p:nvPr/>
            </p:nvSpPr>
            <p:spPr>
              <a:xfrm flipH="1">
                <a:off x="3968496" y="1920240"/>
                <a:ext cx="201168" cy="408052"/>
              </a:xfrm>
              <a:prstGeom prst="line">
                <a:avLst/>
              </a:prstGeom>
              <a:noFill/>
              <a:ln w="12700">
                <a:solidFill>
                  <a:srgbClr val="9EAAB8"/>
                </a:solidFill>
                <a:prstDash val="solid"/>
              </a:ln>
            </p:spPr>
            <p:txBody>
              <a:bodyPr/>
              <a:lstStyle/>
              <a:p>
                <a:endParaRPr lang="en-US"/>
              </a:p>
            </p:txBody>
          </p:sp>
          <p:sp>
            <p:nvSpPr>
              <p:cNvPr id="35" name="Shape 34">
                <a:extLst>
                  <a:ext uri="{FF2B5EF4-FFF2-40B4-BE49-F238E27FC236}">
                    <a16:creationId xmlns:a16="http://schemas.microsoft.com/office/drawing/2014/main" id="{94A6C735-A7A2-8CD2-E2EA-E01311B410D4}"/>
                  </a:ext>
                </a:extLst>
              </p:cNvPr>
              <p:cNvSpPr/>
              <p:nvPr/>
            </p:nvSpPr>
            <p:spPr>
              <a:xfrm>
                <a:off x="4169664" y="1920240"/>
                <a:ext cx="201168" cy="475488"/>
              </a:xfrm>
              <a:prstGeom prst="line">
                <a:avLst/>
              </a:prstGeom>
              <a:noFill/>
              <a:ln w="12700">
                <a:solidFill>
                  <a:srgbClr val="9EAAB8"/>
                </a:solidFill>
                <a:prstDash val="solid"/>
              </a:ln>
            </p:spPr>
            <p:txBody>
              <a:bodyPr/>
              <a:lstStyle/>
              <a:p>
                <a:endParaRPr lang="en-US"/>
              </a:p>
            </p:txBody>
          </p:sp>
          <p:sp>
            <p:nvSpPr>
              <p:cNvPr id="36" name="Shape 35">
                <a:extLst>
                  <a:ext uri="{FF2B5EF4-FFF2-40B4-BE49-F238E27FC236}">
                    <a16:creationId xmlns:a16="http://schemas.microsoft.com/office/drawing/2014/main" id="{1B7521D2-0349-39EF-25DF-6C8C57E76ED0}"/>
                  </a:ext>
                </a:extLst>
              </p:cNvPr>
              <p:cNvSpPr/>
              <p:nvPr/>
            </p:nvSpPr>
            <p:spPr>
              <a:xfrm flipH="1">
                <a:off x="4773166" y="1920240"/>
                <a:ext cx="201170" cy="384048"/>
              </a:xfrm>
              <a:prstGeom prst="line">
                <a:avLst/>
              </a:prstGeom>
              <a:noFill/>
              <a:ln w="19050">
                <a:solidFill>
                  <a:srgbClr val="E8820A"/>
                </a:solidFill>
                <a:prstDash val="solid"/>
              </a:ln>
            </p:spPr>
            <p:txBody>
              <a:bodyPr/>
              <a:lstStyle/>
              <a:p>
                <a:endParaRPr lang="en-US"/>
              </a:p>
            </p:txBody>
          </p:sp>
          <p:sp>
            <p:nvSpPr>
              <p:cNvPr id="37" name="Shape 36">
                <a:extLst>
                  <a:ext uri="{FF2B5EF4-FFF2-40B4-BE49-F238E27FC236}">
                    <a16:creationId xmlns:a16="http://schemas.microsoft.com/office/drawing/2014/main" id="{47E3C19A-079A-7705-6D17-6F89A6621F17}"/>
                  </a:ext>
                </a:extLst>
              </p:cNvPr>
              <p:cNvSpPr/>
              <p:nvPr/>
            </p:nvSpPr>
            <p:spPr>
              <a:xfrm>
                <a:off x="4974336" y="1920240"/>
                <a:ext cx="201168" cy="475488"/>
              </a:xfrm>
              <a:prstGeom prst="line">
                <a:avLst/>
              </a:prstGeom>
              <a:noFill/>
              <a:ln w="12700">
                <a:solidFill>
                  <a:srgbClr val="9EAAB8"/>
                </a:solidFill>
                <a:prstDash val="solid"/>
              </a:ln>
            </p:spPr>
            <p:txBody>
              <a:bodyPr/>
              <a:lstStyle/>
              <a:p>
                <a:endParaRPr lang="en-US"/>
              </a:p>
            </p:txBody>
          </p:sp>
          <p:sp>
            <p:nvSpPr>
              <p:cNvPr id="38" name="Shape 37">
                <a:extLst>
                  <a:ext uri="{FF2B5EF4-FFF2-40B4-BE49-F238E27FC236}">
                    <a16:creationId xmlns:a16="http://schemas.microsoft.com/office/drawing/2014/main" id="{4231E6F8-2410-08F8-B50A-D998C2296011}"/>
                  </a:ext>
                </a:extLst>
              </p:cNvPr>
              <p:cNvSpPr/>
              <p:nvPr/>
            </p:nvSpPr>
            <p:spPr>
              <a:xfrm>
                <a:off x="4471416" y="1344168"/>
                <a:ext cx="201168" cy="201168"/>
              </a:xfrm>
              <a:prstGeom prst="ellipse">
                <a:avLst/>
              </a:prstGeom>
              <a:solidFill>
                <a:srgbClr val="E8820A"/>
              </a:solidFill>
              <a:ln w="25400">
                <a:solidFill>
                  <a:srgbClr val="B85E00"/>
                </a:solidFill>
                <a:prstDash val="solid"/>
              </a:ln>
            </p:spPr>
            <p:txBody>
              <a:bodyPr/>
              <a:lstStyle/>
              <a:p>
                <a:endParaRPr lang="en-US"/>
              </a:p>
            </p:txBody>
          </p:sp>
          <p:sp>
            <p:nvSpPr>
              <p:cNvPr id="39" name="Shape 38">
                <a:extLst>
                  <a:ext uri="{FF2B5EF4-FFF2-40B4-BE49-F238E27FC236}">
                    <a16:creationId xmlns:a16="http://schemas.microsoft.com/office/drawing/2014/main" id="{D123A210-F9DB-0FB5-4AAF-AC485C436D55}"/>
                  </a:ext>
                </a:extLst>
              </p:cNvPr>
              <p:cNvSpPr/>
              <p:nvPr/>
            </p:nvSpPr>
            <p:spPr>
              <a:xfrm>
                <a:off x="4069080" y="1819656"/>
                <a:ext cx="201168" cy="201168"/>
              </a:xfrm>
              <a:prstGeom prst="ellipse">
                <a:avLst/>
              </a:prstGeom>
              <a:solidFill>
                <a:srgbClr val="9DC8EE"/>
              </a:solidFill>
              <a:ln w="12700">
                <a:solidFill>
                  <a:srgbClr val="4A88C8"/>
                </a:solidFill>
                <a:prstDash val="solid"/>
              </a:ln>
            </p:spPr>
            <p:txBody>
              <a:bodyPr/>
              <a:lstStyle/>
              <a:p>
                <a:endParaRPr lang="en-US"/>
              </a:p>
            </p:txBody>
          </p:sp>
          <p:sp>
            <p:nvSpPr>
              <p:cNvPr id="40" name="Shape 39">
                <a:extLst>
                  <a:ext uri="{FF2B5EF4-FFF2-40B4-BE49-F238E27FC236}">
                    <a16:creationId xmlns:a16="http://schemas.microsoft.com/office/drawing/2014/main" id="{8908FEC7-A6F0-539E-4CCD-E48E18ABC219}"/>
                  </a:ext>
                </a:extLst>
              </p:cNvPr>
              <p:cNvSpPr/>
              <p:nvPr/>
            </p:nvSpPr>
            <p:spPr>
              <a:xfrm>
                <a:off x="4873752" y="1819656"/>
                <a:ext cx="201168" cy="201168"/>
              </a:xfrm>
              <a:prstGeom prst="ellipse">
                <a:avLst/>
              </a:prstGeom>
              <a:solidFill>
                <a:srgbClr val="E8820A"/>
              </a:solidFill>
              <a:ln w="25400">
                <a:solidFill>
                  <a:srgbClr val="B85E00"/>
                </a:solidFill>
                <a:prstDash val="solid"/>
              </a:ln>
            </p:spPr>
            <p:txBody>
              <a:bodyPr/>
              <a:lstStyle/>
              <a:p>
                <a:endParaRPr lang="en-US"/>
              </a:p>
            </p:txBody>
          </p:sp>
          <p:sp>
            <p:nvSpPr>
              <p:cNvPr id="41" name="Shape 40">
                <a:extLst>
                  <a:ext uri="{FF2B5EF4-FFF2-40B4-BE49-F238E27FC236}">
                    <a16:creationId xmlns:a16="http://schemas.microsoft.com/office/drawing/2014/main" id="{7A057C28-BB26-C5FE-1971-4C4CE26E6F5F}"/>
                  </a:ext>
                </a:extLst>
              </p:cNvPr>
              <p:cNvSpPr/>
              <p:nvPr/>
            </p:nvSpPr>
            <p:spPr>
              <a:xfrm>
                <a:off x="3867912"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42" name="Shape 41">
                <a:extLst>
                  <a:ext uri="{FF2B5EF4-FFF2-40B4-BE49-F238E27FC236}">
                    <a16:creationId xmlns:a16="http://schemas.microsoft.com/office/drawing/2014/main" id="{0E6EC3AA-AB2C-D6FD-A606-1F9C26E8D5F9}"/>
                  </a:ext>
                </a:extLst>
              </p:cNvPr>
              <p:cNvSpPr/>
              <p:nvPr/>
            </p:nvSpPr>
            <p:spPr>
              <a:xfrm>
                <a:off x="4270248"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43" name="Shape 42">
                <a:extLst>
                  <a:ext uri="{FF2B5EF4-FFF2-40B4-BE49-F238E27FC236}">
                    <a16:creationId xmlns:a16="http://schemas.microsoft.com/office/drawing/2014/main" id="{96228A3E-054E-E9AF-1FED-FAD5C196B58D}"/>
                  </a:ext>
                </a:extLst>
              </p:cNvPr>
              <p:cNvSpPr/>
              <p:nvPr/>
            </p:nvSpPr>
            <p:spPr>
              <a:xfrm>
                <a:off x="4672584" y="2295144"/>
                <a:ext cx="201168" cy="201168"/>
              </a:xfrm>
              <a:prstGeom prst="ellipse">
                <a:avLst/>
              </a:prstGeom>
              <a:solidFill>
                <a:srgbClr val="E8820A"/>
              </a:solidFill>
              <a:ln w="25400">
                <a:solidFill>
                  <a:srgbClr val="B85E00"/>
                </a:solidFill>
                <a:prstDash val="solid"/>
              </a:ln>
            </p:spPr>
            <p:txBody>
              <a:bodyPr/>
              <a:lstStyle/>
              <a:p>
                <a:endParaRPr lang="en-US"/>
              </a:p>
            </p:txBody>
          </p:sp>
          <p:sp>
            <p:nvSpPr>
              <p:cNvPr id="44" name="Shape 43">
                <a:extLst>
                  <a:ext uri="{FF2B5EF4-FFF2-40B4-BE49-F238E27FC236}">
                    <a16:creationId xmlns:a16="http://schemas.microsoft.com/office/drawing/2014/main" id="{99FA65DA-B84B-AA4D-6B61-81A636D2747B}"/>
                  </a:ext>
                </a:extLst>
              </p:cNvPr>
              <p:cNvSpPr/>
              <p:nvPr/>
            </p:nvSpPr>
            <p:spPr>
              <a:xfrm>
                <a:off x="5074920"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45" name="Shape 44">
                <a:extLst>
                  <a:ext uri="{FF2B5EF4-FFF2-40B4-BE49-F238E27FC236}">
                    <a16:creationId xmlns:a16="http://schemas.microsoft.com/office/drawing/2014/main" id="{39F7D2DD-B44F-692E-4C1B-1725DEDB2B3A}"/>
                  </a:ext>
                </a:extLst>
              </p:cNvPr>
              <p:cNvSpPr/>
              <p:nvPr/>
            </p:nvSpPr>
            <p:spPr>
              <a:xfrm flipH="1">
                <a:off x="4773166" y="2496312"/>
                <a:ext cx="2" cy="252000"/>
              </a:xfrm>
              <a:prstGeom prst="line">
                <a:avLst/>
              </a:prstGeom>
              <a:noFill/>
              <a:ln w="19050">
                <a:solidFill>
                  <a:srgbClr val="E8820A"/>
                </a:solidFill>
                <a:prstDash val="solid"/>
              </a:ln>
            </p:spPr>
            <p:txBody>
              <a:bodyPr/>
              <a:lstStyle/>
              <a:p>
                <a:endParaRPr lang="en-US"/>
              </a:p>
            </p:txBody>
          </p:sp>
        </p:grpSp>
        <p:grpSp>
          <p:nvGrpSpPr>
            <p:cNvPr id="2073" name="Group 2072">
              <a:extLst>
                <a:ext uri="{FF2B5EF4-FFF2-40B4-BE49-F238E27FC236}">
                  <a16:creationId xmlns:a16="http://schemas.microsoft.com/office/drawing/2014/main" id="{2BD66BF0-B7E1-A5CC-6017-144DCE2D7FA1}"/>
                </a:ext>
              </a:extLst>
            </p:cNvPr>
            <p:cNvGrpSpPr/>
            <p:nvPr/>
          </p:nvGrpSpPr>
          <p:grpSpPr>
            <a:xfrm>
              <a:off x="4321795" y="2676636"/>
              <a:ext cx="914400" cy="292608"/>
              <a:chOff x="4114800" y="3401568"/>
              <a:chExt cx="914400" cy="292608"/>
            </a:xfrm>
          </p:grpSpPr>
          <p:sp>
            <p:nvSpPr>
              <p:cNvPr id="47" name="Shape 46">
                <a:extLst>
                  <a:ext uri="{FF2B5EF4-FFF2-40B4-BE49-F238E27FC236}">
                    <a16:creationId xmlns:a16="http://schemas.microsoft.com/office/drawing/2014/main" id="{0AD29125-77B5-28AB-E633-94E6792932E3}"/>
                  </a:ext>
                </a:extLst>
              </p:cNvPr>
              <p:cNvSpPr/>
              <p:nvPr/>
            </p:nvSpPr>
            <p:spPr>
              <a:xfrm>
                <a:off x="4114800" y="3401568"/>
                <a:ext cx="914400" cy="292608"/>
              </a:xfrm>
              <a:prstGeom prst="rect">
                <a:avLst/>
              </a:prstGeom>
              <a:solidFill>
                <a:srgbClr val="FFFFFF"/>
              </a:solidFill>
              <a:ln w="19050">
                <a:solidFill>
                  <a:srgbClr val="7030A0"/>
                </a:solidFill>
                <a:prstDash val="solid"/>
              </a:ln>
              <a:effectLst>
                <a:outerShdw blurRad="63500" dist="25400" dir="8100000" algn="bl" rotWithShape="0">
                  <a:srgbClr val="000000">
                    <a:alpha val="10000"/>
                  </a:srgbClr>
                </a:outerShdw>
              </a:effectLst>
            </p:spPr>
            <p:txBody>
              <a:bodyPr/>
              <a:lstStyle/>
              <a:p>
                <a:endParaRPr lang="en-US">
                  <a:solidFill>
                    <a:srgbClr val="7030A0"/>
                  </a:solidFill>
                </a:endParaRPr>
              </a:p>
            </p:txBody>
          </p:sp>
          <p:sp>
            <p:nvSpPr>
              <p:cNvPr id="48" name="Text 47">
                <a:extLst>
                  <a:ext uri="{FF2B5EF4-FFF2-40B4-BE49-F238E27FC236}">
                    <a16:creationId xmlns:a16="http://schemas.microsoft.com/office/drawing/2014/main" id="{9360555E-B9B8-15D9-C04E-3D3BF6FFCB00}"/>
                  </a:ext>
                </a:extLst>
              </p:cNvPr>
              <p:cNvSpPr/>
              <p:nvPr/>
            </p:nvSpPr>
            <p:spPr>
              <a:xfrm>
                <a:off x="4114800" y="3401568"/>
                <a:ext cx="914400" cy="292608"/>
              </a:xfrm>
              <a:prstGeom prst="rect">
                <a:avLst/>
              </a:prstGeom>
              <a:noFill/>
              <a:ln>
                <a:solidFill>
                  <a:srgbClr val="7030A0"/>
                </a:solidFill>
              </a:ln>
            </p:spPr>
            <p:txBody>
              <a:bodyPr wrap="square" lIns="0" tIns="0" rIns="0" bIns="0" rtlCol="0" anchor="ctr"/>
              <a:lstStyle/>
              <a:p>
                <a:pPr marL="0" indent="0" algn="ctr">
                  <a:buNone/>
                </a:pPr>
                <a:r>
                  <a:rPr lang="en-US" sz="1000" b="1" dirty="0">
                    <a:solidFill>
                      <a:srgbClr val="7030A0"/>
                    </a:solidFill>
                    <a:latin typeface="Calibri" pitchFamily="34" charset="0"/>
                    <a:ea typeface="Calibri" pitchFamily="34" charset="-122"/>
                    <a:cs typeface="Calibri" pitchFamily="34" charset="-120"/>
                  </a:rPr>
                  <a:t>Class-B</a:t>
                </a:r>
                <a:endParaRPr lang="en-US" sz="1000" dirty="0">
                  <a:solidFill>
                    <a:srgbClr val="7030A0"/>
                  </a:solidFill>
                </a:endParaRPr>
              </a:p>
            </p:txBody>
          </p:sp>
        </p:grpSp>
        <p:sp>
          <p:nvSpPr>
            <p:cNvPr id="49" name="Text 48">
              <a:extLst>
                <a:ext uri="{FF2B5EF4-FFF2-40B4-BE49-F238E27FC236}">
                  <a16:creationId xmlns:a16="http://schemas.microsoft.com/office/drawing/2014/main" id="{32A135AE-3416-E6FB-BAD8-FD809A251A93}"/>
                </a:ext>
              </a:extLst>
            </p:cNvPr>
            <p:cNvSpPr/>
            <p:nvPr/>
          </p:nvSpPr>
          <p:spPr>
            <a:xfrm>
              <a:off x="4015594" y="1755108"/>
              <a:ext cx="1097280" cy="201168"/>
            </a:xfrm>
            <a:prstGeom prst="rect">
              <a:avLst/>
            </a:prstGeom>
            <a:noFill/>
            <a:ln/>
          </p:spPr>
          <p:txBody>
            <a:bodyPr wrap="square" lIns="0" tIns="0" rIns="0" bIns="0"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Tree-2</a:t>
              </a:r>
              <a:endParaRPr lang="en-US" sz="950" dirty="0"/>
            </a:p>
          </p:txBody>
        </p:sp>
        <p:grpSp>
          <p:nvGrpSpPr>
            <p:cNvPr id="2067" name="Group 2066">
              <a:extLst>
                <a:ext uri="{FF2B5EF4-FFF2-40B4-BE49-F238E27FC236}">
                  <a16:creationId xmlns:a16="http://schemas.microsoft.com/office/drawing/2014/main" id="{907A5B87-53EB-38B1-4CC6-92D4BE4C8E13}"/>
                </a:ext>
              </a:extLst>
            </p:cNvPr>
            <p:cNvGrpSpPr/>
            <p:nvPr/>
          </p:nvGrpSpPr>
          <p:grpSpPr>
            <a:xfrm>
              <a:off x="5984036" y="1271949"/>
              <a:ext cx="1408176" cy="1404144"/>
              <a:chOff x="6793992" y="1344168"/>
              <a:chExt cx="1408176" cy="1404144"/>
            </a:xfrm>
          </p:grpSpPr>
          <p:sp>
            <p:nvSpPr>
              <p:cNvPr id="50" name="Shape 49">
                <a:extLst>
                  <a:ext uri="{FF2B5EF4-FFF2-40B4-BE49-F238E27FC236}">
                    <a16:creationId xmlns:a16="http://schemas.microsoft.com/office/drawing/2014/main" id="{567BF53D-9226-BF13-1DF8-3CB58B6788E7}"/>
                  </a:ext>
                </a:extLst>
              </p:cNvPr>
              <p:cNvSpPr/>
              <p:nvPr/>
            </p:nvSpPr>
            <p:spPr>
              <a:xfrm flipH="1">
                <a:off x="7095744" y="1444752"/>
                <a:ext cx="402336" cy="374904"/>
              </a:xfrm>
              <a:prstGeom prst="line">
                <a:avLst/>
              </a:prstGeom>
              <a:noFill/>
              <a:ln w="12700">
                <a:solidFill>
                  <a:srgbClr val="9EAAB8"/>
                </a:solidFill>
                <a:prstDash val="solid"/>
              </a:ln>
            </p:spPr>
            <p:txBody>
              <a:bodyPr/>
              <a:lstStyle/>
              <a:p>
                <a:endParaRPr lang="en-US"/>
              </a:p>
            </p:txBody>
          </p:sp>
          <p:sp>
            <p:nvSpPr>
              <p:cNvPr id="51" name="Shape 50">
                <a:extLst>
                  <a:ext uri="{FF2B5EF4-FFF2-40B4-BE49-F238E27FC236}">
                    <a16:creationId xmlns:a16="http://schemas.microsoft.com/office/drawing/2014/main" id="{A271D6FF-24EB-4C0A-565D-7D04FE84B81D}"/>
                  </a:ext>
                </a:extLst>
              </p:cNvPr>
              <p:cNvSpPr/>
              <p:nvPr/>
            </p:nvSpPr>
            <p:spPr>
              <a:xfrm>
                <a:off x="7498080" y="1444752"/>
                <a:ext cx="402336" cy="475488"/>
              </a:xfrm>
              <a:prstGeom prst="line">
                <a:avLst/>
              </a:prstGeom>
              <a:noFill/>
              <a:ln w="19050">
                <a:solidFill>
                  <a:srgbClr val="E8820A"/>
                </a:solidFill>
                <a:prstDash val="solid"/>
              </a:ln>
            </p:spPr>
            <p:txBody>
              <a:bodyPr/>
              <a:lstStyle/>
              <a:p>
                <a:endParaRPr lang="en-US"/>
              </a:p>
            </p:txBody>
          </p:sp>
          <p:sp>
            <p:nvSpPr>
              <p:cNvPr id="52" name="Shape 51">
                <a:extLst>
                  <a:ext uri="{FF2B5EF4-FFF2-40B4-BE49-F238E27FC236}">
                    <a16:creationId xmlns:a16="http://schemas.microsoft.com/office/drawing/2014/main" id="{CC8BFCFF-4D8B-8A1F-DB47-DF1671E51953}"/>
                  </a:ext>
                </a:extLst>
              </p:cNvPr>
              <p:cNvSpPr/>
              <p:nvPr/>
            </p:nvSpPr>
            <p:spPr>
              <a:xfrm flipH="1">
                <a:off x="6894576" y="1920240"/>
                <a:ext cx="201168" cy="374904"/>
              </a:xfrm>
              <a:prstGeom prst="line">
                <a:avLst/>
              </a:prstGeom>
              <a:noFill/>
              <a:ln w="12700">
                <a:solidFill>
                  <a:srgbClr val="9EAAB8"/>
                </a:solidFill>
                <a:prstDash val="solid"/>
              </a:ln>
            </p:spPr>
            <p:txBody>
              <a:bodyPr/>
              <a:lstStyle/>
              <a:p>
                <a:endParaRPr lang="en-US"/>
              </a:p>
            </p:txBody>
          </p:sp>
          <p:sp>
            <p:nvSpPr>
              <p:cNvPr id="53" name="Shape 52">
                <a:extLst>
                  <a:ext uri="{FF2B5EF4-FFF2-40B4-BE49-F238E27FC236}">
                    <a16:creationId xmlns:a16="http://schemas.microsoft.com/office/drawing/2014/main" id="{3CA73B15-62AC-5D7B-A56A-A631703B3465}"/>
                  </a:ext>
                </a:extLst>
              </p:cNvPr>
              <p:cNvSpPr/>
              <p:nvPr/>
            </p:nvSpPr>
            <p:spPr>
              <a:xfrm>
                <a:off x="7095744" y="1920240"/>
                <a:ext cx="201168" cy="475488"/>
              </a:xfrm>
              <a:prstGeom prst="line">
                <a:avLst/>
              </a:prstGeom>
              <a:noFill/>
              <a:ln w="12700">
                <a:solidFill>
                  <a:srgbClr val="9EAAB8"/>
                </a:solidFill>
                <a:prstDash val="solid"/>
              </a:ln>
            </p:spPr>
            <p:txBody>
              <a:bodyPr/>
              <a:lstStyle/>
              <a:p>
                <a:endParaRPr lang="en-US"/>
              </a:p>
            </p:txBody>
          </p:sp>
          <p:sp>
            <p:nvSpPr>
              <p:cNvPr id="54" name="Shape 53">
                <a:extLst>
                  <a:ext uri="{FF2B5EF4-FFF2-40B4-BE49-F238E27FC236}">
                    <a16:creationId xmlns:a16="http://schemas.microsoft.com/office/drawing/2014/main" id="{4AD14264-4F07-9016-8250-242680B4FFA2}"/>
                  </a:ext>
                </a:extLst>
              </p:cNvPr>
              <p:cNvSpPr/>
              <p:nvPr/>
            </p:nvSpPr>
            <p:spPr>
              <a:xfrm flipH="1">
                <a:off x="7699248" y="1920240"/>
                <a:ext cx="201168" cy="384048"/>
              </a:xfrm>
              <a:prstGeom prst="line">
                <a:avLst/>
              </a:prstGeom>
              <a:noFill/>
              <a:ln w="12700">
                <a:solidFill>
                  <a:srgbClr val="9EAAB8"/>
                </a:solidFill>
                <a:prstDash val="solid"/>
              </a:ln>
            </p:spPr>
            <p:txBody>
              <a:bodyPr/>
              <a:lstStyle/>
              <a:p>
                <a:endParaRPr lang="en-US"/>
              </a:p>
            </p:txBody>
          </p:sp>
          <p:sp>
            <p:nvSpPr>
              <p:cNvPr id="55" name="Shape 54">
                <a:extLst>
                  <a:ext uri="{FF2B5EF4-FFF2-40B4-BE49-F238E27FC236}">
                    <a16:creationId xmlns:a16="http://schemas.microsoft.com/office/drawing/2014/main" id="{8E2FBDBE-5315-BEE3-D033-9A0909F8DB1B}"/>
                  </a:ext>
                </a:extLst>
              </p:cNvPr>
              <p:cNvSpPr/>
              <p:nvPr/>
            </p:nvSpPr>
            <p:spPr>
              <a:xfrm>
                <a:off x="7900416" y="1920240"/>
                <a:ext cx="201168" cy="475488"/>
              </a:xfrm>
              <a:prstGeom prst="line">
                <a:avLst/>
              </a:prstGeom>
              <a:noFill/>
              <a:ln w="19050">
                <a:solidFill>
                  <a:srgbClr val="E8820A"/>
                </a:solidFill>
                <a:prstDash val="solid"/>
              </a:ln>
            </p:spPr>
            <p:txBody>
              <a:bodyPr/>
              <a:lstStyle/>
              <a:p>
                <a:endParaRPr lang="en-US"/>
              </a:p>
            </p:txBody>
          </p:sp>
          <p:sp>
            <p:nvSpPr>
              <p:cNvPr id="56" name="Shape 55">
                <a:extLst>
                  <a:ext uri="{FF2B5EF4-FFF2-40B4-BE49-F238E27FC236}">
                    <a16:creationId xmlns:a16="http://schemas.microsoft.com/office/drawing/2014/main" id="{D6BE359F-0B92-77DD-6D86-A9E9C8574A85}"/>
                  </a:ext>
                </a:extLst>
              </p:cNvPr>
              <p:cNvSpPr/>
              <p:nvPr/>
            </p:nvSpPr>
            <p:spPr>
              <a:xfrm>
                <a:off x="7397496" y="1344168"/>
                <a:ext cx="201168" cy="201168"/>
              </a:xfrm>
              <a:prstGeom prst="ellipse">
                <a:avLst/>
              </a:prstGeom>
              <a:solidFill>
                <a:srgbClr val="E8820A"/>
              </a:solidFill>
              <a:ln w="25400">
                <a:solidFill>
                  <a:srgbClr val="B85E00"/>
                </a:solidFill>
                <a:prstDash val="solid"/>
              </a:ln>
            </p:spPr>
            <p:txBody>
              <a:bodyPr/>
              <a:lstStyle/>
              <a:p>
                <a:endParaRPr lang="en-US"/>
              </a:p>
            </p:txBody>
          </p:sp>
          <p:sp>
            <p:nvSpPr>
              <p:cNvPr id="57" name="Shape 56">
                <a:extLst>
                  <a:ext uri="{FF2B5EF4-FFF2-40B4-BE49-F238E27FC236}">
                    <a16:creationId xmlns:a16="http://schemas.microsoft.com/office/drawing/2014/main" id="{53A1F026-B8DA-9FCD-D131-18B5BCFE9B2B}"/>
                  </a:ext>
                </a:extLst>
              </p:cNvPr>
              <p:cNvSpPr/>
              <p:nvPr/>
            </p:nvSpPr>
            <p:spPr>
              <a:xfrm>
                <a:off x="6995160" y="1819656"/>
                <a:ext cx="201168" cy="201168"/>
              </a:xfrm>
              <a:prstGeom prst="ellipse">
                <a:avLst/>
              </a:prstGeom>
              <a:solidFill>
                <a:srgbClr val="9DC8EE"/>
              </a:solidFill>
              <a:ln w="12700">
                <a:solidFill>
                  <a:srgbClr val="4A88C8"/>
                </a:solidFill>
                <a:prstDash val="solid"/>
              </a:ln>
            </p:spPr>
            <p:txBody>
              <a:bodyPr/>
              <a:lstStyle/>
              <a:p>
                <a:endParaRPr lang="en-US"/>
              </a:p>
            </p:txBody>
          </p:sp>
          <p:sp>
            <p:nvSpPr>
              <p:cNvPr id="58" name="Shape 57">
                <a:extLst>
                  <a:ext uri="{FF2B5EF4-FFF2-40B4-BE49-F238E27FC236}">
                    <a16:creationId xmlns:a16="http://schemas.microsoft.com/office/drawing/2014/main" id="{2A4D9B6F-3313-73B9-555F-AF378D48511C}"/>
                  </a:ext>
                </a:extLst>
              </p:cNvPr>
              <p:cNvSpPr/>
              <p:nvPr/>
            </p:nvSpPr>
            <p:spPr>
              <a:xfrm>
                <a:off x="7799832" y="1819656"/>
                <a:ext cx="201168" cy="201168"/>
              </a:xfrm>
              <a:prstGeom prst="ellipse">
                <a:avLst/>
              </a:prstGeom>
              <a:solidFill>
                <a:srgbClr val="E8820A"/>
              </a:solidFill>
              <a:ln w="25400">
                <a:solidFill>
                  <a:srgbClr val="B85E00"/>
                </a:solidFill>
                <a:prstDash val="solid"/>
              </a:ln>
            </p:spPr>
            <p:txBody>
              <a:bodyPr/>
              <a:lstStyle/>
              <a:p>
                <a:endParaRPr lang="en-US"/>
              </a:p>
            </p:txBody>
          </p:sp>
          <p:sp>
            <p:nvSpPr>
              <p:cNvPr id="59" name="Shape 58">
                <a:extLst>
                  <a:ext uri="{FF2B5EF4-FFF2-40B4-BE49-F238E27FC236}">
                    <a16:creationId xmlns:a16="http://schemas.microsoft.com/office/drawing/2014/main" id="{92BC2141-F5DE-4A0A-84A7-E01D0A54FE3D}"/>
                  </a:ext>
                </a:extLst>
              </p:cNvPr>
              <p:cNvSpPr/>
              <p:nvPr/>
            </p:nvSpPr>
            <p:spPr>
              <a:xfrm>
                <a:off x="6793992"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60" name="Shape 59">
                <a:extLst>
                  <a:ext uri="{FF2B5EF4-FFF2-40B4-BE49-F238E27FC236}">
                    <a16:creationId xmlns:a16="http://schemas.microsoft.com/office/drawing/2014/main" id="{D3288DB8-2960-FFF3-3F80-EFB3BBEA694D}"/>
                  </a:ext>
                </a:extLst>
              </p:cNvPr>
              <p:cNvSpPr/>
              <p:nvPr/>
            </p:nvSpPr>
            <p:spPr>
              <a:xfrm>
                <a:off x="7196328"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61" name="Shape 60">
                <a:extLst>
                  <a:ext uri="{FF2B5EF4-FFF2-40B4-BE49-F238E27FC236}">
                    <a16:creationId xmlns:a16="http://schemas.microsoft.com/office/drawing/2014/main" id="{6C806920-7BA3-2F26-05C5-69A538AE2D96}"/>
                  </a:ext>
                </a:extLst>
              </p:cNvPr>
              <p:cNvSpPr/>
              <p:nvPr/>
            </p:nvSpPr>
            <p:spPr>
              <a:xfrm>
                <a:off x="7598664" y="2295144"/>
                <a:ext cx="201168" cy="201168"/>
              </a:xfrm>
              <a:prstGeom prst="ellipse">
                <a:avLst/>
              </a:prstGeom>
              <a:solidFill>
                <a:srgbClr val="5FA8DC"/>
              </a:solidFill>
              <a:ln w="12700">
                <a:solidFill>
                  <a:srgbClr val="4A88C8"/>
                </a:solidFill>
                <a:prstDash val="solid"/>
              </a:ln>
            </p:spPr>
            <p:txBody>
              <a:bodyPr/>
              <a:lstStyle/>
              <a:p>
                <a:endParaRPr lang="en-US"/>
              </a:p>
            </p:txBody>
          </p:sp>
          <p:sp>
            <p:nvSpPr>
              <p:cNvPr id="62" name="Shape 61">
                <a:extLst>
                  <a:ext uri="{FF2B5EF4-FFF2-40B4-BE49-F238E27FC236}">
                    <a16:creationId xmlns:a16="http://schemas.microsoft.com/office/drawing/2014/main" id="{1727BE15-B809-A461-ECF0-0CFADBDAC9E4}"/>
                  </a:ext>
                </a:extLst>
              </p:cNvPr>
              <p:cNvSpPr/>
              <p:nvPr/>
            </p:nvSpPr>
            <p:spPr>
              <a:xfrm>
                <a:off x="8001000" y="2295144"/>
                <a:ext cx="201168" cy="201168"/>
              </a:xfrm>
              <a:prstGeom prst="ellipse">
                <a:avLst/>
              </a:prstGeom>
              <a:solidFill>
                <a:srgbClr val="E8820A"/>
              </a:solidFill>
              <a:ln w="25400">
                <a:solidFill>
                  <a:srgbClr val="B85E00"/>
                </a:solidFill>
                <a:prstDash val="solid"/>
              </a:ln>
            </p:spPr>
            <p:txBody>
              <a:bodyPr/>
              <a:lstStyle/>
              <a:p>
                <a:endParaRPr lang="en-US"/>
              </a:p>
            </p:txBody>
          </p:sp>
          <p:sp>
            <p:nvSpPr>
              <p:cNvPr id="63" name="Shape 62">
                <a:extLst>
                  <a:ext uri="{FF2B5EF4-FFF2-40B4-BE49-F238E27FC236}">
                    <a16:creationId xmlns:a16="http://schemas.microsoft.com/office/drawing/2014/main" id="{A842D0C3-3710-A70B-B0B7-AD882B716C26}"/>
                  </a:ext>
                </a:extLst>
              </p:cNvPr>
              <p:cNvSpPr/>
              <p:nvPr/>
            </p:nvSpPr>
            <p:spPr>
              <a:xfrm>
                <a:off x="8101584" y="2496312"/>
                <a:ext cx="0" cy="252000"/>
              </a:xfrm>
              <a:prstGeom prst="line">
                <a:avLst/>
              </a:prstGeom>
              <a:noFill/>
              <a:ln w="19050">
                <a:solidFill>
                  <a:srgbClr val="E8820A"/>
                </a:solidFill>
                <a:prstDash val="solid"/>
              </a:ln>
            </p:spPr>
            <p:txBody>
              <a:bodyPr/>
              <a:lstStyle/>
              <a:p>
                <a:endParaRPr lang="en-US"/>
              </a:p>
            </p:txBody>
          </p:sp>
        </p:grpSp>
        <p:sp>
          <p:nvSpPr>
            <p:cNvPr id="2051" name="Text 66">
              <a:extLst>
                <a:ext uri="{FF2B5EF4-FFF2-40B4-BE49-F238E27FC236}">
                  <a16:creationId xmlns:a16="http://schemas.microsoft.com/office/drawing/2014/main" id="{EBD94929-5C4B-A50B-8586-B235F1F4FA34}"/>
                </a:ext>
              </a:extLst>
            </p:cNvPr>
            <p:cNvSpPr/>
            <p:nvPr/>
          </p:nvSpPr>
          <p:spPr>
            <a:xfrm>
              <a:off x="6147912" y="1742865"/>
              <a:ext cx="1097280" cy="201168"/>
            </a:xfrm>
            <a:prstGeom prst="rect">
              <a:avLst/>
            </a:prstGeom>
            <a:noFill/>
            <a:ln/>
          </p:spPr>
          <p:txBody>
            <a:bodyPr wrap="square" lIns="0" tIns="0" rIns="0" bIns="0" rtlCol="0" anchor="ctr"/>
            <a:lstStyle/>
            <a:p>
              <a:pPr marL="0" indent="0" algn="ctr">
                <a:buNone/>
              </a:pPr>
              <a:r>
                <a:rPr lang="en-US" sz="950" dirty="0">
                  <a:solidFill>
                    <a:srgbClr val="5A6A7A"/>
                  </a:solidFill>
                  <a:latin typeface="Calibri" pitchFamily="34" charset="0"/>
                  <a:ea typeface="Calibri" pitchFamily="34" charset="-122"/>
                  <a:cs typeface="Calibri" pitchFamily="34" charset="-120"/>
                </a:rPr>
                <a:t>Tree-n</a:t>
              </a:r>
              <a:endParaRPr lang="en-US" sz="950" dirty="0"/>
            </a:p>
          </p:txBody>
        </p:sp>
        <p:sp>
          <p:nvSpPr>
            <p:cNvPr id="2052" name="Text 67">
              <a:extLst>
                <a:ext uri="{FF2B5EF4-FFF2-40B4-BE49-F238E27FC236}">
                  <a16:creationId xmlns:a16="http://schemas.microsoft.com/office/drawing/2014/main" id="{597F77BB-4177-5E7A-AAB5-7542AF408390}"/>
                </a:ext>
              </a:extLst>
            </p:cNvPr>
            <p:cNvSpPr/>
            <p:nvPr/>
          </p:nvSpPr>
          <p:spPr>
            <a:xfrm>
              <a:off x="5264105" y="1679087"/>
              <a:ext cx="640080" cy="219456"/>
            </a:xfrm>
            <a:prstGeom prst="rect">
              <a:avLst/>
            </a:prstGeom>
            <a:noFill/>
            <a:ln/>
          </p:spPr>
          <p:txBody>
            <a:bodyPr wrap="square" lIns="0" tIns="0" rIns="0" bIns="0" rtlCol="0" anchor="ctr"/>
            <a:lstStyle/>
            <a:p>
              <a:pPr marL="0" indent="0" algn="ctr">
                <a:buNone/>
              </a:pPr>
              <a:r>
                <a:rPr lang="en-US" sz="1600" b="1" dirty="0">
                  <a:solidFill>
                    <a:srgbClr val="BBBBBB"/>
                  </a:solidFill>
                  <a:latin typeface="Calibri" pitchFamily="34" charset="0"/>
                  <a:ea typeface="Calibri" pitchFamily="34" charset="-122"/>
                  <a:cs typeface="Calibri" pitchFamily="34" charset="-120"/>
                </a:rPr>
                <a:t>· · ·</a:t>
              </a:r>
              <a:endParaRPr lang="en-US" sz="1600" dirty="0"/>
            </a:p>
          </p:txBody>
        </p:sp>
        <p:sp>
          <p:nvSpPr>
            <p:cNvPr id="2054" name="Shape 69">
              <a:extLst>
                <a:ext uri="{FF2B5EF4-FFF2-40B4-BE49-F238E27FC236}">
                  <a16:creationId xmlns:a16="http://schemas.microsoft.com/office/drawing/2014/main" id="{47B9C053-1D64-34AF-5AEA-CFD97F3004F0}"/>
                </a:ext>
              </a:extLst>
            </p:cNvPr>
            <p:cNvSpPr/>
            <p:nvPr/>
          </p:nvSpPr>
          <p:spPr>
            <a:xfrm>
              <a:off x="4778995" y="2978388"/>
              <a:ext cx="0" cy="283464"/>
            </a:xfrm>
            <a:prstGeom prst="line">
              <a:avLst/>
            </a:prstGeom>
            <a:noFill/>
            <a:ln w="19050">
              <a:solidFill>
                <a:srgbClr val="9EAAB8"/>
              </a:solidFill>
              <a:prstDash val="solid"/>
            </a:ln>
          </p:spPr>
          <p:txBody>
            <a:bodyPr/>
            <a:lstStyle/>
            <a:p>
              <a:endParaRPr lang="en-US"/>
            </a:p>
          </p:txBody>
        </p:sp>
        <p:sp>
          <p:nvSpPr>
            <p:cNvPr id="2055" name="Shape 70">
              <a:extLst>
                <a:ext uri="{FF2B5EF4-FFF2-40B4-BE49-F238E27FC236}">
                  <a16:creationId xmlns:a16="http://schemas.microsoft.com/office/drawing/2014/main" id="{CF6BBAE9-91F4-2CEF-82E7-7416D600CF23}"/>
                </a:ext>
              </a:extLst>
            </p:cNvPr>
            <p:cNvSpPr/>
            <p:nvPr/>
          </p:nvSpPr>
          <p:spPr>
            <a:xfrm>
              <a:off x="7295832" y="2965972"/>
              <a:ext cx="0" cy="283464"/>
            </a:xfrm>
            <a:prstGeom prst="line">
              <a:avLst/>
            </a:prstGeom>
            <a:noFill/>
            <a:ln w="19050">
              <a:solidFill>
                <a:srgbClr val="9EAAB8"/>
              </a:solidFill>
              <a:prstDash val="solid"/>
            </a:ln>
          </p:spPr>
          <p:txBody>
            <a:bodyPr/>
            <a:lstStyle/>
            <a:p>
              <a:endParaRPr lang="en-US"/>
            </a:p>
          </p:txBody>
        </p:sp>
        <p:grpSp>
          <p:nvGrpSpPr>
            <p:cNvPr id="2078" name="Group 2077">
              <a:extLst>
                <a:ext uri="{FF2B5EF4-FFF2-40B4-BE49-F238E27FC236}">
                  <a16:creationId xmlns:a16="http://schemas.microsoft.com/office/drawing/2014/main" id="{67671DBE-98AF-1446-9DE5-3A11C9B9E5A8}"/>
                </a:ext>
              </a:extLst>
            </p:cNvPr>
            <p:cNvGrpSpPr/>
            <p:nvPr/>
          </p:nvGrpSpPr>
          <p:grpSpPr>
            <a:xfrm>
              <a:off x="1779140" y="3187129"/>
              <a:ext cx="5969686" cy="598486"/>
              <a:chOff x="2651760" y="3977640"/>
              <a:chExt cx="3840480" cy="457200"/>
            </a:xfrm>
          </p:grpSpPr>
          <p:sp>
            <p:nvSpPr>
              <p:cNvPr id="2056" name="Shape 71">
                <a:extLst>
                  <a:ext uri="{FF2B5EF4-FFF2-40B4-BE49-F238E27FC236}">
                    <a16:creationId xmlns:a16="http://schemas.microsoft.com/office/drawing/2014/main" id="{E0595D67-65AA-527E-40CD-5709B6983039}"/>
                  </a:ext>
                </a:extLst>
              </p:cNvPr>
              <p:cNvSpPr/>
              <p:nvPr/>
            </p:nvSpPr>
            <p:spPr>
              <a:xfrm>
                <a:off x="2651760" y="3977640"/>
                <a:ext cx="3840480" cy="457200"/>
              </a:xfrm>
              <a:prstGeom prst="rect">
                <a:avLst/>
              </a:prstGeom>
              <a:solidFill>
                <a:srgbClr val="EBF3FC"/>
              </a:solidFill>
              <a:ln w="25400">
                <a:solidFill>
                  <a:srgbClr val="2980B9"/>
                </a:solidFill>
                <a:prstDash val="solid"/>
              </a:ln>
              <a:effectLst>
                <a:outerShdw blurRad="63500" dist="25400" dir="8100000" algn="bl" rotWithShape="0">
                  <a:srgbClr val="000000">
                    <a:alpha val="10000"/>
                  </a:srgbClr>
                </a:outerShdw>
              </a:effectLst>
            </p:spPr>
            <p:txBody>
              <a:bodyPr/>
              <a:lstStyle/>
              <a:p>
                <a:endParaRPr lang="en-US"/>
              </a:p>
            </p:txBody>
          </p:sp>
          <p:sp>
            <p:nvSpPr>
              <p:cNvPr id="2057" name="Text 72">
                <a:extLst>
                  <a:ext uri="{FF2B5EF4-FFF2-40B4-BE49-F238E27FC236}">
                    <a16:creationId xmlns:a16="http://schemas.microsoft.com/office/drawing/2014/main" id="{C31FE4FF-8CD0-964D-DED5-A3E02EA7DF08}"/>
                  </a:ext>
                </a:extLst>
              </p:cNvPr>
              <p:cNvSpPr/>
              <p:nvPr/>
            </p:nvSpPr>
            <p:spPr>
              <a:xfrm>
                <a:off x="2651760" y="3977640"/>
                <a:ext cx="3840480" cy="457200"/>
              </a:xfrm>
              <a:prstGeom prst="rect">
                <a:avLst/>
              </a:prstGeom>
              <a:noFill/>
              <a:ln/>
            </p:spPr>
            <p:txBody>
              <a:bodyPr wrap="square" lIns="0" tIns="0" rIns="0" bIns="0" rtlCol="0" anchor="ctr"/>
              <a:lstStyle/>
              <a:p>
                <a:pPr marL="0" indent="0" algn="ctr">
                  <a:buNone/>
                </a:pPr>
                <a:r>
                  <a:rPr lang="en-US" sz="1300" b="1" dirty="0">
                    <a:solidFill>
                      <a:srgbClr val="1A5276"/>
                    </a:solidFill>
                    <a:latin typeface="Calibri" pitchFamily="34" charset="0"/>
                    <a:ea typeface="Calibri" pitchFamily="34" charset="-122"/>
                    <a:cs typeface="Calibri" pitchFamily="34" charset="-120"/>
                  </a:rPr>
                  <a:t>Majority-Voting</a:t>
                </a:r>
                <a:endParaRPr lang="en-US" sz="1300" dirty="0"/>
              </a:p>
            </p:txBody>
          </p:sp>
        </p:grpSp>
        <p:sp>
          <p:nvSpPr>
            <p:cNvPr id="2058" name="Shape 73">
              <a:extLst>
                <a:ext uri="{FF2B5EF4-FFF2-40B4-BE49-F238E27FC236}">
                  <a16:creationId xmlns:a16="http://schemas.microsoft.com/office/drawing/2014/main" id="{57407A14-644E-3FD9-3E01-CC113354E5AD}"/>
                </a:ext>
              </a:extLst>
            </p:cNvPr>
            <p:cNvSpPr/>
            <p:nvPr/>
          </p:nvSpPr>
          <p:spPr>
            <a:xfrm>
              <a:off x="4675201" y="3824663"/>
              <a:ext cx="0" cy="219456"/>
            </a:xfrm>
            <a:prstGeom prst="line">
              <a:avLst/>
            </a:prstGeom>
            <a:noFill/>
            <a:ln w="25400">
              <a:solidFill>
                <a:srgbClr val="888888"/>
              </a:solidFill>
              <a:prstDash val="solid"/>
              <a:tailEnd type="arrow"/>
            </a:ln>
          </p:spPr>
          <p:txBody>
            <a:bodyPr/>
            <a:lstStyle/>
            <a:p>
              <a:endParaRPr lang="en-US"/>
            </a:p>
          </p:txBody>
        </p:sp>
        <p:grpSp>
          <p:nvGrpSpPr>
            <p:cNvPr id="2079" name="Group 2078">
              <a:extLst>
                <a:ext uri="{FF2B5EF4-FFF2-40B4-BE49-F238E27FC236}">
                  <a16:creationId xmlns:a16="http://schemas.microsoft.com/office/drawing/2014/main" id="{385ECF6E-86DB-4513-4488-485E172B24EB}"/>
                </a:ext>
              </a:extLst>
            </p:cNvPr>
            <p:cNvGrpSpPr/>
            <p:nvPr/>
          </p:nvGrpSpPr>
          <p:grpSpPr>
            <a:xfrm>
              <a:off x="3291840" y="4044119"/>
              <a:ext cx="2560320" cy="420624"/>
              <a:chOff x="3291840" y="4654296"/>
              <a:chExt cx="2560320" cy="420624"/>
            </a:xfrm>
          </p:grpSpPr>
          <p:sp>
            <p:nvSpPr>
              <p:cNvPr id="2059" name="Shape 74">
                <a:extLst>
                  <a:ext uri="{FF2B5EF4-FFF2-40B4-BE49-F238E27FC236}">
                    <a16:creationId xmlns:a16="http://schemas.microsoft.com/office/drawing/2014/main" id="{85233BC9-14D0-5305-B4F6-EB706BA4C384}"/>
                  </a:ext>
                </a:extLst>
              </p:cNvPr>
              <p:cNvSpPr/>
              <p:nvPr/>
            </p:nvSpPr>
            <p:spPr>
              <a:xfrm>
                <a:off x="3291840" y="4654296"/>
                <a:ext cx="2560320" cy="420624"/>
              </a:xfrm>
              <a:prstGeom prst="rect">
                <a:avLst/>
              </a:prstGeom>
              <a:solidFill>
                <a:srgbClr val="1B3869"/>
              </a:solidFill>
              <a:ln w="12700">
                <a:solidFill>
                  <a:srgbClr val="1B3869"/>
                </a:solidFill>
                <a:prstDash val="solid"/>
              </a:ln>
              <a:effectLst>
                <a:outerShdw blurRad="63500" dist="25400" dir="8100000" algn="bl" rotWithShape="0">
                  <a:srgbClr val="000000">
                    <a:alpha val="10000"/>
                  </a:srgbClr>
                </a:outerShdw>
              </a:effectLst>
            </p:spPr>
            <p:txBody>
              <a:bodyPr/>
              <a:lstStyle/>
              <a:p>
                <a:endParaRPr lang="en-US"/>
              </a:p>
            </p:txBody>
          </p:sp>
          <p:sp>
            <p:nvSpPr>
              <p:cNvPr id="2060" name="Text 75">
                <a:extLst>
                  <a:ext uri="{FF2B5EF4-FFF2-40B4-BE49-F238E27FC236}">
                    <a16:creationId xmlns:a16="http://schemas.microsoft.com/office/drawing/2014/main" id="{A506080D-3E7E-D012-0B4E-3E610A7F7F2D}"/>
                  </a:ext>
                </a:extLst>
              </p:cNvPr>
              <p:cNvSpPr/>
              <p:nvPr/>
            </p:nvSpPr>
            <p:spPr>
              <a:xfrm>
                <a:off x="3291840" y="4654296"/>
                <a:ext cx="2560320"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Final-Class  →  Class-B</a:t>
                </a:r>
                <a:endParaRPr lang="en-US" sz="1300" dirty="0"/>
              </a:p>
            </p:txBody>
          </p:sp>
        </p:grpSp>
        <p:sp>
          <p:nvSpPr>
            <p:cNvPr id="2071" name="Shape 10">
              <a:extLst>
                <a:ext uri="{FF2B5EF4-FFF2-40B4-BE49-F238E27FC236}">
                  <a16:creationId xmlns:a16="http://schemas.microsoft.com/office/drawing/2014/main" id="{E1E527C4-A08E-2B31-AA89-A569D4A7ADDE}"/>
                </a:ext>
              </a:extLst>
            </p:cNvPr>
            <p:cNvSpPr/>
            <p:nvPr/>
          </p:nvSpPr>
          <p:spPr>
            <a:xfrm>
              <a:off x="4572000" y="953611"/>
              <a:ext cx="0" cy="300049"/>
            </a:xfrm>
            <a:prstGeom prst="line">
              <a:avLst/>
            </a:prstGeom>
            <a:noFill/>
            <a:ln w="19050">
              <a:solidFill>
                <a:srgbClr val="9EAAB8"/>
              </a:solidFill>
              <a:prstDash val="solid"/>
            </a:ln>
          </p:spPr>
          <p:txBody>
            <a:bodyPr/>
            <a:lstStyle/>
            <a:p>
              <a:endParaRPr lang="en-US"/>
            </a:p>
          </p:txBody>
        </p:sp>
        <p:grpSp>
          <p:nvGrpSpPr>
            <p:cNvPr id="2074" name="Group 2073">
              <a:extLst>
                <a:ext uri="{FF2B5EF4-FFF2-40B4-BE49-F238E27FC236}">
                  <a16:creationId xmlns:a16="http://schemas.microsoft.com/office/drawing/2014/main" id="{2E89C889-91BF-D524-7734-5C4A7B214B8E}"/>
                </a:ext>
              </a:extLst>
            </p:cNvPr>
            <p:cNvGrpSpPr/>
            <p:nvPr/>
          </p:nvGrpSpPr>
          <p:grpSpPr>
            <a:xfrm>
              <a:off x="6834428" y="2673364"/>
              <a:ext cx="914400" cy="292608"/>
              <a:chOff x="4114800" y="3401568"/>
              <a:chExt cx="914400" cy="292608"/>
            </a:xfrm>
          </p:grpSpPr>
          <p:sp>
            <p:nvSpPr>
              <p:cNvPr id="2075" name="Shape 46">
                <a:extLst>
                  <a:ext uri="{FF2B5EF4-FFF2-40B4-BE49-F238E27FC236}">
                    <a16:creationId xmlns:a16="http://schemas.microsoft.com/office/drawing/2014/main" id="{14A53EAA-0070-D4BA-1E0B-C9A9BD781B3B}"/>
                  </a:ext>
                </a:extLst>
              </p:cNvPr>
              <p:cNvSpPr/>
              <p:nvPr/>
            </p:nvSpPr>
            <p:spPr>
              <a:xfrm>
                <a:off x="4114800" y="3401568"/>
                <a:ext cx="914400" cy="292608"/>
              </a:xfrm>
              <a:prstGeom prst="rect">
                <a:avLst/>
              </a:prstGeom>
              <a:solidFill>
                <a:srgbClr val="FFFFFF"/>
              </a:solidFill>
              <a:ln w="19050">
                <a:solidFill>
                  <a:srgbClr val="7030A0"/>
                </a:solidFill>
                <a:prstDash val="solid"/>
              </a:ln>
              <a:effectLst>
                <a:outerShdw blurRad="63500" dist="25400" dir="8100000" algn="bl" rotWithShape="0">
                  <a:srgbClr val="000000">
                    <a:alpha val="10000"/>
                  </a:srgbClr>
                </a:outerShdw>
              </a:effectLst>
            </p:spPr>
            <p:txBody>
              <a:bodyPr/>
              <a:lstStyle/>
              <a:p>
                <a:endParaRPr lang="en-US">
                  <a:solidFill>
                    <a:srgbClr val="7030A0"/>
                  </a:solidFill>
                </a:endParaRPr>
              </a:p>
            </p:txBody>
          </p:sp>
          <p:sp>
            <p:nvSpPr>
              <p:cNvPr id="2076" name="Text 47">
                <a:extLst>
                  <a:ext uri="{FF2B5EF4-FFF2-40B4-BE49-F238E27FC236}">
                    <a16:creationId xmlns:a16="http://schemas.microsoft.com/office/drawing/2014/main" id="{DA754E03-324C-8240-3FDC-A1F9896780A4}"/>
                  </a:ext>
                </a:extLst>
              </p:cNvPr>
              <p:cNvSpPr/>
              <p:nvPr/>
            </p:nvSpPr>
            <p:spPr>
              <a:xfrm>
                <a:off x="4114800" y="3401568"/>
                <a:ext cx="914400" cy="292608"/>
              </a:xfrm>
              <a:prstGeom prst="rect">
                <a:avLst/>
              </a:prstGeom>
              <a:noFill/>
              <a:ln>
                <a:solidFill>
                  <a:srgbClr val="7030A0"/>
                </a:solidFill>
              </a:ln>
            </p:spPr>
            <p:txBody>
              <a:bodyPr wrap="square" lIns="0" tIns="0" rIns="0" bIns="0" rtlCol="0" anchor="ctr"/>
              <a:lstStyle/>
              <a:p>
                <a:pPr marL="0" indent="0" algn="ctr">
                  <a:buNone/>
                </a:pPr>
                <a:r>
                  <a:rPr lang="en-US" sz="1000" b="1" dirty="0">
                    <a:solidFill>
                      <a:srgbClr val="7030A0"/>
                    </a:solidFill>
                    <a:latin typeface="Calibri" pitchFamily="34" charset="0"/>
                    <a:ea typeface="Calibri" pitchFamily="34" charset="-122"/>
                    <a:cs typeface="Calibri" pitchFamily="34" charset="-120"/>
                  </a:rPr>
                  <a:t>Class-B</a:t>
                </a:r>
                <a:endParaRPr lang="en-US" sz="1000" dirty="0">
                  <a:solidFill>
                    <a:srgbClr val="7030A0"/>
                  </a:solidFill>
                </a:endParaRPr>
              </a:p>
            </p:txBody>
          </p:sp>
        </p:grpSp>
        <p:sp>
          <p:nvSpPr>
            <p:cNvPr id="2077" name="Shape 70">
              <a:extLst>
                <a:ext uri="{FF2B5EF4-FFF2-40B4-BE49-F238E27FC236}">
                  <a16:creationId xmlns:a16="http://schemas.microsoft.com/office/drawing/2014/main" id="{CB28A3F0-084D-9B25-2F4E-EF04945E2A09}"/>
                </a:ext>
              </a:extLst>
            </p:cNvPr>
            <p:cNvSpPr/>
            <p:nvPr/>
          </p:nvSpPr>
          <p:spPr>
            <a:xfrm>
              <a:off x="2256256" y="2978388"/>
              <a:ext cx="0" cy="283464"/>
            </a:xfrm>
            <a:prstGeom prst="line">
              <a:avLst/>
            </a:prstGeom>
            <a:noFill/>
            <a:ln w="19050">
              <a:solidFill>
                <a:srgbClr val="9EAAB8"/>
              </a:solidFill>
              <a:prstDash val="solid"/>
            </a:ln>
          </p:spPr>
          <p:txBody>
            <a:bodyPr/>
            <a:lstStyle/>
            <a:p>
              <a:endParaRPr lang="en-US"/>
            </a:p>
          </p:txBody>
        </p:sp>
      </p:grpSp>
    </p:spTree>
    <p:extLst>
      <p:ext uri="{BB962C8B-B14F-4D97-AF65-F5344CB8AC3E}">
        <p14:creationId xmlns:p14="http://schemas.microsoft.com/office/powerpoint/2010/main" val="1661569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a:extLst>
            <a:ext uri="{FF2B5EF4-FFF2-40B4-BE49-F238E27FC236}">
              <a16:creationId xmlns:a16="http://schemas.microsoft.com/office/drawing/2014/main" id="{FFE13931-8FD1-B1E6-4EE8-E1DFDEC7CBCD}"/>
            </a:ext>
          </a:extLst>
        </p:cNvPr>
        <p:cNvGrpSpPr/>
        <p:nvPr/>
      </p:nvGrpSpPr>
      <p:grpSpPr>
        <a:xfrm>
          <a:off x="0" y="0"/>
          <a:ext cx="0" cy="0"/>
          <a:chOff x="0" y="0"/>
          <a:chExt cx="0" cy="0"/>
        </a:xfrm>
      </p:grpSpPr>
      <p:cxnSp>
        <p:nvCxnSpPr>
          <p:cNvPr id="2136" name="Curved Connector 2135">
            <a:extLst>
              <a:ext uri="{FF2B5EF4-FFF2-40B4-BE49-F238E27FC236}">
                <a16:creationId xmlns:a16="http://schemas.microsoft.com/office/drawing/2014/main" id="{39E4B59B-B7DB-8587-57A4-2AD63BA480DC}"/>
              </a:ext>
            </a:extLst>
          </p:cNvPr>
          <p:cNvCxnSpPr>
            <a:cxnSpLocks/>
            <a:stCxn id="2134" idx="3"/>
            <a:endCxn id="40" idx="1"/>
          </p:cNvCxnSpPr>
          <p:nvPr/>
        </p:nvCxnSpPr>
        <p:spPr>
          <a:xfrm flipV="1">
            <a:off x="3700826" y="2647188"/>
            <a:ext cx="256032" cy="1006256"/>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Shape 15">
            <a:extLst>
              <a:ext uri="{FF2B5EF4-FFF2-40B4-BE49-F238E27FC236}">
                <a16:creationId xmlns:a16="http://schemas.microsoft.com/office/drawing/2014/main" id="{D0D2B300-D9C1-BC73-2955-8B8A26AF0539}"/>
              </a:ext>
            </a:extLst>
          </p:cNvPr>
          <p:cNvSpPr/>
          <p:nvPr/>
        </p:nvSpPr>
        <p:spPr>
          <a:xfrm>
            <a:off x="2073194" y="1010412"/>
            <a:ext cx="1645920" cy="3273552"/>
          </a:xfrm>
          <a:prstGeom prst="rect">
            <a:avLst/>
          </a:prstGeom>
          <a:solidFill>
            <a:srgbClr val="0E1A2B"/>
          </a:solidFill>
          <a:ln w="19050">
            <a:solidFill>
              <a:srgbClr val="2D6EBF"/>
            </a:solidFill>
            <a:prstDash val="solid"/>
          </a:ln>
          <a:effectLst>
            <a:outerShdw blurRad="101600" dist="38100" dir="8100000" algn="bl" rotWithShape="0">
              <a:srgbClr val="000000">
                <a:alpha val="40000"/>
              </a:srgbClr>
            </a:outerShdw>
          </a:effectLst>
        </p:spPr>
        <p:txBody>
          <a:bodyPr/>
          <a:lstStyle/>
          <a:p>
            <a:endParaRPr lang="en-US" dirty="0"/>
          </a:p>
        </p:txBody>
      </p:sp>
      <p:sp>
        <p:nvSpPr>
          <p:cNvPr id="2134" name="Shape 18">
            <a:extLst>
              <a:ext uri="{FF2B5EF4-FFF2-40B4-BE49-F238E27FC236}">
                <a16:creationId xmlns:a16="http://schemas.microsoft.com/office/drawing/2014/main" id="{D6922FD2-5E9A-3B16-8961-AFE19766A865}"/>
              </a:ext>
            </a:extLst>
          </p:cNvPr>
          <p:cNvSpPr/>
          <p:nvPr/>
        </p:nvSpPr>
        <p:spPr>
          <a:xfrm>
            <a:off x="2109770" y="3108960"/>
            <a:ext cx="1591056" cy="1088967"/>
          </a:xfrm>
          <a:prstGeom prst="rect">
            <a:avLst/>
          </a:prstGeom>
          <a:solidFill>
            <a:srgbClr val="0D2820"/>
          </a:solidFill>
          <a:ln w="31750">
            <a:solidFill>
              <a:srgbClr val="00C9A0"/>
            </a:solidFill>
            <a:prstDash val="solid"/>
          </a:ln>
        </p:spPr>
        <p:txBody>
          <a:bodyPr/>
          <a:lstStyle/>
          <a:p>
            <a:endParaRPr lang="en-US"/>
          </a:p>
        </p:txBody>
      </p:sp>
      <p:sp>
        <p:nvSpPr>
          <p:cNvPr id="5" name="Shape 5">
            <a:extLst>
              <a:ext uri="{FF2B5EF4-FFF2-40B4-BE49-F238E27FC236}">
                <a16:creationId xmlns:a16="http://schemas.microsoft.com/office/drawing/2014/main" id="{D4012F01-24A3-8F3E-8BF0-8A2C5325BAE4}"/>
              </a:ext>
            </a:extLst>
          </p:cNvPr>
          <p:cNvSpPr/>
          <p:nvPr/>
        </p:nvSpPr>
        <p:spPr>
          <a:xfrm>
            <a:off x="463850" y="1010412"/>
            <a:ext cx="1298448" cy="3273552"/>
          </a:xfrm>
          <a:prstGeom prst="rect">
            <a:avLst/>
          </a:prstGeom>
          <a:solidFill>
            <a:srgbClr val="131F30"/>
          </a:solidFill>
          <a:ln w="19050">
            <a:solidFill>
              <a:srgbClr val="2D6EBF"/>
            </a:solidFill>
            <a:prstDash val="solid"/>
          </a:ln>
          <a:effectLst>
            <a:outerShdw blurRad="101600" dist="38100" dir="8100000" algn="bl" rotWithShape="0">
              <a:srgbClr val="000000">
                <a:alpha val="40000"/>
              </a:srgbClr>
            </a:outerShdw>
          </a:effectLst>
        </p:spPr>
        <p:txBody>
          <a:bodyPr/>
          <a:lstStyle/>
          <a:p>
            <a:endParaRPr lang="en-US"/>
          </a:p>
        </p:txBody>
      </p:sp>
      <p:sp>
        <p:nvSpPr>
          <p:cNvPr id="6" name="Shape 6">
            <a:extLst>
              <a:ext uri="{FF2B5EF4-FFF2-40B4-BE49-F238E27FC236}">
                <a16:creationId xmlns:a16="http://schemas.microsoft.com/office/drawing/2014/main" id="{3741550D-2E2F-3789-AC7F-CA0F6CBE3620}"/>
              </a:ext>
            </a:extLst>
          </p:cNvPr>
          <p:cNvSpPr/>
          <p:nvPr/>
        </p:nvSpPr>
        <p:spPr>
          <a:xfrm>
            <a:off x="463850" y="1010412"/>
            <a:ext cx="1298448" cy="292608"/>
          </a:xfrm>
          <a:prstGeom prst="rect">
            <a:avLst/>
          </a:prstGeom>
          <a:solidFill>
            <a:srgbClr val="2D6EBF"/>
          </a:solidFill>
          <a:ln w="12700">
            <a:solidFill>
              <a:srgbClr val="2D6EBF"/>
            </a:solidFill>
            <a:prstDash val="solid"/>
          </a:ln>
        </p:spPr>
        <p:txBody>
          <a:bodyPr/>
          <a:lstStyle/>
          <a:p>
            <a:endParaRPr lang="en-US"/>
          </a:p>
        </p:txBody>
      </p:sp>
      <p:sp>
        <p:nvSpPr>
          <p:cNvPr id="7" name="Text 7">
            <a:extLst>
              <a:ext uri="{FF2B5EF4-FFF2-40B4-BE49-F238E27FC236}">
                <a16:creationId xmlns:a16="http://schemas.microsoft.com/office/drawing/2014/main" id="{0EADB47A-B08A-96F5-1580-1F4F340479C0}"/>
              </a:ext>
            </a:extLst>
          </p:cNvPr>
          <p:cNvSpPr/>
          <p:nvPr/>
        </p:nvSpPr>
        <p:spPr>
          <a:xfrm>
            <a:off x="463850" y="1010412"/>
            <a:ext cx="129844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8" name="Shape 8">
            <a:extLst>
              <a:ext uri="{FF2B5EF4-FFF2-40B4-BE49-F238E27FC236}">
                <a16:creationId xmlns:a16="http://schemas.microsoft.com/office/drawing/2014/main" id="{ED6BC111-F9AE-3EA5-74FD-C02A3D5CB658}"/>
              </a:ext>
            </a:extLst>
          </p:cNvPr>
          <p:cNvSpPr/>
          <p:nvPr/>
        </p:nvSpPr>
        <p:spPr>
          <a:xfrm>
            <a:off x="628442" y="1485900"/>
            <a:ext cx="969264" cy="1115568"/>
          </a:xfrm>
          <a:prstGeom prst="ellipse">
            <a:avLst/>
          </a:prstGeom>
          <a:solidFill>
            <a:srgbClr val="C0392B"/>
          </a:solidFill>
          <a:ln w="19050">
            <a:solidFill>
              <a:srgbClr val="922B21"/>
            </a:solidFill>
            <a:prstDash val="solid"/>
          </a:ln>
        </p:spPr>
        <p:txBody>
          <a:bodyPr/>
          <a:lstStyle/>
          <a:p>
            <a:endParaRPr lang="en-US"/>
          </a:p>
        </p:txBody>
      </p:sp>
      <p:sp>
        <p:nvSpPr>
          <p:cNvPr id="9" name="Shape 9">
            <a:extLst>
              <a:ext uri="{FF2B5EF4-FFF2-40B4-BE49-F238E27FC236}">
                <a16:creationId xmlns:a16="http://schemas.microsoft.com/office/drawing/2014/main" id="{7A9D7E2C-191D-0124-8E45-CA25E3C10E21}"/>
              </a:ext>
            </a:extLst>
          </p:cNvPr>
          <p:cNvSpPr/>
          <p:nvPr/>
        </p:nvSpPr>
        <p:spPr>
          <a:xfrm>
            <a:off x="719882" y="1559052"/>
            <a:ext cx="274320" cy="201168"/>
          </a:xfrm>
          <a:prstGeom prst="ellipse">
            <a:avLst/>
          </a:prstGeom>
          <a:solidFill>
            <a:srgbClr val="E8A09A">
              <a:alpha val="80000"/>
            </a:srgbClr>
          </a:solidFill>
          <a:ln w="12700">
            <a:solidFill>
              <a:srgbClr val="E8A09A"/>
            </a:solidFill>
            <a:prstDash val="solid"/>
          </a:ln>
        </p:spPr>
        <p:txBody>
          <a:bodyPr/>
          <a:lstStyle/>
          <a:p>
            <a:endParaRPr lang="en-US"/>
          </a:p>
        </p:txBody>
      </p:sp>
      <p:sp>
        <p:nvSpPr>
          <p:cNvPr id="10" name="Shape 10">
            <a:extLst>
              <a:ext uri="{FF2B5EF4-FFF2-40B4-BE49-F238E27FC236}">
                <a16:creationId xmlns:a16="http://schemas.microsoft.com/office/drawing/2014/main" id="{4FA2B456-EFE4-2825-9D9F-B2BE1BD169D7}"/>
              </a:ext>
            </a:extLst>
          </p:cNvPr>
          <p:cNvSpPr/>
          <p:nvPr/>
        </p:nvSpPr>
        <p:spPr>
          <a:xfrm>
            <a:off x="1067354" y="1394460"/>
            <a:ext cx="73152" cy="182880"/>
          </a:xfrm>
          <a:prstGeom prst="rect">
            <a:avLst/>
          </a:prstGeom>
          <a:solidFill>
            <a:srgbClr val="7D6608"/>
          </a:solidFill>
          <a:ln w="12700">
            <a:solidFill>
              <a:srgbClr val="7D6608"/>
            </a:solidFill>
            <a:prstDash val="solid"/>
          </a:ln>
        </p:spPr>
        <p:txBody>
          <a:bodyPr/>
          <a:lstStyle/>
          <a:p>
            <a:endParaRPr lang="en-US"/>
          </a:p>
        </p:txBody>
      </p:sp>
      <p:sp>
        <p:nvSpPr>
          <p:cNvPr id="11" name="Text 11">
            <a:extLst>
              <a:ext uri="{FF2B5EF4-FFF2-40B4-BE49-F238E27FC236}">
                <a16:creationId xmlns:a16="http://schemas.microsoft.com/office/drawing/2014/main" id="{64BF2A9A-0793-1CEB-C1CD-E8F5B4ECF6CC}"/>
              </a:ext>
            </a:extLst>
          </p:cNvPr>
          <p:cNvSpPr/>
          <p:nvPr/>
        </p:nvSpPr>
        <p:spPr>
          <a:xfrm>
            <a:off x="509570" y="2729484"/>
            <a:ext cx="1207008" cy="347472"/>
          </a:xfrm>
          <a:prstGeom prst="rect">
            <a:avLst/>
          </a:prstGeom>
          <a:noFill/>
          <a:ln/>
        </p:spPr>
        <p:txBody>
          <a:bodyPr wrap="square" lIns="0" tIns="0" rIns="0" bIns="0" rtlCol="0" anchor="ctr"/>
          <a:lstStyle/>
          <a:p>
            <a:pPr marL="0" indent="0" algn="ctr">
              <a:buNone/>
            </a:pPr>
            <a:r>
              <a:rPr lang="en-US" sz="850" b="1" dirty="0">
                <a:solidFill>
                  <a:srgbClr val="A8C6E8"/>
                </a:solidFill>
                <a:latin typeface="Calibri" pitchFamily="34" charset="0"/>
                <a:cs typeface="Calibri" pitchFamily="34" charset="-120"/>
              </a:rPr>
              <a:t>A Fruit</a:t>
            </a:r>
            <a:endParaRPr lang="en-US" sz="850" dirty="0"/>
          </a:p>
        </p:txBody>
      </p:sp>
      <p:sp>
        <p:nvSpPr>
          <p:cNvPr id="12" name="Shape 12">
            <a:extLst>
              <a:ext uri="{FF2B5EF4-FFF2-40B4-BE49-F238E27FC236}">
                <a16:creationId xmlns:a16="http://schemas.microsoft.com/office/drawing/2014/main" id="{ACB0B5FF-7755-9979-2581-E4EE0A173588}"/>
              </a:ext>
            </a:extLst>
          </p:cNvPr>
          <p:cNvSpPr/>
          <p:nvPr/>
        </p:nvSpPr>
        <p:spPr>
          <a:xfrm>
            <a:off x="537002" y="3186684"/>
            <a:ext cx="1152144" cy="566928"/>
          </a:xfrm>
          <a:prstGeom prst="rect">
            <a:avLst/>
          </a:prstGeom>
          <a:solidFill>
            <a:srgbClr val="0E1A2B"/>
          </a:solidFill>
          <a:ln w="6350">
            <a:solidFill>
              <a:srgbClr val="2D6EBF"/>
            </a:solidFill>
            <a:prstDash val="solid"/>
          </a:ln>
        </p:spPr>
        <p:txBody>
          <a:bodyPr/>
          <a:lstStyle/>
          <a:p>
            <a:endParaRPr lang="en-US">
              <a:solidFill>
                <a:schemeClr val="bg1">
                  <a:lumMod val="95000"/>
                </a:schemeClr>
              </a:solidFill>
            </a:endParaRPr>
          </a:p>
        </p:txBody>
      </p:sp>
      <p:sp>
        <p:nvSpPr>
          <p:cNvPr id="13" name="Text 13">
            <a:extLst>
              <a:ext uri="{FF2B5EF4-FFF2-40B4-BE49-F238E27FC236}">
                <a16:creationId xmlns:a16="http://schemas.microsoft.com/office/drawing/2014/main" id="{8BE71CC0-E8AB-DE21-3CD3-50AAC51A33B0}"/>
              </a:ext>
            </a:extLst>
          </p:cNvPr>
          <p:cNvSpPr/>
          <p:nvPr/>
        </p:nvSpPr>
        <p:spPr>
          <a:xfrm>
            <a:off x="537002" y="3186684"/>
            <a:ext cx="1152144" cy="566928"/>
          </a:xfrm>
          <a:prstGeom prst="rect">
            <a:avLst/>
          </a:prstGeom>
          <a:noFill/>
          <a:ln/>
        </p:spPr>
        <p:txBody>
          <a:bodyPr wrap="square" lIns="0" tIns="0" rIns="0" bIns="0" rtlCol="0" anchor="ctr"/>
          <a:lstStyle/>
          <a:p>
            <a:pPr marL="0" indent="0" algn="ctr">
              <a:buNone/>
            </a:pPr>
            <a:r>
              <a:rPr lang="en-US" sz="750" i="1" dirty="0">
                <a:solidFill>
                  <a:schemeClr val="bg1">
                    <a:lumMod val="95000"/>
                  </a:schemeClr>
                </a:solidFill>
                <a:latin typeface="Calibri" pitchFamily="34" charset="0"/>
                <a:ea typeface="Calibri" pitchFamily="34" charset="-122"/>
                <a:cs typeface="Calibri" pitchFamily="34" charset="-120"/>
              </a:rPr>
              <a:t>+ distracting</a:t>
            </a:r>
            <a:endParaRPr lang="en-US" sz="750" dirty="0">
              <a:solidFill>
                <a:schemeClr val="bg1">
                  <a:lumMod val="95000"/>
                </a:schemeClr>
              </a:solidFill>
            </a:endParaRPr>
          </a:p>
          <a:p>
            <a:pPr marL="0" indent="0" algn="ctr">
              <a:buNone/>
            </a:pPr>
            <a:r>
              <a:rPr lang="en-US" sz="750" i="1" dirty="0">
                <a:solidFill>
                  <a:schemeClr val="bg1">
                    <a:lumMod val="95000"/>
                  </a:schemeClr>
                </a:solidFill>
                <a:latin typeface="Calibri" pitchFamily="34" charset="0"/>
                <a:ea typeface="Calibri" pitchFamily="34" charset="-122"/>
                <a:cs typeface="Calibri" pitchFamily="34" charset="-120"/>
              </a:rPr>
              <a:t>background</a:t>
            </a:r>
            <a:endParaRPr lang="en-US" sz="750" dirty="0">
              <a:solidFill>
                <a:schemeClr val="bg1">
                  <a:lumMod val="95000"/>
                </a:schemeClr>
              </a:solidFill>
            </a:endParaRPr>
          </a:p>
        </p:txBody>
      </p:sp>
      <p:sp>
        <p:nvSpPr>
          <p:cNvPr id="14" name="Shape 14">
            <a:extLst>
              <a:ext uri="{FF2B5EF4-FFF2-40B4-BE49-F238E27FC236}">
                <a16:creationId xmlns:a16="http://schemas.microsoft.com/office/drawing/2014/main" id="{245E5DBB-843F-1D90-1B76-F6751C335BD6}"/>
              </a:ext>
            </a:extLst>
          </p:cNvPr>
          <p:cNvSpPr/>
          <p:nvPr/>
        </p:nvSpPr>
        <p:spPr>
          <a:xfrm>
            <a:off x="1762298" y="2647188"/>
            <a:ext cx="310896" cy="0"/>
          </a:xfrm>
          <a:prstGeom prst="line">
            <a:avLst/>
          </a:prstGeom>
          <a:noFill/>
          <a:ln w="25400">
            <a:solidFill>
              <a:srgbClr val="4A90D9"/>
            </a:solidFill>
            <a:prstDash val="solid"/>
            <a:tailEnd type="arrow"/>
          </a:ln>
        </p:spPr>
        <p:txBody>
          <a:bodyPr/>
          <a:lstStyle/>
          <a:p>
            <a:endParaRPr lang="en-US"/>
          </a:p>
        </p:txBody>
      </p:sp>
      <p:sp>
        <p:nvSpPr>
          <p:cNvPr id="16" name="Shape 16">
            <a:extLst>
              <a:ext uri="{FF2B5EF4-FFF2-40B4-BE49-F238E27FC236}">
                <a16:creationId xmlns:a16="http://schemas.microsoft.com/office/drawing/2014/main" id="{BE811601-9E6B-982C-0A6D-1F4EBD9A64A4}"/>
              </a:ext>
            </a:extLst>
          </p:cNvPr>
          <p:cNvSpPr/>
          <p:nvPr/>
        </p:nvSpPr>
        <p:spPr>
          <a:xfrm>
            <a:off x="2073194" y="1010412"/>
            <a:ext cx="1627632" cy="292608"/>
          </a:xfrm>
          <a:prstGeom prst="rect">
            <a:avLst/>
          </a:prstGeom>
          <a:solidFill>
            <a:srgbClr val="1A4A8A"/>
          </a:solidFill>
          <a:ln w="12700">
            <a:solidFill>
              <a:srgbClr val="1A4A8A"/>
            </a:solidFill>
            <a:prstDash val="solid"/>
          </a:ln>
        </p:spPr>
        <p:txBody>
          <a:bodyPr/>
          <a:lstStyle/>
          <a:p>
            <a:endParaRPr lang="en-US"/>
          </a:p>
        </p:txBody>
      </p:sp>
      <p:sp>
        <p:nvSpPr>
          <p:cNvPr id="17" name="Text 17">
            <a:extLst>
              <a:ext uri="{FF2B5EF4-FFF2-40B4-BE49-F238E27FC236}">
                <a16:creationId xmlns:a16="http://schemas.microsoft.com/office/drawing/2014/main" id="{FAAD2987-CFC0-1EC0-B136-A9B403C9331A}"/>
              </a:ext>
            </a:extLst>
          </p:cNvPr>
          <p:cNvSpPr/>
          <p:nvPr/>
        </p:nvSpPr>
        <p:spPr>
          <a:xfrm>
            <a:off x="2073194" y="1010412"/>
            <a:ext cx="1627632"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EfficientNet-B3 Backbone</a:t>
            </a:r>
            <a:endParaRPr lang="en-US" sz="850" dirty="0"/>
          </a:p>
        </p:txBody>
      </p:sp>
      <p:sp>
        <p:nvSpPr>
          <p:cNvPr id="18" name="Shape 18">
            <a:extLst>
              <a:ext uri="{FF2B5EF4-FFF2-40B4-BE49-F238E27FC236}">
                <a16:creationId xmlns:a16="http://schemas.microsoft.com/office/drawing/2014/main" id="{F812FCC6-1CF1-F2EC-01E0-82186EAAF5DE}"/>
              </a:ext>
            </a:extLst>
          </p:cNvPr>
          <p:cNvSpPr/>
          <p:nvPr/>
        </p:nvSpPr>
        <p:spPr>
          <a:xfrm>
            <a:off x="2192066" y="1554480"/>
            <a:ext cx="1389888" cy="274320"/>
          </a:xfrm>
          <a:prstGeom prst="rect">
            <a:avLst/>
          </a:prstGeom>
          <a:solidFill>
            <a:srgbClr val="1A3258"/>
          </a:solidFill>
          <a:ln w="6350">
            <a:solidFill>
              <a:srgbClr val="243B5A"/>
            </a:solidFill>
            <a:prstDash val="solid"/>
          </a:ln>
        </p:spPr>
        <p:txBody>
          <a:bodyPr/>
          <a:lstStyle/>
          <a:p>
            <a:endParaRPr lang="en-US"/>
          </a:p>
        </p:txBody>
      </p:sp>
      <p:sp>
        <p:nvSpPr>
          <p:cNvPr id="19" name="Text 19">
            <a:extLst>
              <a:ext uri="{FF2B5EF4-FFF2-40B4-BE49-F238E27FC236}">
                <a16:creationId xmlns:a16="http://schemas.microsoft.com/office/drawing/2014/main" id="{ED80A0AB-9212-274A-BDB4-1E7F03851F7F}"/>
              </a:ext>
            </a:extLst>
          </p:cNvPr>
          <p:cNvSpPr/>
          <p:nvPr/>
        </p:nvSpPr>
        <p:spPr>
          <a:xfrm>
            <a:off x="2192066" y="1554480"/>
            <a:ext cx="1389888" cy="274320"/>
          </a:xfrm>
          <a:prstGeom prst="rect">
            <a:avLst/>
          </a:prstGeom>
          <a:noFill/>
          <a:ln/>
        </p:spPr>
        <p:txBody>
          <a:bodyPr wrap="square" lIns="0" tIns="0" rIns="0" bIns="0" rtlCol="0" anchor="ctr"/>
          <a:lstStyle/>
          <a:p>
            <a:pPr marL="0" indent="0" algn="ctr">
              <a:buNone/>
            </a:pPr>
            <a:r>
              <a:rPr lang="en-US" sz="750" dirty="0">
                <a:solidFill>
                  <a:srgbClr val="4A7AAB"/>
                </a:solidFill>
                <a:latin typeface="Calibri" pitchFamily="34" charset="0"/>
                <a:ea typeface="Calibri" pitchFamily="34" charset="-122"/>
                <a:cs typeface="Calibri" pitchFamily="34" charset="-120"/>
              </a:rPr>
              <a:t>Block 1</a:t>
            </a:r>
            <a:endParaRPr lang="en-US" sz="750" dirty="0"/>
          </a:p>
        </p:txBody>
      </p:sp>
      <p:sp>
        <p:nvSpPr>
          <p:cNvPr id="20" name="Shape 20">
            <a:extLst>
              <a:ext uri="{FF2B5EF4-FFF2-40B4-BE49-F238E27FC236}">
                <a16:creationId xmlns:a16="http://schemas.microsoft.com/office/drawing/2014/main" id="{A90D12A8-EA22-29AA-6028-77756537D250}"/>
              </a:ext>
            </a:extLst>
          </p:cNvPr>
          <p:cNvSpPr/>
          <p:nvPr/>
        </p:nvSpPr>
        <p:spPr>
          <a:xfrm>
            <a:off x="2192066" y="1865376"/>
            <a:ext cx="1389888" cy="274320"/>
          </a:xfrm>
          <a:prstGeom prst="rect">
            <a:avLst/>
          </a:prstGeom>
          <a:solidFill>
            <a:srgbClr val="1A3258"/>
          </a:solidFill>
          <a:ln w="6350">
            <a:solidFill>
              <a:srgbClr val="243B5A"/>
            </a:solidFill>
            <a:prstDash val="solid"/>
          </a:ln>
        </p:spPr>
        <p:txBody>
          <a:bodyPr/>
          <a:lstStyle/>
          <a:p>
            <a:endParaRPr lang="en-US"/>
          </a:p>
        </p:txBody>
      </p:sp>
      <p:sp>
        <p:nvSpPr>
          <p:cNvPr id="21" name="Text 21">
            <a:extLst>
              <a:ext uri="{FF2B5EF4-FFF2-40B4-BE49-F238E27FC236}">
                <a16:creationId xmlns:a16="http://schemas.microsoft.com/office/drawing/2014/main" id="{AA40ADA3-2908-56F7-EB6C-E0430B1AB870}"/>
              </a:ext>
            </a:extLst>
          </p:cNvPr>
          <p:cNvSpPr/>
          <p:nvPr/>
        </p:nvSpPr>
        <p:spPr>
          <a:xfrm>
            <a:off x="2192066" y="1865376"/>
            <a:ext cx="1389888" cy="274320"/>
          </a:xfrm>
          <a:prstGeom prst="rect">
            <a:avLst/>
          </a:prstGeom>
          <a:noFill/>
          <a:ln/>
        </p:spPr>
        <p:txBody>
          <a:bodyPr wrap="square" lIns="0" tIns="0" rIns="0" bIns="0" rtlCol="0" anchor="ctr"/>
          <a:lstStyle/>
          <a:p>
            <a:pPr marL="0" indent="0" algn="ctr">
              <a:buNone/>
            </a:pPr>
            <a:r>
              <a:rPr lang="en-US" sz="750" dirty="0">
                <a:solidFill>
                  <a:srgbClr val="4A7AAB"/>
                </a:solidFill>
                <a:latin typeface="Calibri" pitchFamily="34" charset="0"/>
                <a:ea typeface="Calibri" pitchFamily="34" charset="-122"/>
                <a:cs typeface="Calibri" pitchFamily="34" charset="-120"/>
              </a:rPr>
              <a:t>Block 2</a:t>
            </a:r>
            <a:endParaRPr lang="en-US" sz="750" dirty="0"/>
          </a:p>
        </p:txBody>
      </p:sp>
      <p:sp>
        <p:nvSpPr>
          <p:cNvPr id="22" name="Shape 22">
            <a:extLst>
              <a:ext uri="{FF2B5EF4-FFF2-40B4-BE49-F238E27FC236}">
                <a16:creationId xmlns:a16="http://schemas.microsoft.com/office/drawing/2014/main" id="{4398F617-31C6-0256-297D-EF73D8B8C00D}"/>
              </a:ext>
            </a:extLst>
          </p:cNvPr>
          <p:cNvSpPr/>
          <p:nvPr/>
        </p:nvSpPr>
        <p:spPr>
          <a:xfrm>
            <a:off x="2192066" y="2176272"/>
            <a:ext cx="1389888" cy="274320"/>
          </a:xfrm>
          <a:prstGeom prst="rect">
            <a:avLst/>
          </a:prstGeom>
          <a:solidFill>
            <a:srgbClr val="1B4080"/>
          </a:solidFill>
          <a:ln w="6350">
            <a:solidFill>
              <a:srgbClr val="243B5A"/>
            </a:solidFill>
            <a:prstDash val="solid"/>
          </a:ln>
        </p:spPr>
        <p:txBody>
          <a:bodyPr/>
          <a:lstStyle/>
          <a:p>
            <a:endParaRPr lang="en-US"/>
          </a:p>
        </p:txBody>
      </p:sp>
      <p:sp>
        <p:nvSpPr>
          <p:cNvPr id="23" name="Text 23">
            <a:extLst>
              <a:ext uri="{FF2B5EF4-FFF2-40B4-BE49-F238E27FC236}">
                <a16:creationId xmlns:a16="http://schemas.microsoft.com/office/drawing/2014/main" id="{11610E5C-ADD7-55BB-1163-C3D39D635322}"/>
              </a:ext>
            </a:extLst>
          </p:cNvPr>
          <p:cNvSpPr/>
          <p:nvPr/>
        </p:nvSpPr>
        <p:spPr>
          <a:xfrm>
            <a:off x="2192066" y="2176272"/>
            <a:ext cx="1389888" cy="274320"/>
          </a:xfrm>
          <a:prstGeom prst="rect">
            <a:avLst/>
          </a:prstGeom>
          <a:noFill/>
          <a:ln/>
        </p:spPr>
        <p:txBody>
          <a:bodyPr wrap="square" lIns="0" tIns="0" rIns="0" bIns="0" rtlCol="0" anchor="ctr"/>
          <a:lstStyle/>
          <a:p>
            <a:pPr marL="0" indent="0" algn="ctr">
              <a:buNone/>
            </a:pPr>
            <a:r>
              <a:rPr lang="en-US" sz="750" dirty="0">
                <a:solidFill>
                  <a:srgbClr val="5A8FC0"/>
                </a:solidFill>
                <a:latin typeface="Calibri" pitchFamily="34" charset="0"/>
                <a:ea typeface="Calibri" pitchFamily="34" charset="-122"/>
                <a:cs typeface="Calibri" pitchFamily="34" charset="-120"/>
              </a:rPr>
              <a:t>Block 3</a:t>
            </a:r>
            <a:endParaRPr lang="en-US" sz="750" dirty="0"/>
          </a:p>
        </p:txBody>
      </p:sp>
      <p:sp>
        <p:nvSpPr>
          <p:cNvPr id="24" name="Shape 24">
            <a:extLst>
              <a:ext uri="{FF2B5EF4-FFF2-40B4-BE49-F238E27FC236}">
                <a16:creationId xmlns:a16="http://schemas.microsoft.com/office/drawing/2014/main" id="{7ABD515D-856A-40AF-FF3C-33296564E7E8}"/>
              </a:ext>
            </a:extLst>
          </p:cNvPr>
          <p:cNvSpPr/>
          <p:nvPr/>
        </p:nvSpPr>
        <p:spPr>
          <a:xfrm>
            <a:off x="2192066" y="2487168"/>
            <a:ext cx="1389888" cy="274320"/>
          </a:xfrm>
          <a:prstGeom prst="rect">
            <a:avLst/>
          </a:prstGeom>
          <a:solidFill>
            <a:srgbClr val="1B4080"/>
          </a:solidFill>
          <a:ln w="6350">
            <a:solidFill>
              <a:srgbClr val="243B5A"/>
            </a:solidFill>
            <a:prstDash val="solid"/>
          </a:ln>
        </p:spPr>
        <p:txBody>
          <a:bodyPr/>
          <a:lstStyle/>
          <a:p>
            <a:endParaRPr lang="en-US"/>
          </a:p>
        </p:txBody>
      </p:sp>
      <p:sp>
        <p:nvSpPr>
          <p:cNvPr id="25" name="Text 25">
            <a:extLst>
              <a:ext uri="{FF2B5EF4-FFF2-40B4-BE49-F238E27FC236}">
                <a16:creationId xmlns:a16="http://schemas.microsoft.com/office/drawing/2014/main" id="{3F57F920-D6F3-FAD1-F3C5-8904ADFD7F09}"/>
              </a:ext>
            </a:extLst>
          </p:cNvPr>
          <p:cNvSpPr/>
          <p:nvPr/>
        </p:nvSpPr>
        <p:spPr>
          <a:xfrm>
            <a:off x="2192066" y="2487168"/>
            <a:ext cx="1389888" cy="274320"/>
          </a:xfrm>
          <a:prstGeom prst="rect">
            <a:avLst/>
          </a:prstGeom>
          <a:noFill/>
          <a:ln/>
        </p:spPr>
        <p:txBody>
          <a:bodyPr wrap="square" lIns="0" tIns="0" rIns="0" bIns="0" rtlCol="0" anchor="ctr"/>
          <a:lstStyle/>
          <a:p>
            <a:pPr marL="0" indent="0" algn="ctr">
              <a:buNone/>
            </a:pPr>
            <a:r>
              <a:rPr lang="en-US" sz="750" dirty="0">
                <a:solidFill>
                  <a:srgbClr val="5A8FC0"/>
                </a:solidFill>
                <a:latin typeface="Calibri" pitchFamily="34" charset="0"/>
                <a:ea typeface="Calibri" pitchFamily="34" charset="-122"/>
                <a:cs typeface="Calibri" pitchFamily="34" charset="-120"/>
              </a:rPr>
              <a:t>Block 4</a:t>
            </a:r>
            <a:endParaRPr lang="en-US" sz="750" dirty="0"/>
          </a:p>
        </p:txBody>
      </p:sp>
      <p:sp>
        <p:nvSpPr>
          <p:cNvPr id="26" name="Shape 26">
            <a:extLst>
              <a:ext uri="{FF2B5EF4-FFF2-40B4-BE49-F238E27FC236}">
                <a16:creationId xmlns:a16="http://schemas.microsoft.com/office/drawing/2014/main" id="{E003BB7F-DB23-A713-5D5A-1BCA03BF69C8}"/>
              </a:ext>
            </a:extLst>
          </p:cNvPr>
          <p:cNvSpPr/>
          <p:nvPr/>
        </p:nvSpPr>
        <p:spPr>
          <a:xfrm>
            <a:off x="2192066" y="2798064"/>
            <a:ext cx="1389888" cy="274320"/>
          </a:xfrm>
          <a:prstGeom prst="rect">
            <a:avLst/>
          </a:prstGeom>
          <a:solidFill>
            <a:srgbClr val="1A4A9A"/>
          </a:solidFill>
          <a:ln w="6350">
            <a:solidFill>
              <a:srgbClr val="243B5A"/>
            </a:solidFill>
            <a:prstDash val="solid"/>
          </a:ln>
        </p:spPr>
        <p:txBody>
          <a:bodyPr/>
          <a:lstStyle/>
          <a:p>
            <a:endParaRPr lang="en-US"/>
          </a:p>
        </p:txBody>
      </p:sp>
      <p:sp>
        <p:nvSpPr>
          <p:cNvPr id="27" name="Text 27">
            <a:extLst>
              <a:ext uri="{FF2B5EF4-FFF2-40B4-BE49-F238E27FC236}">
                <a16:creationId xmlns:a16="http://schemas.microsoft.com/office/drawing/2014/main" id="{A4E55557-F730-1E9C-6F0F-836E1AAEAA2F}"/>
              </a:ext>
            </a:extLst>
          </p:cNvPr>
          <p:cNvSpPr/>
          <p:nvPr/>
        </p:nvSpPr>
        <p:spPr>
          <a:xfrm>
            <a:off x="2192066" y="2798064"/>
            <a:ext cx="1389888" cy="274320"/>
          </a:xfrm>
          <a:prstGeom prst="rect">
            <a:avLst/>
          </a:prstGeom>
          <a:noFill/>
          <a:ln/>
        </p:spPr>
        <p:txBody>
          <a:bodyPr wrap="square" lIns="0" tIns="0" rIns="0" bIns="0" rtlCol="0" anchor="ctr"/>
          <a:lstStyle/>
          <a:p>
            <a:pPr marL="0" indent="0" algn="ctr">
              <a:buNone/>
            </a:pPr>
            <a:r>
              <a:rPr lang="en-US" sz="750" dirty="0">
                <a:solidFill>
                  <a:srgbClr val="7AB0E0"/>
                </a:solidFill>
                <a:latin typeface="Calibri" pitchFamily="34" charset="0"/>
                <a:ea typeface="Calibri" pitchFamily="34" charset="-122"/>
                <a:cs typeface="Calibri" pitchFamily="34" charset="-120"/>
              </a:rPr>
              <a:t>Block 5</a:t>
            </a:r>
            <a:endParaRPr lang="en-US" sz="750" dirty="0"/>
          </a:p>
        </p:txBody>
      </p:sp>
      <p:sp>
        <p:nvSpPr>
          <p:cNvPr id="28" name="Shape 28">
            <a:extLst>
              <a:ext uri="{FF2B5EF4-FFF2-40B4-BE49-F238E27FC236}">
                <a16:creationId xmlns:a16="http://schemas.microsoft.com/office/drawing/2014/main" id="{D3F94027-739A-3EA2-B8D0-9698764D9F53}"/>
              </a:ext>
            </a:extLst>
          </p:cNvPr>
          <p:cNvSpPr/>
          <p:nvPr/>
        </p:nvSpPr>
        <p:spPr>
          <a:xfrm>
            <a:off x="2175940" y="3173675"/>
            <a:ext cx="1389888" cy="274320"/>
          </a:xfrm>
          <a:prstGeom prst="rect">
            <a:avLst/>
          </a:prstGeom>
          <a:solidFill>
            <a:schemeClr val="tx2">
              <a:lumMod val="75000"/>
            </a:schemeClr>
          </a:solidFill>
          <a:ln w="19050">
            <a:solidFill>
              <a:srgbClr val="7DC7E2"/>
            </a:solidFill>
            <a:prstDash val="solid"/>
          </a:ln>
        </p:spPr>
        <p:txBody>
          <a:bodyPr/>
          <a:lstStyle/>
          <a:p>
            <a:endParaRPr lang="en-US"/>
          </a:p>
        </p:txBody>
      </p:sp>
      <p:sp>
        <p:nvSpPr>
          <p:cNvPr id="29" name="Text 29">
            <a:extLst>
              <a:ext uri="{FF2B5EF4-FFF2-40B4-BE49-F238E27FC236}">
                <a16:creationId xmlns:a16="http://schemas.microsoft.com/office/drawing/2014/main" id="{3B618E42-F7CA-385E-7A4A-5A05BB81A4F0}"/>
              </a:ext>
            </a:extLst>
          </p:cNvPr>
          <p:cNvSpPr/>
          <p:nvPr/>
        </p:nvSpPr>
        <p:spPr>
          <a:xfrm>
            <a:off x="2192066" y="3177229"/>
            <a:ext cx="1389888" cy="274320"/>
          </a:xfrm>
          <a:prstGeom prst="rect">
            <a:avLst/>
          </a:prstGeom>
          <a:noFill/>
          <a:ln/>
        </p:spPr>
        <p:txBody>
          <a:bodyPr wrap="square" lIns="0" tIns="0" rIns="0" bIns="0" rtlCol="0" anchor="ctr"/>
          <a:lstStyle/>
          <a:p>
            <a:pPr algn="ctr"/>
            <a:r>
              <a:rPr lang="en-US" sz="850" b="1" dirty="0">
                <a:solidFill>
                  <a:srgbClr val="FFFFFF"/>
                </a:solidFill>
                <a:latin typeface="Calibri" pitchFamily="34" charset="0"/>
                <a:cs typeface="Calibri" pitchFamily="34" charset="-120"/>
              </a:rPr>
              <a:t>Block 6</a:t>
            </a:r>
          </a:p>
        </p:txBody>
      </p:sp>
      <p:sp>
        <p:nvSpPr>
          <p:cNvPr id="30" name="Shape 30">
            <a:extLst>
              <a:ext uri="{FF2B5EF4-FFF2-40B4-BE49-F238E27FC236}">
                <a16:creationId xmlns:a16="http://schemas.microsoft.com/office/drawing/2014/main" id="{FEA849DA-B244-8F09-5591-49B9FEBEEBB2}"/>
              </a:ext>
            </a:extLst>
          </p:cNvPr>
          <p:cNvSpPr/>
          <p:nvPr/>
        </p:nvSpPr>
        <p:spPr>
          <a:xfrm>
            <a:off x="2192066" y="3504396"/>
            <a:ext cx="1389888" cy="274320"/>
          </a:xfrm>
          <a:prstGeom prst="rect">
            <a:avLst/>
          </a:prstGeom>
          <a:solidFill>
            <a:srgbClr val="174060"/>
          </a:solidFill>
          <a:ln w="25400">
            <a:solidFill>
              <a:srgbClr val="7EC8E3"/>
            </a:solidFill>
            <a:prstDash val="solid"/>
          </a:ln>
        </p:spPr>
        <p:txBody>
          <a:bodyPr/>
          <a:lstStyle/>
          <a:p>
            <a:endParaRPr lang="en-US"/>
          </a:p>
        </p:txBody>
      </p:sp>
      <p:sp>
        <p:nvSpPr>
          <p:cNvPr id="31" name="Text 31">
            <a:extLst>
              <a:ext uri="{FF2B5EF4-FFF2-40B4-BE49-F238E27FC236}">
                <a16:creationId xmlns:a16="http://schemas.microsoft.com/office/drawing/2014/main" id="{7CB4E62B-DCE3-8C12-8395-C37FD8855B32}"/>
              </a:ext>
            </a:extLst>
          </p:cNvPr>
          <p:cNvSpPr/>
          <p:nvPr/>
        </p:nvSpPr>
        <p:spPr>
          <a:xfrm>
            <a:off x="2192066" y="3479292"/>
            <a:ext cx="138988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Block 7</a:t>
            </a:r>
            <a:endParaRPr lang="en-US" sz="850" dirty="0"/>
          </a:p>
        </p:txBody>
      </p:sp>
      <p:sp>
        <p:nvSpPr>
          <p:cNvPr id="32" name="Shape 32">
            <a:extLst>
              <a:ext uri="{FF2B5EF4-FFF2-40B4-BE49-F238E27FC236}">
                <a16:creationId xmlns:a16="http://schemas.microsoft.com/office/drawing/2014/main" id="{D708F0BE-1176-D4B6-6EA4-A26143F39CC6}"/>
              </a:ext>
            </a:extLst>
          </p:cNvPr>
          <p:cNvSpPr/>
          <p:nvPr/>
        </p:nvSpPr>
        <p:spPr>
          <a:xfrm>
            <a:off x="3591098" y="3500655"/>
            <a:ext cx="50292" cy="274320"/>
          </a:xfrm>
          <a:prstGeom prst="rect">
            <a:avLst/>
          </a:prstGeom>
          <a:solidFill>
            <a:srgbClr val="7EC8E3"/>
          </a:solidFill>
          <a:ln w="12700">
            <a:solidFill>
              <a:srgbClr val="7EC8E3"/>
            </a:solidFill>
            <a:prstDash val="solid"/>
          </a:ln>
        </p:spPr>
        <p:txBody>
          <a:bodyPr/>
          <a:lstStyle/>
          <a:p>
            <a:endParaRPr lang="en-US"/>
          </a:p>
        </p:txBody>
      </p:sp>
      <p:sp>
        <p:nvSpPr>
          <p:cNvPr id="35" name="Shape 35">
            <a:extLst>
              <a:ext uri="{FF2B5EF4-FFF2-40B4-BE49-F238E27FC236}">
                <a16:creationId xmlns:a16="http://schemas.microsoft.com/office/drawing/2014/main" id="{387B4FCE-AAE4-C198-C3B0-F2E145E22C11}"/>
              </a:ext>
            </a:extLst>
          </p:cNvPr>
          <p:cNvSpPr/>
          <p:nvPr/>
        </p:nvSpPr>
        <p:spPr>
          <a:xfrm>
            <a:off x="2192066" y="3719779"/>
            <a:ext cx="1389888" cy="0"/>
          </a:xfrm>
          <a:prstGeom prst="line">
            <a:avLst/>
          </a:prstGeom>
          <a:noFill/>
          <a:ln w="9525">
            <a:solidFill>
              <a:srgbClr val="3A6A9A"/>
            </a:solidFill>
            <a:prstDash val="dash"/>
          </a:ln>
        </p:spPr>
        <p:txBody>
          <a:bodyPr/>
          <a:lstStyle/>
          <a:p>
            <a:endParaRPr lang="en-US"/>
          </a:p>
        </p:txBody>
      </p:sp>
      <p:sp>
        <p:nvSpPr>
          <p:cNvPr id="36" name="Shape 36">
            <a:extLst>
              <a:ext uri="{FF2B5EF4-FFF2-40B4-BE49-F238E27FC236}">
                <a16:creationId xmlns:a16="http://schemas.microsoft.com/office/drawing/2014/main" id="{6ACC15BE-E8FA-7167-4BAE-274993B66CC0}"/>
              </a:ext>
            </a:extLst>
          </p:cNvPr>
          <p:cNvSpPr/>
          <p:nvPr/>
        </p:nvSpPr>
        <p:spPr>
          <a:xfrm>
            <a:off x="2192066" y="3841311"/>
            <a:ext cx="1389888" cy="274320"/>
          </a:xfrm>
          <a:prstGeom prst="rect">
            <a:avLst/>
          </a:prstGeom>
          <a:solidFill>
            <a:srgbClr val="1A4A40"/>
          </a:solidFill>
          <a:ln w="25400">
            <a:solidFill>
              <a:srgbClr val="7EC8E3"/>
            </a:solidFill>
            <a:prstDash val="solid"/>
          </a:ln>
        </p:spPr>
        <p:txBody>
          <a:bodyPr/>
          <a:lstStyle/>
          <a:p>
            <a:endParaRPr lang="en-US"/>
          </a:p>
        </p:txBody>
      </p:sp>
      <p:sp>
        <p:nvSpPr>
          <p:cNvPr id="37" name="Shape 37">
            <a:extLst>
              <a:ext uri="{FF2B5EF4-FFF2-40B4-BE49-F238E27FC236}">
                <a16:creationId xmlns:a16="http://schemas.microsoft.com/office/drawing/2014/main" id="{787F4010-EFB5-2622-E747-0ADF2E53C1D5}"/>
              </a:ext>
            </a:extLst>
          </p:cNvPr>
          <p:cNvSpPr/>
          <p:nvPr/>
        </p:nvSpPr>
        <p:spPr>
          <a:xfrm>
            <a:off x="3591098" y="3829466"/>
            <a:ext cx="50292" cy="274320"/>
          </a:xfrm>
          <a:prstGeom prst="rect">
            <a:avLst/>
          </a:prstGeom>
          <a:solidFill>
            <a:srgbClr val="7EC8E3"/>
          </a:solidFill>
          <a:ln w="12700">
            <a:solidFill>
              <a:srgbClr val="7EC8E3"/>
            </a:solidFill>
            <a:prstDash val="solid"/>
          </a:ln>
        </p:spPr>
        <p:txBody>
          <a:bodyPr/>
          <a:lstStyle/>
          <a:p>
            <a:endParaRPr lang="en-US"/>
          </a:p>
        </p:txBody>
      </p:sp>
      <p:sp>
        <p:nvSpPr>
          <p:cNvPr id="38" name="Text 38">
            <a:extLst>
              <a:ext uri="{FF2B5EF4-FFF2-40B4-BE49-F238E27FC236}">
                <a16:creationId xmlns:a16="http://schemas.microsoft.com/office/drawing/2014/main" id="{A993402D-1B4E-A7CB-49B9-60E82875C7C1}"/>
              </a:ext>
            </a:extLst>
          </p:cNvPr>
          <p:cNvSpPr/>
          <p:nvPr/>
        </p:nvSpPr>
        <p:spPr>
          <a:xfrm>
            <a:off x="2170453" y="3840896"/>
            <a:ext cx="138988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nsolas" pitchFamily="34" charset="0"/>
                <a:ea typeface="Consolas" pitchFamily="34" charset="-122"/>
                <a:cs typeface="Consolas" pitchFamily="34" charset="-120"/>
              </a:rPr>
              <a:t>conv_head</a:t>
            </a:r>
            <a:endParaRPr lang="en-US" sz="850" dirty="0"/>
          </a:p>
          <a:p>
            <a:pPr marL="0" indent="0" algn="ctr">
              <a:buNone/>
            </a:pPr>
            <a:r>
              <a:rPr lang="en-US" sz="600" i="1" dirty="0">
                <a:solidFill>
                  <a:srgbClr val="A0EED8"/>
                </a:solidFill>
                <a:latin typeface="Calibri" pitchFamily="34" charset="0"/>
                <a:ea typeface="Calibri" pitchFamily="34" charset="-122"/>
                <a:cs typeface="Calibri" pitchFamily="34" charset="-120"/>
              </a:rPr>
              <a:t>(always added)</a:t>
            </a:r>
            <a:endParaRPr lang="en-US" sz="850" dirty="0"/>
          </a:p>
        </p:txBody>
      </p:sp>
      <p:sp>
        <p:nvSpPr>
          <p:cNvPr id="40" name="Shape 40">
            <a:extLst>
              <a:ext uri="{FF2B5EF4-FFF2-40B4-BE49-F238E27FC236}">
                <a16:creationId xmlns:a16="http://schemas.microsoft.com/office/drawing/2014/main" id="{B85C0AB5-AA5F-90B6-5A79-F865665DD16C}"/>
              </a:ext>
            </a:extLst>
          </p:cNvPr>
          <p:cNvSpPr/>
          <p:nvPr/>
        </p:nvSpPr>
        <p:spPr>
          <a:xfrm>
            <a:off x="3956858" y="1010412"/>
            <a:ext cx="1426464" cy="3273552"/>
          </a:xfrm>
          <a:prstGeom prst="rect">
            <a:avLst/>
          </a:prstGeom>
          <a:solidFill>
            <a:srgbClr val="0E1A2B"/>
          </a:solidFill>
          <a:ln w="19050">
            <a:solidFill>
              <a:srgbClr val="2D6EBF"/>
            </a:solidFill>
            <a:prstDash val="solid"/>
          </a:ln>
          <a:effectLst>
            <a:outerShdw blurRad="101600" dist="38100" dir="8100000" algn="bl" rotWithShape="0">
              <a:srgbClr val="000000">
                <a:alpha val="40000"/>
              </a:srgbClr>
            </a:outerShdw>
          </a:effectLst>
        </p:spPr>
        <p:txBody>
          <a:bodyPr/>
          <a:lstStyle/>
          <a:p>
            <a:endParaRPr lang="en-US"/>
          </a:p>
        </p:txBody>
      </p:sp>
      <p:sp>
        <p:nvSpPr>
          <p:cNvPr id="41" name="Shape 41">
            <a:extLst>
              <a:ext uri="{FF2B5EF4-FFF2-40B4-BE49-F238E27FC236}">
                <a16:creationId xmlns:a16="http://schemas.microsoft.com/office/drawing/2014/main" id="{CC5D84A6-F63C-191D-BE6E-AC404F5A58B4}"/>
              </a:ext>
            </a:extLst>
          </p:cNvPr>
          <p:cNvSpPr/>
          <p:nvPr/>
        </p:nvSpPr>
        <p:spPr>
          <a:xfrm>
            <a:off x="3956858" y="1010412"/>
            <a:ext cx="1426464" cy="292608"/>
          </a:xfrm>
          <a:prstGeom prst="rect">
            <a:avLst/>
          </a:prstGeom>
          <a:solidFill>
            <a:srgbClr val="6E2D2D"/>
          </a:solidFill>
          <a:ln w="12700">
            <a:solidFill>
              <a:srgbClr val="6E2D2D"/>
            </a:solidFill>
            <a:prstDash val="solid"/>
          </a:ln>
        </p:spPr>
        <p:txBody>
          <a:bodyPr/>
          <a:lstStyle/>
          <a:p>
            <a:endParaRPr lang="en-US"/>
          </a:p>
        </p:txBody>
      </p:sp>
      <p:sp>
        <p:nvSpPr>
          <p:cNvPr id="42" name="Text 42">
            <a:extLst>
              <a:ext uri="{FF2B5EF4-FFF2-40B4-BE49-F238E27FC236}">
                <a16:creationId xmlns:a16="http://schemas.microsoft.com/office/drawing/2014/main" id="{D3EF2FB9-4ACA-5E31-8D79-3B58803A4B41}"/>
              </a:ext>
            </a:extLst>
          </p:cNvPr>
          <p:cNvSpPr/>
          <p:nvPr/>
        </p:nvSpPr>
        <p:spPr>
          <a:xfrm>
            <a:off x="3956858" y="1010412"/>
            <a:ext cx="14264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Grad-CAM Heatmap</a:t>
            </a:r>
            <a:endParaRPr lang="en-US" sz="900" dirty="0"/>
          </a:p>
        </p:txBody>
      </p:sp>
      <p:sp>
        <p:nvSpPr>
          <p:cNvPr id="43" name="Shape 43">
            <a:extLst>
              <a:ext uri="{FF2B5EF4-FFF2-40B4-BE49-F238E27FC236}">
                <a16:creationId xmlns:a16="http://schemas.microsoft.com/office/drawing/2014/main" id="{4A38B574-F75C-A6C1-2AC3-BB69A22DDB58}"/>
              </a:ext>
            </a:extLst>
          </p:cNvPr>
          <p:cNvSpPr/>
          <p:nvPr/>
        </p:nvSpPr>
        <p:spPr>
          <a:xfrm>
            <a:off x="4066586" y="1485900"/>
            <a:ext cx="1207008" cy="1444752"/>
          </a:xfrm>
          <a:prstGeom prst="rect">
            <a:avLst/>
          </a:prstGeom>
          <a:solidFill>
            <a:srgbClr val="0A2A6E"/>
          </a:solidFill>
          <a:ln w="6350">
            <a:solidFill>
              <a:srgbClr val="1A3A7E"/>
            </a:solidFill>
            <a:prstDash val="solid"/>
          </a:ln>
        </p:spPr>
        <p:txBody>
          <a:bodyPr/>
          <a:lstStyle/>
          <a:p>
            <a:endParaRPr lang="en-US"/>
          </a:p>
        </p:txBody>
      </p:sp>
      <p:sp>
        <p:nvSpPr>
          <p:cNvPr id="44" name="Shape 44">
            <a:extLst>
              <a:ext uri="{FF2B5EF4-FFF2-40B4-BE49-F238E27FC236}">
                <a16:creationId xmlns:a16="http://schemas.microsoft.com/office/drawing/2014/main" id="{A7EC115C-E778-2878-938A-103648DD74B3}"/>
              </a:ext>
            </a:extLst>
          </p:cNvPr>
          <p:cNvSpPr/>
          <p:nvPr/>
        </p:nvSpPr>
        <p:spPr>
          <a:xfrm>
            <a:off x="4126936" y="1630375"/>
            <a:ext cx="1086307" cy="1155802"/>
          </a:xfrm>
          <a:prstGeom prst="ellipse">
            <a:avLst/>
          </a:prstGeom>
          <a:solidFill>
            <a:srgbClr val="006E2A">
              <a:alpha val="80000"/>
            </a:srgbClr>
          </a:solidFill>
          <a:ln w="12700">
            <a:solidFill>
              <a:srgbClr val="006E2A"/>
            </a:solidFill>
            <a:prstDash val="solid"/>
          </a:ln>
        </p:spPr>
        <p:txBody>
          <a:bodyPr/>
          <a:lstStyle/>
          <a:p>
            <a:endParaRPr lang="en-US"/>
          </a:p>
        </p:txBody>
      </p:sp>
      <p:sp>
        <p:nvSpPr>
          <p:cNvPr id="45" name="Shape 45">
            <a:extLst>
              <a:ext uri="{FF2B5EF4-FFF2-40B4-BE49-F238E27FC236}">
                <a16:creationId xmlns:a16="http://schemas.microsoft.com/office/drawing/2014/main" id="{836A5D16-B22D-8C89-0B31-64A397BD075F}"/>
              </a:ext>
            </a:extLst>
          </p:cNvPr>
          <p:cNvSpPr/>
          <p:nvPr/>
        </p:nvSpPr>
        <p:spPr>
          <a:xfrm>
            <a:off x="4247637" y="1702613"/>
            <a:ext cx="844906" cy="939089"/>
          </a:xfrm>
          <a:prstGeom prst="ellipse">
            <a:avLst/>
          </a:prstGeom>
          <a:solidFill>
            <a:srgbClr val="B8860B">
              <a:alpha val="85000"/>
            </a:srgbClr>
          </a:solidFill>
          <a:ln w="12700">
            <a:solidFill>
              <a:srgbClr val="B8860B"/>
            </a:solidFill>
            <a:prstDash val="solid"/>
          </a:ln>
        </p:spPr>
        <p:txBody>
          <a:bodyPr/>
          <a:lstStyle/>
          <a:p>
            <a:endParaRPr lang="en-US"/>
          </a:p>
        </p:txBody>
      </p:sp>
      <p:sp>
        <p:nvSpPr>
          <p:cNvPr id="46" name="Shape 46">
            <a:extLst>
              <a:ext uri="{FF2B5EF4-FFF2-40B4-BE49-F238E27FC236}">
                <a16:creationId xmlns:a16="http://schemas.microsoft.com/office/drawing/2014/main" id="{D15C3D35-28CD-E480-4E9A-77C2E3E03BF9}"/>
              </a:ext>
            </a:extLst>
          </p:cNvPr>
          <p:cNvSpPr/>
          <p:nvPr/>
        </p:nvSpPr>
        <p:spPr>
          <a:xfrm>
            <a:off x="4368338" y="1803745"/>
            <a:ext cx="603504" cy="722376"/>
          </a:xfrm>
          <a:prstGeom prst="ellipse">
            <a:avLst/>
          </a:prstGeom>
          <a:solidFill>
            <a:srgbClr val="CC4A00">
              <a:alpha val="90000"/>
            </a:srgbClr>
          </a:solidFill>
          <a:ln w="12700">
            <a:solidFill>
              <a:srgbClr val="CC4A00"/>
            </a:solidFill>
            <a:prstDash val="solid"/>
          </a:ln>
        </p:spPr>
        <p:txBody>
          <a:bodyPr/>
          <a:lstStyle/>
          <a:p>
            <a:endParaRPr lang="en-US"/>
          </a:p>
        </p:txBody>
      </p:sp>
      <p:sp>
        <p:nvSpPr>
          <p:cNvPr id="47" name="Shape 47">
            <a:extLst>
              <a:ext uri="{FF2B5EF4-FFF2-40B4-BE49-F238E27FC236}">
                <a16:creationId xmlns:a16="http://schemas.microsoft.com/office/drawing/2014/main" id="{A1766CA4-FD7E-DF1E-C004-D104DFAE3D44}"/>
              </a:ext>
            </a:extLst>
          </p:cNvPr>
          <p:cNvSpPr/>
          <p:nvPr/>
        </p:nvSpPr>
        <p:spPr>
          <a:xfrm>
            <a:off x="4489039" y="1919326"/>
            <a:ext cx="362102" cy="505663"/>
          </a:xfrm>
          <a:prstGeom prst="ellipse">
            <a:avLst/>
          </a:prstGeom>
          <a:solidFill>
            <a:srgbClr val="CC0000"/>
          </a:solidFill>
          <a:ln w="12700">
            <a:solidFill>
              <a:srgbClr val="CC0000"/>
            </a:solidFill>
            <a:prstDash val="solid"/>
          </a:ln>
        </p:spPr>
        <p:txBody>
          <a:bodyPr/>
          <a:lstStyle/>
          <a:p>
            <a:endParaRPr lang="en-US"/>
          </a:p>
        </p:txBody>
      </p:sp>
      <p:sp>
        <p:nvSpPr>
          <p:cNvPr id="48" name="Text 48">
            <a:extLst>
              <a:ext uri="{FF2B5EF4-FFF2-40B4-BE49-F238E27FC236}">
                <a16:creationId xmlns:a16="http://schemas.microsoft.com/office/drawing/2014/main" id="{DE1436B6-AF41-38BB-72A9-B851B4D99C46}"/>
              </a:ext>
            </a:extLst>
          </p:cNvPr>
          <p:cNvSpPr/>
          <p:nvPr/>
        </p:nvSpPr>
        <p:spPr>
          <a:xfrm>
            <a:off x="4066586" y="2930652"/>
            <a:ext cx="603504" cy="146304"/>
          </a:xfrm>
          <a:prstGeom prst="rect">
            <a:avLst/>
          </a:prstGeom>
          <a:noFill/>
          <a:ln/>
        </p:spPr>
        <p:txBody>
          <a:bodyPr wrap="square" lIns="0" tIns="0" rIns="0" bIns="0" rtlCol="0" anchor="ctr"/>
          <a:lstStyle/>
          <a:p>
            <a:pPr marL="0" indent="0">
              <a:buNone/>
            </a:pPr>
            <a:r>
              <a:rPr lang="en-US" sz="600" dirty="0">
                <a:solidFill>
                  <a:srgbClr val="4A90D9"/>
                </a:solidFill>
                <a:latin typeface="Calibri" pitchFamily="34" charset="0"/>
                <a:ea typeface="Calibri" pitchFamily="34" charset="-122"/>
                <a:cs typeface="Calibri" pitchFamily="34" charset="-120"/>
              </a:rPr>
              <a:t>COOL</a:t>
            </a:r>
            <a:endParaRPr lang="en-US" sz="600" dirty="0"/>
          </a:p>
        </p:txBody>
      </p:sp>
      <p:sp>
        <p:nvSpPr>
          <p:cNvPr id="49" name="Text 49">
            <a:extLst>
              <a:ext uri="{FF2B5EF4-FFF2-40B4-BE49-F238E27FC236}">
                <a16:creationId xmlns:a16="http://schemas.microsoft.com/office/drawing/2014/main" id="{F3A5CFC1-5F33-A77F-2E2C-8FA81B7EAD08}"/>
              </a:ext>
            </a:extLst>
          </p:cNvPr>
          <p:cNvSpPr/>
          <p:nvPr/>
        </p:nvSpPr>
        <p:spPr>
          <a:xfrm>
            <a:off x="4670090" y="2930652"/>
            <a:ext cx="603504" cy="146304"/>
          </a:xfrm>
          <a:prstGeom prst="rect">
            <a:avLst/>
          </a:prstGeom>
          <a:noFill/>
          <a:ln/>
        </p:spPr>
        <p:txBody>
          <a:bodyPr wrap="square" lIns="0" tIns="0" rIns="0" bIns="0" rtlCol="0" anchor="ctr"/>
          <a:lstStyle/>
          <a:p>
            <a:pPr marL="0" indent="0" algn="r">
              <a:buNone/>
            </a:pPr>
            <a:r>
              <a:rPr lang="en-US" sz="600" dirty="0">
                <a:solidFill>
                  <a:srgbClr val="FF6B6B"/>
                </a:solidFill>
                <a:latin typeface="Calibri" pitchFamily="34" charset="0"/>
                <a:ea typeface="Calibri" pitchFamily="34" charset="-122"/>
                <a:cs typeface="Calibri" pitchFamily="34" charset="-120"/>
              </a:rPr>
              <a:t>HOT</a:t>
            </a:r>
            <a:endParaRPr lang="en-US" sz="600" dirty="0"/>
          </a:p>
        </p:txBody>
      </p:sp>
      <p:sp>
        <p:nvSpPr>
          <p:cNvPr id="50" name="Shape 50">
            <a:extLst>
              <a:ext uri="{FF2B5EF4-FFF2-40B4-BE49-F238E27FC236}">
                <a16:creationId xmlns:a16="http://schemas.microsoft.com/office/drawing/2014/main" id="{505D9689-F6D0-0DF0-AB9D-60CB3268E87C}"/>
              </a:ext>
            </a:extLst>
          </p:cNvPr>
          <p:cNvSpPr/>
          <p:nvPr/>
        </p:nvSpPr>
        <p:spPr>
          <a:xfrm>
            <a:off x="4066586" y="3058668"/>
            <a:ext cx="241402" cy="109728"/>
          </a:xfrm>
          <a:prstGeom prst="rect">
            <a:avLst/>
          </a:prstGeom>
          <a:solidFill>
            <a:srgbClr val="0A2A6E"/>
          </a:solidFill>
          <a:ln w="12700">
            <a:solidFill>
              <a:srgbClr val="0A2A6E"/>
            </a:solidFill>
            <a:prstDash val="solid"/>
          </a:ln>
        </p:spPr>
        <p:txBody>
          <a:bodyPr/>
          <a:lstStyle/>
          <a:p>
            <a:endParaRPr lang="en-US"/>
          </a:p>
        </p:txBody>
      </p:sp>
      <p:sp>
        <p:nvSpPr>
          <p:cNvPr id="51" name="Shape 51">
            <a:extLst>
              <a:ext uri="{FF2B5EF4-FFF2-40B4-BE49-F238E27FC236}">
                <a16:creationId xmlns:a16="http://schemas.microsoft.com/office/drawing/2014/main" id="{2A717B10-C234-2AA0-A8E2-CA0D7A63E6E0}"/>
              </a:ext>
            </a:extLst>
          </p:cNvPr>
          <p:cNvSpPr/>
          <p:nvPr/>
        </p:nvSpPr>
        <p:spPr>
          <a:xfrm>
            <a:off x="4307988" y="3058668"/>
            <a:ext cx="241402" cy="109728"/>
          </a:xfrm>
          <a:prstGeom prst="rect">
            <a:avLst/>
          </a:prstGeom>
          <a:solidFill>
            <a:srgbClr val="006E2A"/>
          </a:solidFill>
          <a:ln w="12700">
            <a:solidFill>
              <a:srgbClr val="006E2A"/>
            </a:solidFill>
            <a:prstDash val="solid"/>
          </a:ln>
        </p:spPr>
        <p:txBody>
          <a:bodyPr/>
          <a:lstStyle/>
          <a:p>
            <a:endParaRPr lang="en-US"/>
          </a:p>
        </p:txBody>
      </p:sp>
      <p:sp>
        <p:nvSpPr>
          <p:cNvPr id="52" name="Shape 52">
            <a:extLst>
              <a:ext uri="{FF2B5EF4-FFF2-40B4-BE49-F238E27FC236}">
                <a16:creationId xmlns:a16="http://schemas.microsoft.com/office/drawing/2014/main" id="{40877E13-D7CD-1F54-523D-568A6373DB4A}"/>
              </a:ext>
            </a:extLst>
          </p:cNvPr>
          <p:cNvSpPr/>
          <p:nvPr/>
        </p:nvSpPr>
        <p:spPr>
          <a:xfrm>
            <a:off x="4549389" y="3058668"/>
            <a:ext cx="241402" cy="109728"/>
          </a:xfrm>
          <a:prstGeom prst="rect">
            <a:avLst/>
          </a:prstGeom>
          <a:solidFill>
            <a:srgbClr val="B8860B"/>
          </a:solidFill>
          <a:ln w="12700">
            <a:solidFill>
              <a:srgbClr val="B8860B"/>
            </a:solidFill>
            <a:prstDash val="solid"/>
          </a:ln>
        </p:spPr>
        <p:txBody>
          <a:bodyPr/>
          <a:lstStyle/>
          <a:p>
            <a:endParaRPr lang="en-US"/>
          </a:p>
        </p:txBody>
      </p:sp>
      <p:sp>
        <p:nvSpPr>
          <p:cNvPr id="53" name="Shape 53">
            <a:extLst>
              <a:ext uri="{FF2B5EF4-FFF2-40B4-BE49-F238E27FC236}">
                <a16:creationId xmlns:a16="http://schemas.microsoft.com/office/drawing/2014/main" id="{541D381E-9F3E-C4FE-4AF2-BDA8F664C734}"/>
              </a:ext>
            </a:extLst>
          </p:cNvPr>
          <p:cNvSpPr/>
          <p:nvPr/>
        </p:nvSpPr>
        <p:spPr>
          <a:xfrm>
            <a:off x="4790791" y="3058668"/>
            <a:ext cx="241402" cy="109728"/>
          </a:xfrm>
          <a:prstGeom prst="rect">
            <a:avLst/>
          </a:prstGeom>
          <a:solidFill>
            <a:srgbClr val="CC4A00"/>
          </a:solidFill>
          <a:ln w="12700">
            <a:solidFill>
              <a:srgbClr val="CC4A00"/>
            </a:solidFill>
            <a:prstDash val="solid"/>
          </a:ln>
        </p:spPr>
        <p:txBody>
          <a:bodyPr/>
          <a:lstStyle/>
          <a:p>
            <a:endParaRPr lang="en-US"/>
          </a:p>
        </p:txBody>
      </p:sp>
      <p:sp>
        <p:nvSpPr>
          <p:cNvPr id="54" name="Shape 54">
            <a:extLst>
              <a:ext uri="{FF2B5EF4-FFF2-40B4-BE49-F238E27FC236}">
                <a16:creationId xmlns:a16="http://schemas.microsoft.com/office/drawing/2014/main" id="{232E98E5-50C1-F118-A30D-A8DDB46305CC}"/>
              </a:ext>
            </a:extLst>
          </p:cNvPr>
          <p:cNvSpPr/>
          <p:nvPr/>
        </p:nvSpPr>
        <p:spPr>
          <a:xfrm>
            <a:off x="5032192" y="3058668"/>
            <a:ext cx="241402" cy="109728"/>
          </a:xfrm>
          <a:prstGeom prst="rect">
            <a:avLst/>
          </a:prstGeom>
          <a:solidFill>
            <a:srgbClr val="CC0000"/>
          </a:solidFill>
          <a:ln w="12700">
            <a:solidFill>
              <a:srgbClr val="CC0000"/>
            </a:solidFill>
            <a:prstDash val="solid"/>
          </a:ln>
        </p:spPr>
        <p:txBody>
          <a:bodyPr/>
          <a:lstStyle/>
          <a:p>
            <a:endParaRPr lang="en-US"/>
          </a:p>
        </p:txBody>
      </p:sp>
      <p:sp>
        <p:nvSpPr>
          <p:cNvPr id="55" name="Shape 55">
            <a:extLst>
              <a:ext uri="{FF2B5EF4-FFF2-40B4-BE49-F238E27FC236}">
                <a16:creationId xmlns:a16="http://schemas.microsoft.com/office/drawing/2014/main" id="{171F178B-4494-1DEE-6E21-66EC0CEE3E1E}"/>
              </a:ext>
            </a:extLst>
          </p:cNvPr>
          <p:cNvSpPr/>
          <p:nvPr/>
        </p:nvSpPr>
        <p:spPr>
          <a:xfrm>
            <a:off x="4048298" y="3314700"/>
            <a:ext cx="1243584" cy="1024128"/>
          </a:xfrm>
          <a:prstGeom prst="rect">
            <a:avLst/>
          </a:prstGeom>
          <a:solidFill>
            <a:srgbClr val="0A1A2E"/>
          </a:solidFill>
          <a:ln w="12700">
            <a:solidFill>
              <a:srgbClr val="2D6EBF"/>
            </a:solidFill>
            <a:prstDash val="solid"/>
          </a:ln>
        </p:spPr>
        <p:txBody>
          <a:bodyPr/>
          <a:lstStyle/>
          <a:p>
            <a:endParaRPr lang="en-US"/>
          </a:p>
        </p:txBody>
      </p:sp>
      <p:sp>
        <p:nvSpPr>
          <p:cNvPr id="56" name="Text 56">
            <a:extLst>
              <a:ext uri="{FF2B5EF4-FFF2-40B4-BE49-F238E27FC236}">
                <a16:creationId xmlns:a16="http://schemas.microsoft.com/office/drawing/2014/main" id="{AE50BD7D-17D9-779A-941D-F07444D3B55F}"/>
              </a:ext>
            </a:extLst>
          </p:cNvPr>
          <p:cNvSpPr/>
          <p:nvPr/>
        </p:nvSpPr>
        <p:spPr>
          <a:xfrm>
            <a:off x="4066586" y="3369564"/>
            <a:ext cx="1207008" cy="201168"/>
          </a:xfrm>
          <a:prstGeom prst="rect">
            <a:avLst/>
          </a:prstGeom>
          <a:noFill/>
          <a:ln/>
        </p:spPr>
        <p:txBody>
          <a:bodyPr wrap="square" lIns="0" tIns="0" rIns="0" bIns="0" rtlCol="0" anchor="ctr"/>
          <a:lstStyle/>
          <a:p>
            <a:pPr marL="0" indent="0" algn="ctr">
              <a:buNone/>
            </a:pPr>
            <a:r>
              <a:rPr lang="en-US" sz="750" b="1" dirty="0">
                <a:solidFill>
                  <a:srgbClr val="7EC8E3"/>
                </a:solidFill>
                <a:latin typeface="Calibri" pitchFamily="34" charset="0"/>
                <a:ea typeface="Calibri" pitchFamily="34" charset="-122"/>
                <a:cs typeface="Calibri" pitchFamily="34" charset="-120"/>
              </a:rPr>
              <a:t>Foreground Overlap Score</a:t>
            </a:r>
            <a:endParaRPr lang="en-US" sz="750" dirty="0"/>
          </a:p>
        </p:txBody>
      </p:sp>
      <p:sp>
        <p:nvSpPr>
          <p:cNvPr id="57" name="Text 57">
            <a:extLst>
              <a:ext uri="{FF2B5EF4-FFF2-40B4-BE49-F238E27FC236}">
                <a16:creationId xmlns:a16="http://schemas.microsoft.com/office/drawing/2014/main" id="{0502DC74-4534-1E16-2F5B-9C8FF1DC9B5D}"/>
              </a:ext>
            </a:extLst>
          </p:cNvPr>
          <p:cNvSpPr/>
          <p:nvPr/>
        </p:nvSpPr>
        <p:spPr>
          <a:xfrm>
            <a:off x="4066586" y="3589020"/>
            <a:ext cx="1207008" cy="694944"/>
          </a:xfrm>
          <a:prstGeom prst="rect">
            <a:avLst/>
          </a:prstGeom>
          <a:noFill/>
          <a:ln/>
        </p:spPr>
        <p:txBody>
          <a:bodyPr wrap="square" lIns="0" tIns="0" rIns="0" bIns="0" rtlCol="0" anchor="t"/>
          <a:lstStyle/>
          <a:p>
            <a:pPr marL="0" indent="0" algn="ctr">
              <a:buNone/>
            </a:pPr>
            <a:r>
              <a:rPr lang="en-US" sz="800" i="1" dirty="0">
                <a:solidFill>
                  <a:srgbClr val="A8C6E8"/>
                </a:solidFill>
                <a:latin typeface="Calibri" pitchFamily="34" charset="0"/>
                <a:ea typeface="Calibri" pitchFamily="34" charset="-122"/>
                <a:cs typeface="Calibri" pitchFamily="34" charset="-120"/>
              </a:rPr>
              <a:t>"Does the heatmap</a:t>
            </a:r>
            <a:endParaRPr lang="en-US" sz="800" dirty="0"/>
          </a:p>
          <a:p>
            <a:pPr marL="0" indent="0" algn="ctr">
              <a:buNone/>
            </a:pPr>
            <a:r>
              <a:rPr lang="en-US" sz="800" i="1" dirty="0">
                <a:solidFill>
                  <a:srgbClr val="A8C6E8"/>
                </a:solidFill>
                <a:latin typeface="Calibri" pitchFamily="34" charset="0"/>
                <a:ea typeface="Calibri" pitchFamily="34" charset="-122"/>
                <a:cs typeface="Calibri" pitchFamily="34" charset="-120"/>
              </a:rPr>
              <a:t>actually point at</a:t>
            </a:r>
            <a:endParaRPr lang="en-US" sz="800" dirty="0"/>
          </a:p>
          <a:p>
            <a:pPr marL="0" indent="0" algn="ctr">
              <a:buNone/>
            </a:pPr>
            <a:r>
              <a:rPr lang="en-US" sz="800" i="1" dirty="0">
                <a:solidFill>
                  <a:srgbClr val="A8C6E8"/>
                </a:solidFill>
                <a:latin typeface="Calibri" pitchFamily="34" charset="0"/>
                <a:ea typeface="Calibri" pitchFamily="34" charset="-122"/>
                <a:cs typeface="Calibri" pitchFamily="34" charset="-120"/>
              </a:rPr>
              <a:t>the fruit?"</a:t>
            </a:r>
            <a:endParaRPr lang="en-US" sz="800" dirty="0"/>
          </a:p>
        </p:txBody>
      </p:sp>
      <p:sp>
        <p:nvSpPr>
          <p:cNvPr id="58" name="Shape 58">
            <a:extLst>
              <a:ext uri="{FF2B5EF4-FFF2-40B4-BE49-F238E27FC236}">
                <a16:creationId xmlns:a16="http://schemas.microsoft.com/office/drawing/2014/main" id="{C62AD9C8-D606-A433-C8B3-7BE78B5B63DD}"/>
              </a:ext>
            </a:extLst>
          </p:cNvPr>
          <p:cNvSpPr/>
          <p:nvPr/>
        </p:nvSpPr>
        <p:spPr>
          <a:xfrm>
            <a:off x="5383322" y="2647188"/>
            <a:ext cx="237744" cy="0"/>
          </a:xfrm>
          <a:prstGeom prst="line">
            <a:avLst/>
          </a:prstGeom>
          <a:noFill/>
          <a:ln w="25400">
            <a:solidFill>
              <a:srgbClr val="4A90D9"/>
            </a:solidFill>
            <a:prstDash val="solid"/>
            <a:tailEnd type="arrow"/>
          </a:ln>
        </p:spPr>
        <p:txBody>
          <a:bodyPr/>
          <a:lstStyle/>
          <a:p>
            <a:endParaRPr lang="en-US"/>
          </a:p>
        </p:txBody>
      </p:sp>
      <p:sp>
        <p:nvSpPr>
          <p:cNvPr id="59" name="Shape 59">
            <a:extLst>
              <a:ext uri="{FF2B5EF4-FFF2-40B4-BE49-F238E27FC236}">
                <a16:creationId xmlns:a16="http://schemas.microsoft.com/office/drawing/2014/main" id="{0B210B30-1593-9F05-DE00-6A45FA7203D4}"/>
              </a:ext>
            </a:extLst>
          </p:cNvPr>
          <p:cNvSpPr/>
          <p:nvPr/>
        </p:nvSpPr>
        <p:spPr>
          <a:xfrm>
            <a:off x="5621066" y="1010412"/>
            <a:ext cx="1444752" cy="3273552"/>
          </a:xfrm>
          <a:prstGeom prst="rect">
            <a:avLst/>
          </a:prstGeom>
          <a:solidFill>
            <a:srgbClr val="0E1A2B"/>
          </a:solidFill>
          <a:ln w="19050">
            <a:solidFill>
              <a:srgbClr val="27AE60"/>
            </a:solidFill>
            <a:prstDash val="solid"/>
          </a:ln>
          <a:effectLst>
            <a:outerShdw blurRad="101600" dist="38100" dir="8100000" algn="bl" rotWithShape="0">
              <a:srgbClr val="000000">
                <a:alpha val="40000"/>
              </a:srgbClr>
            </a:outerShdw>
          </a:effectLst>
        </p:spPr>
        <p:txBody>
          <a:bodyPr/>
          <a:lstStyle/>
          <a:p>
            <a:endParaRPr lang="en-US"/>
          </a:p>
        </p:txBody>
      </p:sp>
      <p:sp>
        <p:nvSpPr>
          <p:cNvPr id="60" name="Shape 60">
            <a:extLst>
              <a:ext uri="{FF2B5EF4-FFF2-40B4-BE49-F238E27FC236}">
                <a16:creationId xmlns:a16="http://schemas.microsoft.com/office/drawing/2014/main" id="{80F45B14-D3B8-9C1F-34FC-090003FBC485}"/>
              </a:ext>
            </a:extLst>
          </p:cNvPr>
          <p:cNvSpPr/>
          <p:nvPr/>
        </p:nvSpPr>
        <p:spPr>
          <a:xfrm>
            <a:off x="5621066" y="1010412"/>
            <a:ext cx="1444752" cy="292608"/>
          </a:xfrm>
          <a:prstGeom prst="rect">
            <a:avLst/>
          </a:prstGeom>
          <a:solidFill>
            <a:srgbClr val="1A6B35"/>
          </a:solidFill>
          <a:ln w="12700">
            <a:solidFill>
              <a:srgbClr val="1A6B35"/>
            </a:solidFill>
            <a:prstDash val="solid"/>
          </a:ln>
        </p:spPr>
        <p:txBody>
          <a:bodyPr/>
          <a:lstStyle/>
          <a:p>
            <a:endParaRPr lang="en-US"/>
          </a:p>
        </p:txBody>
      </p:sp>
      <p:sp>
        <p:nvSpPr>
          <p:cNvPr id="61" name="Text 61">
            <a:extLst>
              <a:ext uri="{FF2B5EF4-FFF2-40B4-BE49-F238E27FC236}">
                <a16:creationId xmlns:a16="http://schemas.microsoft.com/office/drawing/2014/main" id="{41B1C517-0104-5611-DEDE-7259F5354DC1}"/>
              </a:ext>
            </a:extLst>
          </p:cNvPr>
          <p:cNvSpPr/>
          <p:nvPr/>
        </p:nvSpPr>
        <p:spPr>
          <a:xfrm>
            <a:off x="5621066" y="1010412"/>
            <a:ext cx="144475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Focus Region</a:t>
            </a:r>
            <a:endParaRPr lang="en-US" sz="900" dirty="0"/>
          </a:p>
        </p:txBody>
      </p:sp>
      <p:sp>
        <p:nvSpPr>
          <p:cNvPr id="62" name="Shape 62">
            <a:extLst>
              <a:ext uri="{FF2B5EF4-FFF2-40B4-BE49-F238E27FC236}">
                <a16:creationId xmlns:a16="http://schemas.microsoft.com/office/drawing/2014/main" id="{6A5B6CF9-0599-7FE4-FA37-2C7610381AAB}"/>
              </a:ext>
            </a:extLst>
          </p:cNvPr>
          <p:cNvSpPr/>
          <p:nvPr/>
        </p:nvSpPr>
        <p:spPr>
          <a:xfrm>
            <a:off x="5822234" y="1577340"/>
            <a:ext cx="1042416" cy="1280160"/>
          </a:xfrm>
          <a:prstGeom prst="ellipse">
            <a:avLst/>
          </a:prstGeom>
          <a:solidFill>
            <a:srgbClr val="C0392B"/>
          </a:solidFill>
          <a:ln w="12700">
            <a:solidFill>
              <a:srgbClr val="922B21"/>
            </a:solidFill>
            <a:prstDash val="solid"/>
          </a:ln>
        </p:spPr>
        <p:txBody>
          <a:bodyPr/>
          <a:lstStyle/>
          <a:p>
            <a:endParaRPr lang="en-US"/>
          </a:p>
        </p:txBody>
      </p:sp>
      <p:sp>
        <p:nvSpPr>
          <p:cNvPr id="63" name="Shape 63">
            <a:extLst>
              <a:ext uri="{FF2B5EF4-FFF2-40B4-BE49-F238E27FC236}">
                <a16:creationId xmlns:a16="http://schemas.microsoft.com/office/drawing/2014/main" id="{A517D427-711E-6CFE-70A3-5356DF69F3A9}"/>
              </a:ext>
            </a:extLst>
          </p:cNvPr>
          <p:cNvSpPr/>
          <p:nvPr/>
        </p:nvSpPr>
        <p:spPr>
          <a:xfrm>
            <a:off x="5749082" y="1485900"/>
            <a:ext cx="1188720" cy="1444752"/>
          </a:xfrm>
          <a:prstGeom prst="rect">
            <a:avLst/>
          </a:prstGeom>
          <a:solidFill>
            <a:srgbClr val="071120">
              <a:alpha val="50000"/>
            </a:srgbClr>
          </a:solidFill>
          <a:ln w="12700">
            <a:solidFill>
              <a:srgbClr val="071120"/>
            </a:solidFill>
            <a:prstDash val="solid"/>
          </a:ln>
        </p:spPr>
        <p:txBody>
          <a:bodyPr/>
          <a:lstStyle/>
          <a:p>
            <a:endParaRPr lang="en-US"/>
          </a:p>
        </p:txBody>
      </p:sp>
      <p:sp>
        <p:nvSpPr>
          <p:cNvPr id="2048" name="Shape 64">
            <a:extLst>
              <a:ext uri="{FF2B5EF4-FFF2-40B4-BE49-F238E27FC236}">
                <a16:creationId xmlns:a16="http://schemas.microsoft.com/office/drawing/2014/main" id="{B5A6E422-EA15-3870-4F97-83D704A35849}"/>
              </a:ext>
            </a:extLst>
          </p:cNvPr>
          <p:cNvSpPr/>
          <p:nvPr/>
        </p:nvSpPr>
        <p:spPr>
          <a:xfrm>
            <a:off x="5913674" y="1613916"/>
            <a:ext cx="859536" cy="1188720"/>
          </a:xfrm>
          <a:prstGeom prst="ellipse">
            <a:avLst/>
          </a:prstGeom>
          <a:solidFill>
            <a:srgbClr val="C0392B"/>
          </a:solidFill>
          <a:ln w="12700">
            <a:solidFill>
              <a:srgbClr val="922B21"/>
            </a:solidFill>
            <a:prstDash val="solid"/>
          </a:ln>
        </p:spPr>
        <p:txBody>
          <a:bodyPr/>
          <a:lstStyle/>
          <a:p>
            <a:endParaRPr lang="en-US"/>
          </a:p>
        </p:txBody>
      </p:sp>
      <p:sp>
        <p:nvSpPr>
          <p:cNvPr id="2049" name="Shape 65">
            <a:extLst>
              <a:ext uri="{FF2B5EF4-FFF2-40B4-BE49-F238E27FC236}">
                <a16:creationId xmlns:a16="http://schemas.microsoft.com/office/drawing/2014/main" id="{78C47E2B-A69A-AB9F-7584-5A3CEEEED2E9}"/>
              </a:ext>
            </a:extLst>
          </p:cNvPr>
          <p:cNvSpPr/>
          <p:nvPr/>
        </p:nvSpPr>
        <p:spPr>
          <a:xfrm>
            <a:off x="5840522" y="1559052"/>
            <a:ext cx="1005840" cy="1316736"/>
          </a:xfrm>
          <a:prstGeom prst="rect">
            <a:avLst/>
          </a:prstGeom>
          <a:solidFill>
            <a:srgbClr val="FFFFFF">
              <a:alpha val="0"/>
            </a:srgbClr>
          </a:solidFill>
          <a:ln w="31750">
            <a:solidFill>
              <a:srgbClr val="2ECC71"/>
            </a:solidFill>
            <a:prstDash val="dash"/>
          </a:ln>
        </p:spPr>
        <p:txBody>
          <a:bodyPr/>
          <a:lstStyle/>
          <a:p>
            <a:endParaRPr lang="en-US"/>
          </a:p>
        </p:txBody>
      </p:sp>
      <p:sp>
        <p:nvSpPr>
          <p:cNvPr id="2050" name="Shape 66">
            <a:extLst>
              <a:ext uri="{FF2B5EF4-FFF2-40B4-BE49-F238E27FC236}">
                <a16:creationId xmlns:a16="http://schemas.microsoft.com/office/drawing/2014/main" id="{4E8D3CD7-031D-4CF3-FC93-82BC247D2E8D}"/>
              </a:ext>
            </a:extLst>
          </p:cNvPr>
          <p:cNvSpPr/>
          <p:nvPr/>
        </p:nvSpPr>
        <p:spPr>
          <a:xfrm>
            <a:off x="5776514" y="1495044"/>
            <a:ext cx="128016" cy="128016"/>
          </a:xfrm>
          <a:prstGeom prst="ellipse">
            <a:avLst/>
          </a:prstGeom>
          <a:solidFill>
            <a:srgbClr val="2ECC71"/>
          </a:solidFill>
          <a:ln w="12700">
            <a:solidFill>
              <a:srgbClr val="2ECC71"/>
            </a:solidFill>
            <a:prstDash val="solid"/>
          </a:ln>
        </p:spPr>
        <p:txBody>
          <a:bodyPr/>
          <a:lstStyle/>
          <a:p>
            <a:endParaRPr lang="en-US"/>
          </a:p>
        </p:txBody>
      </p:sp>
      <p:sp>
        <p:nvSpPr>
          <p:cNvPr id="2051" name="Shape 67">
            <a:extLst>
              <a:ext uri="{FF2B5EF4-FFF2-40B4-BE49-F238E27FC236}">
                <a16:creationId xmlns:a16="http://schemas.microsoft.com/office/drawing/2014/main" id="{8D0879E3-0C8B-5DFB-8CDC-D76726FEA5EA}"/>
              </a:ext>
            </a:extLst>
          </p:cNvPr>
          <p:cNvSpPr/>
          <p:nvPr/>
        </p:nvSpPr>
        <p:spPr>
          <a:xfrm>
            <a:off x="6690914" y="1495044"/>
            <a:ext cx="128016" cy="128016"/>
          </a:xfrm>
          <a:prstGeom prst="ellipse">
            <a:avLst/>
          </a:prstGeom>
          <a:solidFill>
            <a:srgbClr val="2ECC71"/>
          </a:solidFill>
          <a:ln w="12700">
            <a:solidFill>
              <a:srgbClr val="2ECC71"/>
            </a:solidFill>
            <a:prstDash val="solid"/>
          </a:ln>
        </p:spPr>
        <p:txBody>
          <a:bodyPr/>
          <a:lstStyle/>
          <a:p>
            <a:endParaRPr lang="en-US"/>
          </a:p>
        </p:txBody>
      </p:sp>
      <p:sp>
        <p:nvSpPr>
          <p:cNvPr id="2052" name="Shape 68">
            <a:extLst>
              <a:ext uri="{FF2B5EF4-FFF2-40B4-BE49-F238E27FC236}">
                <a16:creationId xmlns:a16="http://schemas.microsoft.com/office/drawing/2014/main" id="{ADD5587C-C91E-2609-7628-39F0FDA841B5}"/>
              </a:ext>
            </a:extLst>
          </p:cNvPr>
          <p:cNvSpPr/>
          <p:nvPr/>
        </p:nvSpPr>
        <p:spPr>
          <a:xfrm>
            <a:off x="5776514" y="2811780"/>
            <a:ext cx="128016" cy="128016"/>
          </a:xfrm>
          <a:prstGeom prst="ellipse">
            <a:avLst/>
          </a:prstGeom>
          <a:solidFill>
            <a:srgbClr val="2ECC71"/>
          </a:solidFill>
          <a:ln w="12700">
            <a:solidFill>
              <a:srgbClr val="2ECC71"/>
            </a:solidFill>
            <a:prstDash val="solid"/>
          </a:ln>
        </p:spPr>
        <p:txBody>
          <a:bodyPr/>
          <a:lstStyle/>
          <a:p>
            <a:endParaRPr lang="en-US"/>
          </a:p>
        </p:txBody>
      </p:sp>
      <p:sp>
        <p:nvSpPr>
          <p:cNvPr id="2053" name="Shape 69">
            <a:extLst>
              <a:ext uri="{FF2B5EF4-FFF2-40B4-BE49-F238E27FC236}">
                <a16:creationId xmlns:a16="http://schemas.microsoft.com/office/drawing/2014/main" id="{EF0BE849-3E03-C034-6535-F0142CA178C3}"/>
              </a:ext>
            </a:extLst>
          </p:cNvPr>
          <p:cNvSpPr/>
          <p:nvPr/>
        </p:nvSpPr>
        <p:spPr>
          <a:xfrm>
            <a:off x="6690914" y="2811780"/>
            <a:ext cx="128016" cy="128016"/>
          </a:xfrm>
          <a:prstGeom prst="ellipse">
            <a:avLst/>
          </a:prstGeom>
          <a:solidFill>
            <a:srgbClr val="2ECC71"/>
          </a:solidFill>
          <a:ln w="12700">
            <a:solidFill>
              <a:srgbClr val="2ECC71"/>
            </a:solidFill>
            <a:prstDash val="solid"/>
          </a:ln>
        </p:spPr>
        <p:txBody>
          <a:bodyPr/>
          <a:lstStyle/>
          <a:p>
            <a:endParaRPr lang="en-US"/>
          </a:p>
        </p:txBody>
      </p:sp>
      <p:sp>
        <p:nvSpPr>
          <p:cNvPr id="2054" name="Shape 70">
            <a:extLst>
              <a:ext uri="{FF2B5EF4-FFF2-40B4-BE49-F238E27FC236}">
                <a16:creationId xmlns:a16="http://schemas.microsoft.com/office/drawing/2014/main" id="{57D42F4E-6049-31B2-5E4F-1A67C69F6E3E}"/>
              </a:ext>
            </a:extLst>
          </p:cNvPr>
          <p:cNvSpPr/>
          <p:nvPr/>
        </p:nvSpPr>
        <p:spPr>
          <a:xfrm>
            <a:off x="5712506" y="3058668"/>
            <a:ext cx="1261872" cy="987552"/>
          </a:xfrm>
          <a:prstGeom prst="rect">
            <a:avLst/>
          </a:prstGeom>
          <a:solidFill>
            <a:srgbClr val="0A1A0F"/>
          </a:solidFill>
          <a:ln w="12700">
            <a:solidFill>
              <a:srgbClr val="27AE60"/>
            </a:solidFill>
            <a:prstDash val="solid"/>
          </a:ln>
        </p:spPr>
        <p:txBody>
          <a:bodyPr/>
          <a:lstStyle/>
          <a:p>
            <a:endParaRPr lang="en-US"/>
          </a:p>
        </p:txBody>
      </p:sp>
      <p:sp>
        <p:nvSpPr>
          <p:cNvPr id="2055" name="Text 71">
            <a:extLst>
              <a:ext uri="{FF2B5EF4-FFF2-40B4-BE49-F238E27FC236}">
                <a16:creationId xmlns:a16="http://schemas.microsoft.com/office/drawing/2014/main" id="{E1E817B2-0D25-80F2-EBD5-605DA28EF962}"/>
              </a:ext>
            </a:extLst>
          </p:cNvPr>
          <p:cNvSpPr/>
          <p:nvPr/>
        </p:nvSpPr>
        <p:spPr>
          <a:xfrm>
            <a:off x="5749082" y="3113532"/>
            <a:ext cx="1188720" cy="896112"/>
          </a:xfrm>
          <a:prstGeom prst="rect">
            <a:avLst/>
          </a:prstGeom>
          <a:noFill/>
          <a:ln/>
        </p:spPr>
        <p:txBody>
          <a:bodyPr wrap="square" lIns="0" tIns="0" rIns="0" bIns="0" rtlCol="0" anchor="t"/>
          <a:lstStyle/>
          <a:p>
            <a:pPr marL="0" indent="0">
              <a:buNone/>
            </a:pPr>
            <a:r>
              <a:rPr lang="en-US" sz="750" dirty="0">
                <a:solidFill>
                  <a:srgbClr val="90E8A0"/>
                </a:solidFill>
                <a:latin typeface="Calibri" pitchFamily="34" charset="0"/>
                <a:ea typeface="Calibri" pitchFamily="34" charset="-122"/>
                <a:cs typeface="Calibri" pitchFamily="34" charset="-120"/>
              </a:rPr>
              <a:t>Voted + Constrained</a:t>
            </a:r>
            <a:endParaRPr lang="en-US" sz="750" dirty="0"/>
          </a:p>
          <a:p>
            <a:pPr marL="0" indent="0">
              <a:buNone/>
            </a:pPr>
            <a:endParaRPr lang="en-US" sz="750" dirty="0"/>
          </a:p>
          <a:p>
            <a:pPr marL="0" indent="0">
              <a:buNone/>
            </a:pPr>
            <a:r>
              <a:rPr lang="en-US" sz="750" dirty="0">
                <a:solidFill>
                  <a:srgbClr val="90E8A0"/>
                </a:solidFill>
                <a:latin typeface="Calibri" pitchFamily="34" charset="0"/>
                <a:ea typeface="Calibri" pitchFamily="34" charset="-122"/>
                <a:cs typeface="Calibri" pitchFamily="34" charset="-120"/>
              </a:rPr>
              <a:t>Heatmap kept only inside foreground mask — ignores shelves, packaging, background.</a:t>
            </a:r>
            <a:endParaRPr lang="en-US" sz="750" dirty="0"/>
          </a:p>
        </p:txBody>
      </p:sp>
      <p:sp>
        <p:nvSpPr>
          <p:cNvPr id="2056" name="Shape 72">
            <a:extLst>
              <a:ext uri="{FF2B5EF4-FFF2-40B4-BE49-F238E27FC236}">
                <a16:creationId xmlns:a16="http://schemas.microsoft.com/office/drawing/2014/main" id="{9600AE32-EAD5-1B3F-4FAB-556AA4DBAFB4}"/>
              </a:ext>
            </a:extLst>
          </p:cNvPr>
          <p:cNvSpPr/>
          <p:nvPr/>
        </p:nvSpPr>
        <p:spPr>
          <a:xfrm>
            <a:off x="7065818" y="2647188"/>
            <a:ext cx="237744" cy="0"/>
          </a:xfrm>
          <a:prstGeom prst="line">
            <a:avLst/>
          </a:prstGeom>
          <a:noFill/>
          <a:ln w="25400">
            <a:solidFill>
              <a:srgbClr val="4A90D9"/>
            </a:solidFill>
            <a:prstDash val="solid"/>
            <a:tailEnd type="arrow"/>
          </a:ln>
        </p:spPr>
        <p:txBody>
          <a:bodyPr/>
          <a:lstStyle/>
          <a:p>
            <a:endParaRPr lang="en-US"/>
          </a:p>
        </p:txBody>
      </p:sp>
      <p:sp>
        <p:nvSpPr>
          <p:cNvPr id="2070" name="Shape 86">
            <a:extLst>
              <a:ext uri="{FF2B5EF4-FFF2-40B4-BE49-F238E27FC236}">
                <a16:creationId xmlns:a16="http://schemas.microsoft.com/office/drawing/2014/main" id="{C93EF8E9-76E8-B478-8DED-9023251D8D11}"/>
              </a:ext>
            </a:extLst>
          </p:cNvPr>
          <p:cNvSpPr/>
          <p:nvPr/>
        </p:nvSpPr>
        <p:spPr>
          <a:xfrm>
            <a:off x="610154" y="4393692"/>
            <a:ext cx="1005840" cy="256032"/>
          </a:xfrm>
          <a:prstGeom prst="rect">
            <a:avLst/>
          </a:prstGeom>
          <a:solidFill>
            <a:srgbClr val="2D6EBF"/>
          </a:solidFill>
          <a:ln w="12700">
            <a:solidFill>
              <a:srgbClr val="2D6EBF"/>
            </a:solidFill>
            <a:prstDash val="solid"/>
          </a:ln>
        </p:spPr>
        <p:txBody>
          <a:bodyPr/>
          <a:lstStyle/>
          <a:p>
            <a:endParaRPr lang="en-US"/>
          </a:p>
        </p:txBody>
      </p:sp>
      <p:sp>
        <p:nvSpPr>
          <p:cNvPr id="2071" name="Text 87">
            <a:extLst>
              <a:ext uri="{FF2B5EF4-FFF2-40B4-BE49-F238E27FC236}">
                <a16:creationId xmlns:a16="http://schemas.microsoft.com/office/drawing/2014/main" id="{47DB7687-77CF-B0C9-6FE1-B7AA1C7ECC17}"/>
              </a:ext>
            </a:extLst>
          </p:cNvPr>
          <p:cNvSpPr/>
          <p:nvPr/>
        </p:nvSpPr>
        <p:spPr>
          <a:xfrm>
            <a:off x="610154" y="4393692"/>
            <a:ext cx="10058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  Input</a:t>
            </a:r>
            <a:endParaRPr lang="en-US" sz="800" dirty="0"/>
          </a:p>
        </p:txBody>
      </p:sp>
      <p:sp>
        <p:nvSpPr>
          <p:cNvPr id="2072" name="Shape 88">
            <a:extLst>
              <a:ext uri="{FF2B5EF4-FFF2-40B4-BE49-F238E27FC236}">
                <a16:creationId xmlns:a16="http://schemas.microsoft.com/office/drawing/2014/main" id="{DAA665F3-CDD7-66BF-C080-01664EF08DE3}"/>
              </a:ext>
            </a:extLst>
          </p:cNvPr>
          <p:cNvSpPr/>
          <p:nvPr/>
        </p:nvSpPr>
        <p:spPr>
          <a:xfrm>
            <a:off x="2384090" y="4393692"/>
            <a:ext cx="1005840" cy="256032"/>
          </a:xfrm>
          <a:prstGeom prst="rect">
            <a:avLst/>
          </a:prstGeom>
          <a:solidFill>
            <a:srgbClr val="1A4A8A"/>
          </a:solidFill>
          <a:ln w="12700">
            <a:solidFill>
              <a:srgbClr val="1A4A8A"/>
            </a:solidFill>
            <a:prstDash val="solid"/>
          </a:ln>
        </p:spPr>
        <p:txBody>
          <a:bodyPr/>
          <a:lstStyle/>
          <a:p>
            <a:endParaRPr lang="en-US"/>
          </a:p>
        </p:txBody>
      </p:sp>
      <p:sp>
        <p:nvSpPr>
          <p:cNvPr id="2073" name="Text 89">
            <a:extLst>
              <a:ext uri="{FF2B5EF4-FFF2-40B4-BE49-F238E27FC236}">
                <a16:creationId xmlns:a16="http://schemas.microsoft.com/office/drawing/2014/main" id="{BD37AC25-6CEE-FA90-90D4-35024E7F59A0}"/>
              </a:ext>
            </a:extLst>
          </p:cNvPr>
          <p:cNvSpPr/>
          <p:nvPr/>
        </p:nvSpPr>
        <p:spPr>
          <a:xfrm>
            <a:off x="2384090" y="4393692"/>
            <a:ext cx="10058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  Backbone</a:t>
            </a:r>
            <a:endParaRPr lang="en-US" sz="800" dirty="0"/>
          </a:p>
        </p:txBody>
      </p:sp>
      <p:sp>
        <p:nvSpPr>
          <p:cNvPr id="2074" name="Shape 90">
            <a:extLst>
              <a:ext uri="{FF2B5EF4-FFF2-40B4-BE49-F238E27FC236}">
                <a16:creationId xmlns:a16="http://schemas.microsoft.com/office/drawing/2014/main" id="{7D658976-AA3C-AC4B-F661-B118EB89535F}"/>
              </a:ext>
            </a:extLst>
          </p:cNvPr>
          <p:cNvSpPr/>
          <p:nvPr/>
        </p:nvSpPr>
        <p:spPr>
          <a:xfrm>
            <a:off x="4167170" y="4393692"/>
            <a:ext cx="1005840" cy="256032"/>
          </a:xfrm>
          <a:prstGeom prst="rect">
            <a:avLst/>
          </a:prstGeom>
          <a:solidFill>
            <a:srgbClr val="6E2D2D"/>
          </a:solidFill>
          <a:ln w="12700">
            <a:solidFill>
              <a:srgbClr val="6E2D2D"/>
            </a:solidFill>
            <a:prstDash val="solid"/>
          </a:ln>
        </p:spPr>
        <p:txBody>
          <a:bodyPr/>
          <a:lstStyle/>
          <a:p>
            <a:endParaRPr lang="en-US"/>
          </a:p>
        </p:txBody>
      </p:sp>
      <p:sp>
        <p:nvSpPr>
          <p:cNvPr id="2075" name="Text 91">
            <a:extLst>
              <a:ext uri="{FF2B5EF4-FFF2-40B4-BE49-F238E27FC236}">
                <a16:creationId xmlns:a16="http://schemas.microsoft.com/office/drawing/2014/main" id="{ECA2528E-8DBF-460C-1F7E-3747C76F1465}"/>
              </a:ext>
            </a:extLst>
          </p:cNvPr>
          <p:cNvSpPr/>
          <p:nvPr/>
        </p:nvSpPr>
        <p:spPr>
          <a:xfrm>
            <a:off x="4167170" y="4393692"/>
            <a:ext cx="10058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  Grad-CAM</a:t>
            </a:r>
            <a:endParaRPr lang="en-US" sz="800" dirty="0"/>
          </a:p>
        </p:txBody>
      </p:sp>
      <p:sp>
        <p:nvSpPr>
          <p:cNvPr id="2076" name="Shape 92">
            <a:extLst>
              <a:ext uri="{FF2B5EF4-FFF2-40B4-BE49-F238E27FC236}">
                <a16:creationId xmlns:a16="http://schemas.microsoft.com/office/drawing/2014/main" id="{C1DF5AE0-ECFA-12AA-4440-8FFE88D15C7C}"/>
              </a:ext>
            </a:extLst>
          </p:cNvPr>
          <p:cNvSpPr/>
          <p:nvPr/>
        </p:nvSpPr>
        <p:spPr>
          <a:xfrm>
            <a:off x="5840522" y="4393692"/>
            <a:ext cx="1005840" cy="256032"/>
          </a:xfrm>
          <a:prstGeom prst="rect">
            <a:avLst/>
          </a:prstGeom>
          <a:solidFill>
            <a:srgbClr val="1A6B35"/>
          </a:solidFill>
          <a:ln w="12700">
            <a:solidFill>
              <a:srgbClr val="1A6B35"/>
            </a:solidFill>
            <a:prstDash val="solid"/>
          </a:ln>
        </p:spPr>
        <p:txBody>
          <a:bodyPr/>
          <a:lstStyle/>
          <a:p>
            <a:endParaRPr lang="en-US"/>
          </a:p>
        </p:txBody>
      </p:sp>
      <p:sp>
        <p:nvSpPr>
          <p:cNvPr id="2077" name="Text 93">
            <a:extLst>
              <a:ext uri="{FF2B5EF4-FFF2-40B4-BE49-F238E27FC236}">
                <a16:creationId xmlns:a16="http://schemas.microsoft.com/office/drawing/2014/main" id="{7266606C-2C0B-26C9-427A-A3322D9B4582}"/>
              </a:ext>
            </a:extLst>
          </p:cNvPr>
          <p:cNvSpPr/>
          <p:nvPr/>
        </p:nvSpPr>
        <p:spPr>
          <a:xfrm>
            <a:off x="5840522" y="4393692"/>
            <a:ext cx="10058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  Vote &amp; Mask</a:t>
            </a:r>
            <a:endParaRPr lang="en-US" sz="800" dirty="0"/>
          </a:p>
        </p:txBody>
      </p:sp>
      <p:sp>
        <p:nvSpPr>
          <p:cNvPr id="2108" name="Rectangle 2107">
            <a:extLst>
              <a:ext uri="{FF2B5EF4-FFF2-40B4-BE49-F238E27FC236}">
                <a16:creationId xmlns:a16="http://schemas.microsoft.com/office/drawing/2014/main" id="{89A480BC-47EB-C708-E0DC-36D67A22A9CC}"/>
              </a:ext>
            </a:extLst>
          </p:cNvPr>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9" name="Rectangle 2108">
            <a:extLst>
              <a:ext uri="{FF2B5EF4-FFF2-40B4-BE49-F238E27FC236}">
                <a16:creationId xmlns:a16="http://schemas.microsoft.com/office/drawing/2014/main" id="{FC75E799-2879-9275-B4FC-B58D6824EC92}"/>
              </a:ext>
            </a:extLst>
          </p:cNvPr>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0" name="TextBox 2109">
            <a:extLst>
              <a:ext uri="{FF2B5EF4-FFF2-40B4-BE49-F238E27FC236}">
                <a16:creationId xmlns:a16="http://schemas.microsoft.com/office/drawing/2014/main" id="{73223EB0-6C6F-60F7-0234-1DDD8D4AE207}"/>
              </a:ext>
            </a:extLst>
          </p:cNvPr>
          <p:cNvSpPr txBox="1"/>
          <p:nvPr/>
        </p:nvSpPr>
        <p:spPr>
          <a:xfrm>
            <a:off x="274320" y="113740"/>
            <a:ext cx="8595360" cy="430887"/>
          </a:xfrm>
          <a:prstGeom prst="rect">
            <a:avLst/>
          </a:prstGeom>
          <a:noFill/>
        </p:spPr>
        <p:txBody>
          <a:bodyPr wrap="square" lIns="45720" rIns="45720" anchor="ctr">
            <a:spAutoFit/>
          </a:bodyPr>
          <a:lstStyle/>
          <a:p>
            <a:pPr marL="0" indent="0">
              <a:buNone/>
            </a:pPr>
            <a:r>
              <a:rPr lang="en-US" sz="2200" b="1" dirty="0">
                <a:solidFill>
                  <a:srgbClr val="FFFFFF"/>
                </a:solidFill>
                <a:latin typeface="Calibri" pitchFamily="34" charset="0"/>
                <a:ea typeface="Calibri" pitchFamily="34" charset="-122"/>
                <a:cs typeface="Calibri" pitchFamily="34" charset="-120"/>
              </a:rPr>
              <a:t>4. Tapping Mechanism</a:t>
            </a:r>
            <a:endParaRPr lang="en-US" sz="2200" dirty="0"/>
          </a:p>
        </p:txBody>
      </p:sp>
      <p:sp>
        <p:nvSpPr>
          <p:cNvPr id="2112" name="Shape 67">
            <a:extLst>
              <a:ext uri="{FF2B5EF4-FFF2-40B4-BE49-F238E27FC236}">
                <a16:creationId xmlns:a16="http://schemas.microsoft.com/office/drawing/2014/main" id="{93B15C78-F5F1-F8EE-47F2-DECBC93B4328}"/>
              </a:ext>
            </a:extLst>
          </p:cNvPr>
          <p:cNvSpPr/>
          <p:nvPr/>
        </p:nvSpPr>
        <p:spPr>
          <a:xfrm>
            <a:off x="7289431" y="1010412"/>
            <a:ext cx="1316736" cy="3273552"/>
          </a:xfrm>
          <a:prstGeom prst="rect">
            <a:avLst/>
          </a:prstGeom>
          <a:solidFill>
            <a:srgbClr val="1A0A2E"/>
          </a:solidFill>
          <a:ln w="19050">
            <a:solidFill>
              <a:srgbClr val="A855F7"/>
            </a:solidFill>
            <a:prstDash val="solid"/>
          </a:ln>
          <a:effectLst>
            <a:outerShdw blurRad="101600" dist="381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3" name="Shape 68">
            <a:extLst>
              <a:ext uri="{FF2B5EF4-FFF2-40B4-BE49-F238E27FC236}">
                <a16:creationId xmlns:a16="http://schemas.microsoft.com/office/drawing/2014/main" id="{FAB1B06B-8486-50AC-C32F-3E46A49B9F95}"/>
              </a:ext>
            </a:extLst>
          </p:cNvPr>
          <p:cNvSpPr/>
          <p:nvPr/>
        </p:nvSpPr>
        <p:spPr>
          <a:xfrm>
            <a:off x="7289431" y="1010412"/>
            <a:ext cx="1316736" cy="292608"/>
          </a:xfrm>
          <a:prstGeom prst="rect">
            <a:avLst/>
          </a:prstGeom>
          <a:solidFill>
            <a:srgbClr val="5B21B6"/>
          </a:solidFill>
          <a:ln w="12700">
            <a:solidFill>
              <a:srgbClr val="5B21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4" name="Text 69">
            <a:extLst>
              <a:ext uri="{FF2B5EF4-FFF2-40B4-BE49-F238E27FC236}">
                <a16:creationId xmlns:a16="http://schemas.microsoft.com/office/drawing/2014/main" id="{6363BA60-1787-6572-D045-18FC12E67894}"/>
              </a:ext>
            </a:extLst>
          </p:cNvPr>
          <p:cNvSpPr/>
          <p:nvPr/>
        </p:nvSpPr>
        <p:spPr>
          <a:xfrm>
            <a:off x="7289431" y="1010412"/>
            <a:ext cx="1316736"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Guided Aug.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15" name="Shape 70">
            <a:extLst>
              <a:ext uri="{FF2B5EF4-FFF2-40B4-BE49-F238E27FC236}">
                <a16:creationId xmlns:a16="http://schemas.microsoft.com/office/drawing/2014/main" id="{3227D2E5-019A-DE91-6A6A-6FE7AABB87FA}"/>
              </a:ext>
            </a:extLst>
          </p:cNvPr>
          <p:cNvSpPr/>
          <p:nvPr/>
        </p:nvSpPr>
        <p:spPr>
          <a:xfrm>
            <a:off x="7399159" y="1523390"/>
            <a:ext cx="1097280" cy="859536"/>
          </a:xfrm>
          <a:prstGeom prst="rect">
            <a:avLst/>
          </a:prstGeom>
          <a:solidFill>
            <a:srgbClr val="0E0518"/>
          </a:solidFill>
          <a:ln w="12700">
            <a:solidFill>
              <a:srgbClr val="7C3AE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6" name="Shape 71">
            <a:extLst>
              <a:ext uri="{FF2B5EF4-FFF2-40B4-BE49-F238E27FC236}">
                <a16:creationId xmlns:a16="http://schemas.microsoft.com/office/drawing/2014/main" id="{041ADA54-C481-C3A9-8803-3991B7CC1268}"/>
              </a:ext>
            </a:extLst>
          </p:cNvPr>
          <p:cNvSpPr/>
          <p:nvPr/>
        </p:nvSpPr>
        <p:spPr>
          <a:xfrm>
            <a:off x="7454023" y="1596542"/>
            <a:ext cx="987552" cy="585216"/>
          </a:xfrm>
          <a:prstGeom prst="ellipse">
            <a:avLst/>
          </a:prstGeom>
          <a:solidFill>
            <a:srgbClr val="C0392B"/>
          </a:solidFill>
          <a:ln w="12700">
            <a:solidFill>
              <a:srgbClr val="922B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3" name="Text 72">
            <a:extLst>
              <a:ext uri="{FF2B5EF4-FFF2-40B4-BE49-F238E27FC236}">
                <a16:creationId xmlns:a16="http://schemas.microsoft.com/office/drawing/2014/main" id="{2281BF8F-94F0-77F0-3E06-730CF30483CB}"/>
              </a:ext>
            </a:extLst>
          </p:cNvPr>
          <p:cNvSpPr/>
          <p:nvPr/>
        </p:nvSpPr>
        <p:spPr>
          <a:xfrm>
            <a:off x="7380871" y="2172614"/>
            <a:ext cx="10972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D8B4FE"/>
                </a:solidFill>
                <a:effectLst/>
                <a:uLnTx/>
                <a:uFillTx/>
                <a:latin typeface="Calibri" pitchFamily="34" charset="0"/>
                <a:ea typeface="Calibri" pitchFamily="34" charset="-122"/>
                <a:cs typeface="Calibri" pitchFamily="34" charset="-120"/>
              </a:rPr>
              <a:t>Crop and enlarge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24" name="Shape 76">
            <a:extLst>
              <a:ext uri="{FF2B5EF4-FFF2-40B4-BE49-F238E27FC236}">
                <a16:creationId xmlns:a16="http://schemas.microsoft.com/office/drawing/2014/main" id="{1119B9AC-54C3-D70F-118F-4504F93A1C4B}"/>
              </a:ext>
            </a:extLst>
          </p:cNvPr>
          <p:cNvSpPr/>
          <p:nvPr/>
        </p:nvSpPr>
        <p:spPr>
          <a:xfrm>
            <a:off x="7399159" y="2713025"/>
            <a:ext cx="1097280" cy="1005840"/>
          </a:xfrm>
          <a:prstGeom prst="rect">
            <a:avLst/>
          </a:prstGeom>
          <a:solidFill>
            <a:srgbClr val="0E0518"/>
          </a:solidFill>
          <a:ln w="12700">
            <a:solidFill>
              <a:srgbClr val="7C3AE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5" name="Shape 77">
            <a:extLst>
              <a:ext uri="{FF2B5EF4-FFF2-40B4-BE49-F238E27FC236}">
                <a16:creationId xmlns:a16="http://schemas.microsoft.com/office/drawing/2014/main" id="{6F227971-EE6B-D856-2E88-416FF52A297F}"/>
              </a:ext>
            </a:extLst>
          </p:cNvPr>
          <p:cNvSpPr/>
          <p:nvPr/>
        </p:nvSpPr>
        <p:spPr>
          <a:xfrm>
            <a:off x="7454023" y="2786177"/>
            <a:ext cx="987552" cy="585216"/>
          </a:xfrm>
          <a:prstGeom prst="ellipse">
            <a:avLst/>
          </a:prstGeom>
          <a:solidFill>
            <a:srgbClr val="A93226"/>
          </a:solidFill>
          <a:ln w="12700">
            <a:solidFill>
              <a:srgbClr val="922B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0" name="Text 78">
            <a:extLst>
              <a:ext uri="{FF2B5EF4-FFF2-40B4-BE49-F238E27FC236}">
                <a16:creationId xmlns:a16="http://schemas.microsoft.com/office/drawing/2014/main" id="{5EE97492-6570-BD66-9477-C28B6F7B7A1F}"/>
              </a:ext>
            </a:extLst>
          </p:cNvPr>
          <p:cNvSpPr/>
          <p:nvPr/>
        </p:nvSpPr>
        <p:spPr>
          <a:xfrm>
            <a:off x="7399159" y="3462833"/>
            <a:ext cx="10972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D8B4FE"/>
                </a:solidFill>
                <a:effectLst/>
                <a:uLnTx/>
                <a:uFillTx/>
                <a:latin typeface="Calibri" pitchFamily="34" charset="0"/>
                <a:ea typeface="Calibri" pitchFamily="34" charset="-122"/>
                <a:cs typeface="Calibri" pitchFamily="34" charset="-120"/>
              </a:rPr>
              <a:t>Blur non-focused background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31" name="Text 79">
            <a:extLst>
              <a:ext uri="{FF2B5EF4-FFF2-40B4-BE49-F238E27FC236}">
                <a16:creationId xmlns:a16="http://schemas.microsoft.com/office/drawing/2014/main" id="{BE9B32A8-C84A-2DEE-385D-5449AFF0974F}"/>
              </a:ext>
            </a:extLst>
          </p:cNvPr>
          <p:cNvSpPr/>
          <p:nvPr/>
        </p:nvSpPr>
        <p:spPr>
          <a:xfrm>
            <a:off x="7380871" y="3945636"/>
            <a:ext cx="1133856" cy="42062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Only inside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focus region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32" name="Shape 88">
            <a:extLst>
              <a:ext uri="{FF2B5EF4-FFF2-40B4-BE49-F238E27FC236}">
                <a16:creationId xmlns:a16="http://schemas.microsoft.com/office/drawing/2014/main" id="{8B27A512-5552-0409-AC08-02683A0D5E12}"/>
              </a:ext>
            </a:extLst>
          </p:cNvPr>
          <p:cNvSpPr/>
          <p:nvPr/>
        </p:nvSpPr>
        <p:spPr>
          <a:xfrm>
            <a:off x="7444879" y="4393692"/>
            <a:ext cx="1005840" cy="256032"/>
          </a:xfrm>
          <a:prstGeom prst="rect">
            <a:avLst/>
          </a:prstGeom>
          <a:solidFill>
            <a:srgbClr val="5B21B6"/>
          </a:solidFill>
          <a:ln w="12700">
            <a:solidFill>
              <a:srgbClr val="5B21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3" name="Text 89">
            <a:extLst>
              <a:ext uri="{FF2B5EF4-FFF2-40B4-BE49-F238E27FC236}">
                <a16:creationId xmlns:a16="http://schemas.microsoft.com/office/drawing/2014/main" id="{C6C7F700-4CC5-6887-91AD-51F0097361F2}"/>
              </a:ext>
            </a:extLst>
          </p:cNvPr>
          <p:cNvSpPr/>
          <p:nvPr/>
        </p:nvSpPr>
        <p:spPr>
          <a:xfrm>
            <a:off x="7444879" y="4393692"/>
            <a:ext cx="1005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  Augment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2">
            <a:extLst>
              <a:ext uri="{FF2B5EF4-FFF2-40B4-BE49-F238E27FC236}">
                <a16:creationId xmlns:a16="http://schemas.microsoft.com/office/drawing/2014/main" id="{F0587009-0982-EC37-E9E2-3623BEA09091}"/>
              </a:ext>
            </a:extLst>
          </p:cNvPr>
          <p:cNvSpPr/>
          <p:nvPr/>
        </p:nvSpPr>
        <p:spPr>
          <a:xfrm>
            <a:off x="3566659" y="3177665"/>
            <a:ext cx="50292" cy="274320"/>
          </a:xfrm>
          <a:prstGeom prst="rect">
            <a:avLst/>
          </a:prstGeom>
          <a:solidFill>
            <a:srgbClr val="7EC8E3"/>
          </a:solidFill>
          <a:ln w="12700">
            <a:solidFill>
              <a:srgbClr val="7EC8E3"/>
            </a:solidFill>
            <a:prstDash val="solid"/>
          </a:ln>
        </p:spPr>
        <p:txBody>
          <a:bodyPr/>
          <a:lstStyle/>
          <a:p>
            <a:endParaRPr lang="en-US"/>
          </a:p>
        </p:txBody>
      </p:sp>
    </p:spTree>
    <p:extLst>
      <p:ext uri="{BB962C8B-B14F-4D97-AF65-F5344CB8AC3E}">
        <p14:creationId xmlns:p14="http://schemas.microsoft.com/office/powerpoint/2010/main" val="2240442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566928"/>
            <a:ext cx="9144000" cy="36576"/>
          </a:xfrm>
          <a:prstGeom prst="rect">
            <a:avLst/>
          </a:prstGeom>
          <a:solidFill>
            <a:srgbClr val="2D6EBF"/>
          </a:solidFill>
          <a:ln w="12700">
            <a:solidFill>
              <a:srgbClr val="2D6E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274320" y="0"/>
            <a:ext cx="640080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Multi-Layer Voting (MLV) — Architecture Diagram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858000" y="91440"/>
            <a:ext cx="2103120" cy="384048"/>
          </a:xfrm>
          <a:prstGeom prst="rect">
            <a:avLst/>
          </a:prstGeom>
          <a:solidFill>
            <a:srgbClr val="1A3F6F"/>
          </a:solidFill>
          <a:ln w="12700">
            <a:solidFill>
              <a:srgbClr val="3A7B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6858000" y="91440"/>
            <a:ext cx="21031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C8E3"/>
                </a:solidFill>
                <a:effectLst/>
                <a:uLnTx/>
                <a:uFillTx/>
                <a:latin typeface="Consolas" pitchFamily="34" charset="0"/>
                <a:ea typeface="Consolas" pitchFamily="34" charset="-122"/>
                <a:cs typeface="Consolas" pitchFamily="34" charset="-120"/>
              </a:rPr>
              <a:t>tap_blocks = [-1]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60858" y="1005565"/>
            <a:ext cx="1298448" cy="3273552"/>
          </a:xfrm>
          <a:prstGeom prst="rect">
            <a:avLst/>
          </a:prstGeom>
          <a:solidFill>
            <a:srgbClr val="131F30"/>
          </a:solidFill>
          <a:ln w="19050">
            <a:solidFill>
              <a:srgbClr val="2D6EBF"/>
            </a:solidFill>
            <a:prstDash val="solid"/>
          </a:ln>
          <a:effectLst>
            <a:outerShdw blurRad="101600" dist="381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60858" y="1005565"/>
            <a:ext cx="1298448" cy="292608"/>
          </a:xfrm>
          <a:prstGeom prst="rect">
            <a:avLst/>
          </a:prstGeom>
          <a:solidFill>
            <a:srgbClr val="2D6EBF"/>
          </a:solidFill>
          <a:ln w="12700">
            <a:solidFill>
              <a:srgbClr val="2D6E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60858" y="1005565"/>
            <a:ext cx="129844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INPUT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25450" y="1481053"/>
            <a:ext cx="969264" cy="1115568"/>
          </a:xfrm>
          <a:prstGeom prst="ellipse">
            <a:avLst/>
          </a:prstGeom>
          <a:solidFill>
            <a:srgbClr val="C0392B"/>
          </a:solidFill>
          <a:ln w="19050">
            <a:solidFill>
              <a:srgbClr val="922B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716890" y="1554205"/>
            <a:ext cx="274320" cy="201168"/>
          </a:xfrm>
          <a:prstGeom prst="ellipse">
            <a:avLst/>
          </a:prstGeom>
          <a:solidFill>
            <a:srgbClr val="E8A09A">
              <a:alpha val="80000"/>
            </a:srgbClr>
          </a:solidFill>
          <a:ln w="12700">
            <a:solidFill>
              <a:srgbClr val="E8A09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1064362" y="1389613"/>
            <a:ext cx="73152" cy="182880"/>
          </a:xfrm>
          <a:prstGeom prst="rect">
            <a:avLst/>
          </a:prstGeom>
          <a:solidFill>
            <a:srgbClr val="7D6608"/>
          </a:solidFill>
          <a:ln w="12700">
            <a:solidFill>
              <a:srgbClr val="7D660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06578" y="2724637"/>
            <a:ext cx="1207008"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1" dirty="0">
                <a:solidFill>
                  <a:srgbClr val="A8C6E8"/>
                </a:solidFill>
                <a:latin typeface="Calibri" pitchFamily="34" charset="0"/>
                <a:cs typeface="Calibri" pitchFamily="34" charset="-120"/>
              </a:rPr>
              <a:t>A Fruit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34010" y="3181837"/>
            <a:ext cx="1152144" cy="566928"/>
          </a:xfrm>
          <a:prstGeom prst="rect">
            <a:avLst/>
          </a:prstGeom>
          <a:solidFill>
            <a:srgbClr val="0E1A2B"/>
          </a:solidFill>
          <a:ln w="6350">
            <a:solidFill>
              <a:srgbClr val="1E3A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34010" y="3181837"/>
            <a:ext cx="1152144"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A8AB0"/>
                </a:solidFill>
                <a:effectLst/>
                <a:uLnTx/>
                <a:uFillTx/>
                <a:latin typeface="Calibri" pitchFamily="34" charset="0"/>
                <a:ea typeface="Calibri" pitchFamily="34" charset="-122"/>
                <a:cs typeface="Calibri" pitchFamily="34" charset="-120"/>
              </a:rPr>
              <a:t>+ distracting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A8AB0"/>
                </a:solidFill>
                <a:effectLst/>
                <a:uLnTx/>
                <a:uFillTx/>
                <a:latin typeface="Calibri" pitchFamily="34" charset="0"/>
                <a:ea typeface="Calibri" pitchFamily="34" charset="-122"/>
                <a:cs typeface="Calibri" pitchFamily="34" charset="-120"/>
              </a:rPr>
              <a:t>background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1759306" y="2642341"/>
            <a:ext cx="310896" cy="0"/>
          </a:xfrm>
          <a:prstGeom prst="line">
            <a:avLst/>
          </a:prstGeom>
          <a:noFill/>
          <a:ln w="25400">
            <a:solidFill>
              <a:srgbClr val="4A90D9"/>
            </a:solidFill>
            <a:prstDash val="solid"/>
            <a:tailEnd type="arrow"/>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2070202" y="1005565"/>
            <a:ext cx="1572768" cy="3273552"/>
          </a:xfrm>
          <a:prstGeom prst="rect">
            <a:avLst/>
          </a:prstGeom>
          <a:solidFill>
            <a:srgbClr val="0E1A2B"/>
          </a:solidFill>
          <a:ln w="19050">
            <a:solidFill>
              <a:srgbClr val="2D6EBF"/>
            </a:solidFill>
            <a:prstDash val="solid"/>
          </a:ln>
          <a:effectLst>
            <a:outerShdw blurRad="101600" dist="381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2070202" y="1005565"/>
            <a:ext cx="1572768" cy="292608"/>
          </a:xfrm>
          <a:prstGeom prst="rect">
            <a:avLst/>
          </a:prstGeom>
          <a:solidFill>
            <a:srgbClr val="1A4A8A"/>
          </a:solidFill>
          <a:ln w="12700">
            <a:solidFill>
              <a:srgbClr val="1A4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2070202" y="1005565"/>
            <a:ext cx="157276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EfficientNet-B3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2198218" y="1435333"/>
            <a:ext cx="1316736" cy="420624"/>
          </a:xfrm>
          <a:prstGeom prst="rect">
            <a:avLst/>
          </a:prstGeom>
          <a:solidFill>
            <a:srgbClr val="1E3A5F"/>
          </a:solidFill>
          <a:ln w="6350">
            <a:solidFill>
              <a:srgbClr val="2B4A7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2198218" y="1435333"/>
            <a:ext cx="1316736"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A8AB5"/>
                </a:solidFill>
                <a:effectLst/>
                <a:uLnTx/>
                <a:uFillTx/>
                <a:latin typeface="Calibri" pitchFamily="34" charset="0"/>
                <a:ea typeface="Calibri" pitchFamily="34" charset="-122"/>
                <a:cs typeface="Calibri" pitchFamily="34" charset="-120"/>
              </a:rPr>
              <a:t>Block 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2198218" y="1892533"/>
            <a:ext cx="1316736" cy="420624"/>
          </a:xfrm>
          <a:prstGeom prst="rect">
            <a:avLst/>
          </a:prstGeom>
          <a:solidFill>
            <a:srgbClr val="1E3A5F"/>
          </a:solidFill>
          <a:ln w="6350">
            <a:solidFill>
              <a:srgbClr val="2B4A7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2198218" y="1892533"/>
            <a:ext cx="1316736"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A8AB5"/>
                </a:solidFill>
                <a:effectLst/>
                <a:uLnTx/>
                <a:uFillTx/>
                <a:latin typeface="Calibri" pitchFamily="34" charset="0"/>
                <a:ea typeface="Calibri" pitchFamily="34" charset="-122"/>
                <a:cs typeface="Calibri" pitchFamily="34" charset="-120"/>
              </a:rPr>
              <a:t>Block 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2198218" y="2349733"/>
            <a:ext cx="1316736" cy="420624"/>
          </a:xfrm>
          <a:prstGeom prst="rect">
            <a:avLst/>
          </a:prstGeom>
          <a:solidFill>
            <a:srgbClr val="1B4A8A"/>
          </a:solidFill>
          <a:ln w="6350">
            <a:solidFill>
              <a:srgbClr val="2B4A7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2198218" y="2349733"/>
            <a:ext cx="1316736"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6A9FD0"/>
                </a:solidFill>
                <a:effectLst/>
                <a:uLnTx/>
                <a:uFillTx/>
                <a:latin typeface="Calibri" pitchFamily="34" charset="0"/>
                <a:ea typeface="Calibri" pitchFamily="34" charset="-122"/>
                <a:cs typeface="Calibri" pitchFamily="34" charset="-120"/>
              </a:rPr>
              <a:t>Block 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2198218" y="2806933"/>
            <a:ext cx="1316736" cy="420624"/>
          </a:xfrm>
          <a:prstGeom prst="rect">
            <a:avLst/>
          </a:prstGeom>
          <a:solidFill>
            <a:srgbClr val="1B4A8A"/>
          </a:solidFill>
          <a:ln w="6350">
            <a:solidFill>
              <a:srgbClr val="2B4A7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2198218" y="2806933"/>
            <a:ext cx="1316736"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6A9FD0"/>
                </a:solidFill>
                <a:effectLst/>
                <a:uLnTx/>
                <a:uFillTx/>
                <a:latin typeface="Calibri" pitchFamily="34" charset="0"/>
                <a:ea typeface="Calibri" pitchFamily="34" charset="-122"/>
                <a:cs typeface="Calibri" pitchFamily="34" charset="-120"/>
              </a:rPr>
              <a:t>Block 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2198218" y="3264133"/>
            <a:ext cx="1316736" cy="420624"/>
          </a:xfrm>
          <a:prstGeom prst="rect">
            <a:avLst/>
          </a:prstGeom>
          <a:solidFill>
            <a:srgbClr val="1A4A9A"/>
          </a:solidFill>
          <a:ln w="6350">
            <a:solidFill>
              <a:srgbClr val="2B4A7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2198218" y="3264133"/>
            <a:ext cx="1316736"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AB0E0"/>
                </a:solidFill>
                <a:effectLst/>
                <a:uLnTx/>
                <a:uFillTx/>
                <a:latin typeface="Calibri" pitchFamily="34" charset="0"/>
                <a:ea typeface="Calibri" pitchFamily="34" charset="-122"/>
                <a:cs typeface="Calibri" pitchFamily="34" charset="-120"/>
              </a:rPr>
              <a:t>Block 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2198218" y="3721333"/>
            <a:ext cx="1316736" cy="420624"/>
          </a:xfrm>
          <a:prstGeom prst="rect">
            <a:avLst/>
          </a:prstGeom>
          <a:solidFill>
            <a:srgbClr val="2D6EBF"/>
          </a:solidFill>
          <a:ln w="25400">
            <a:solidFill>
              <a:srgbClr val="7EC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2198218" y="3721333"/>
            <a:ext cx="1316736"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Block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3514954" y="3721333"/>
            <a:ext cx="54864" cy="420624"/>
          </a:xfrm>
          <a:prstGeom prst="rect">
            <a:avLst/>
          </a:prstGeom>
          <a:solidFill>
            <a:srgbClr val="7EC8E3"/>
          </a:solidFill>
          <a:ln w="12700">
            <a:solidFill>
              <a:srgbClr val="7EC8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2088490" y="3931645"/>
            <a:ext cx="109728" cy="0"/>
          </a:xfrm>
          <a:prstGeom prst="line">
            <a:avLst/>
          </a:prstGeom>
          <a:noFill/>
          <a:ln w="12700">
            <a:solidFill>
              <a:srgbClr val="7EC8E3"/>
            </a:solidFill>
            <a:prstDash val="solid"/>
            <a:tailEnd type="arrow"/>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1814170" y="3748765"/>
            <a:ext cx="27432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7EC8E3"/>
                </a:solidFill>
                <a:effectLst/>
                <a:uLnTx/>
                <a:uFillTx/>
                <a:latin typeface="Consolas" pitchFamily="34" charset="0"/>
                <a:ea typeface="Consolas" pitchFamily="34" charset="-122"/>
                <a:cs typeface="Consolas" pitchFamily="34" charset="-120"/>
              </a:rPr>
              <a:t>tap =</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7EC8E3"/>
                </a:solidFill>
                <a:effectLst/>
                <a:uLnTx/>
                <a:uFillTx/>
                <a:latin typeface="Consolas" pitchFamily="34" charset="0"/>
                <a:ea typeface="Consolas" pitchFamily="34" charset="-122"/>
                <a:cs typeface="Consolas" pitchFamily="34" charset="-120"/>
              </a:rPr>
              <a:t>[-1]</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3642970" y="2642341"/>
            <a:ext cx="274320" cy="0"/>
          </a:xfrm>
          <a:prstGeom prst="line">
            <a:avLst/>
          </a:prstGeom>
          <a:noFill/>
          <a:ln w="25400">
            <a:solidFill>
              <a:srgbClr val="4A90D9"/>
            </a:solidFill>
            <a:prstDash val="solid"/>
            <a:tailEnd type="arrow"/>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3917290" y="1005565"/>
            <a:ext cx="1463040" cy="3273552"/>
          </a:xfrm>
          <a:prstGeom prst="rect">
            <a:avLst/>
          </a:prstGeom>
          <a:solidFill>
            <a:srgbClr val="0E1A2B"/>
          </a:solidFill>
          <a:ln w="19050">
            <a:solidFill>
              <a:srgbClr val="2D6EBF"/>
            </a:solidFill>
            <a:prstDash val="solid"/>
          </a:ln>
          <a:effectLst>
            <a:outerShdw blurRad="101600" dist="381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3917290" y="1005565"/>
            <a:ext cx="1463040" cy="292608"/>
          </a:xfrm>
          <a:prstGeom prst="rect">
            <a:avLst/>
          </a:prstGeom>
          <a:solidFill>
            <a:srgbClr val="6E2D2D"/>
          </a:solidFill>
          <a:ln w="12700">
            <a:solidFill>
              <a:srgbClr val="6E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3917290" y="1005565"/>
            <a:ext cx="14630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Grad-CAM Heatmap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4027018" y="1481053"/>
            <a:ext cx="1243584" cy="1444752"/>
          </a:xfrm>
          <a:prstGeom prst="rect">
            <a:avLst/>
          </a:prstGeom>
          <a:solidFill>
            <a:srgbClr val="0A2A6E"/>
          </a:solidFill>
          <a:ln w="6350">
            <a:solidFill>
              <a:srgbClr val="1A3A7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p:cNvSpPr/>
          <p:nvPr/>
        </p:nvSpPr>
        <p:spPr>
          <a:xfrm>
            <a:off x="4089197" y="1625528"/>
            <a:ext cx="1119226" cy="1155802"/>
          </a:xfrm>
          <a:prstGeom prst="ellipse">
            <a:avLst/>
          </a:prstGeom>
          <a:solidFill>
            <a:srgbClr val="006E2A">
              <a:alpha val="80000"/>
            </a:srgbClr>
          </a:solidFill>
          <a:ln w="12700">
            <a:solidFill>
              <a:srgbClr val="006E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p:cNvSpPr/>
          <p:nvPr/>
        </p:nvSpPr>
        <p:spPr>
          <a:xfrm>
            <a:off x="4213556" y="1697766"/>
            <a:ext cx="870509" cy="939089"/>
          </a:xfrm>
          <a:prstGeom prst="ellipse">
            <a:avLst/>
          </a:prstGeom>
          <a:solidFill>
            <a:srgbClr val="B8860B">
              <a:alpha val="85000"/>
            </a:srgbClr>
          </a:solidFill>
          <a:ln w="12700">
            <a:solidFill>
              <a:srgbClr val="B8860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p:cNvSpPr/>
          <p:nvPr/>
        </p:nvSpPr>
        <p:spPr>
          <a:xfrm>
            <a:off x="4337914" y="1798898"/>
            <a:ext cx="621792" cy="722376"/>
          </a:xfrm>
          <a:prstGeom prst="ellipse">
            <a:avLst/>
          </a:prstGeom>
          <a:solidFill>
            <a:srgbClr val="CC4A00">
              <a:alpha val="90000"/>
            </a:srgbClr>
          </a:solidFill>
          <a:ln w="12700">
            <a:solidFill>
              <a:srgbClr val="CC4A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p:cNvSpPr/>
          <p:nvPr/>
        </p:nvSpPr>
        <p:spPr>
          <a:xfrm>
            <a:off x="4462272" y="1914479"/>
            <a:ext cx="373075" cy="505663"/>
          </a:xfrm>
          <a:prstGeom prst="ellipse">
            <a:avLst/>
          </a:prstGeom>
          <a:solidFill>
            <a:srgbClr val="CC0000"/>
          </a:solidFill>
          <a:ln w="12700">
            <a:solidFill>
              <a:srgbClr val="CC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4027018" y="2925805"/>
            <a:ext cx="621792"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4A90D9"/>
                </a:solidFill>
                <a:effectLst/>
                <a:uLnTx/>
                <a:uFillTx/>
                <a:latin typeface="Calibri" pitchFamily="34" charset="0"/>
                <a:ea typeface="Calibri" pitchFamily="34" charset="-122"/>
                <a:cs typeface="Calibri" pitchFamily="34" charset="-120"/>
              </a:rPr>
              <a:t>COOL</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4648810" y="2925805"/>
            <a:ext cx="621792" cy="14630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FF6B6B"/>
                </a:solidFill>
                <a:effectLst/>
                <a:uLnTx/>
                <a:uFillTx/>
                <a:latin typeface="Calibri" pitchFamily="34" charset="0"/>
                <a:ea typeface="Calibri" pitchFamily="34" charset="-122"/>
                <a:cs typeface="Calibri" pitchFamily="34" charset="-120"/>
              </a:rPr>
              <a:t>HOT</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4"/>
          <p:cNvSpPr/>
          <p:nvPr/>
        </p:nvSpPr>
        <p:spPr>
          <a:xfrm>
            <a:off x="4027018" y="3053821"/>
            <a:ext cx="248717" cy="109728"/>
          </a:xfrm>
          <a:prstGeom prst="rect">
            <a:avLst/>
          </a:prstGeom>
          <a:solidFill>
            <a:srgbClr val="0A2A6E"/>
          </a:solidFill>
          <a:ln w="12700">
            <a:solidFill>
              <a:srgbClr val="0A2A6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p:cNvSpPr/>
          <p:nvPr/>
        </p:nvSpPr>
        <p:spPr>
          <a:xfrm>
            <a:off x="4275735" y="3053821"/>
            <a:ext cx="248717" cy="109728"/>
          </a:xfrm>
          <a:prstGeom prst="rect">
            <a:avLst/>
          </a:prstGeom>
          <a:solidFill>
            <a:srgbClr val="006E2A"/>
          </a:solidFill>
          <a:ln w="12700">
            <a:solidFill>
              <a:srgbClr val="006E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p:cNvSpPr/>
          <p:nvPr/>
        </p:nvSpPr>
        <p:spPr>
          <a:xfrm>
            <a:off x="4524452" y="3053821"/>
            <a:ext cx="248717" cy="109728"/>
          </a:xfrm>
          <a:prstGeom prst="rect">
            <a:avLst/>
          </a:prstGeom>
          <a:solidFill>
            <a:srgbClr val="B8860B"/>
          </a:solidFill>
          <a:ln w="12700">
            <a:solidFill>
              <a:srgbClr val="B8860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p:cNvSpPr/>
          <p:nvPr/>
        </p:nvSpPr>
        <p:spPr>
          <a:xfrm>
            <a:off x="4773168" y="3053821"/>
            <a:ext cx="248717" cy="109728"/>
          </a:xfrm>
          <a:prstGeom prst="rect">
            <a:avLst/>
          </a:prstGeom>
          <a:solidFill>
            <a:srgbClr val="CC4A00"/>
          </a:solidFill>
          <a:ln w="12700">
            <a:solidFill>
              <a:srgbClr val="CC4A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p:cNvSpPr/>
          <p:nvPr/>
        </p:nvSpPr>
        <p:spPr>
          <a:xfrm>
            <a:off x="5021885" y="3053821"/>
            <a:ext cx="248717" cy="109728"/>
          </a:xfrm>
          <a:prstGeom prst="rect">
            <a:avLst/>
          </a:prstGeom>
          <a:solidFill>
            <a:srgbClr val="CC0000"/>
          </a:solidFill>
          <a:ln w="12700">
            <a:solidFill>
              <a:srgbClr val="CC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p:cNvSpPr/>
          <p:nvPr/>
        </p:nvSpPr>
        <p:spPr>
          <a:xfrm>
            <a:off x="4008730" y="3309853"/>
            <a:ext cx="1280160" cy="1024128"/>
          </a:xfrm>
          <a:prstGeom prst="rect">
            <a:avLst/>
          </a:prstGeom>
          <a:solidFill>
            <a:srgbClr val="0A1A2E"/>
          </a:solidFill>
          <a:ln w="12700">
            <a:solidFill>
              <a:srgbClr val="2D6E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4054450" y="3397303"/>
            <a:ext cx="124358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7EC8E3"/>
                </a:solidFill>
                <a:effectLst/>
                <a:uLnTx/>
                <a:uFillTx/>
                <a:latin typeface="Calibri" pitchFamily="34" charset="0"/>
                <a:ea typeface="Calibri" pitchFamily="34" charset="-122"/>
                <a:cs typeface="Calibri" pitchFamily="34" charset="-120"/>
              </a:rPr>
              <a:t>Foreground Overlap Score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51"/>
          <p:cNvSpPr/>
          <p:nvPr/>
        </p:nvSpPr>
        <p:spPr>
          <a:xfrm>
            <a:off x="4008730" y="3671623"/>
            <a:ext cx="1243584" cy="69494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A8C6E8"/>
                </a:solidFill>
                <a:effectLst/>
                <a:uLnTx/>
                <a:uFillTx/>
                <a:latin typeface="Calibri" pitchFamily="34" charset="0"/>
                <a:ea typeface="Calibri" pitchFamily="34" charset="-122"/>
                <a:cs typeface="Calibri" pitchFamily="34" charset="-120"/>
              </a:rPr>
              <a:t>"Does the heatmap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A8C6E8"/>
                </a:solidFill>
                <a:effectLst/>
                <a:uLnTx/>
                <a:uFillTx/>
                <a:latin typeface="Calibri" pitchFamily="34" charset="0"/>
                <a:ea typeface="Calibri" pitchFamily="34" charset="-122"/>
                <a:cs typeface="Calibri" pitchFamily="34" charset="-120"/>
              </a:rPr>
              <a:t>actually point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A8C6E8"/>
                </a:solidFill>
                <a:effectLst/>
                <a:uLnTx/>
                <a:uFillTx/>
                <a:latin typeface="Calibri" pitchFamily="34" charset="0"/>
                <a:ea typeface="Calibri" pitchFamily="34" charset="-122"/>
                <a:cs typeface="Calibri" pitchFamily="34" charset="-120"/>
              </a:rPr>
              <a:t>the fruit?"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2"/>
          <p:cNvSpPr/>
          <p:nvPr/>
        </p:nvSpPr>
        <p:spPr>
          <a:xfrm>
            <a:off x="5380330" y="2642341"/>
            <a:ext cx="256032" cy="0"/>
          </a:xfrm>
          <a:prstGeom prst="line">
            <a:avLst/>
          </a:prstGeom>
          <a:noFill/>
          <a:ln w="25400">
            <a:solidFill>
              <a:srgbClr val="4A90D9"/>
            </a:solidFill>
            <a:prstDash val="solid"/>
            <a:tailEnd type="arrow"/>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p:cNvSpPr/>
          <p:nvPr/>
        </p:nvSpPr>
        <p:spPr>
          <a:xfrm>
            <a:off x="5636362" y="1005565"/>
            <a:ext cx="1463040" cy="3273552"/>
          </a:xfrm>
          <a:prstGeom prst="rect">
            <a:avLst/>
          </a:prstGeom>
          <a:solidFill>
            <a:srgbClr val="0E1A2B"/>
          </a:solidFill>
          <a:ln w="19050">
            <a:solidFill>
              <a:srgbClr val="27AE60"/>
            </a:solidFill>
            <a:prstDash val="solid"/>
          </a:ln>
          <a:effectLst>
            <a:outerShdw blurRad="101600" dist="381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p:cNvSpPr/>
          <p:nvPr/>
        </p:nvSpPr>
        <p:spPr>
          <a:xfrm>
            <a:off x="5636362" y="1005565"/>
            <a:ext cx="1463040" cy="292608"/>
          </a:xfrm>
          <a:prstGeom prst="rect">
            <a:avLst/>
          </a:prstGeom>
          <a:solidFill>
            <a:srgbClr val="1A6B35"/>
          </a:solidFill>
          <a:ln w="12700">
            <a:solidFill>
              <a:srgbClr val="1A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5636362" y="1005565"/>
            <a:ext cx="14630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Focus Region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5837530" y="1572493"/>
            <a:ext cx="1060704" cy="1280160"/>
          </a:xfrm>
          <a:prstGeom prst="ellipse">
            <a:avLst/>
          </a:prstGeom>
          <a:solidFill>
            <a:srgbClr val="C0392B"/>
          </a:solidFill>
          <a:ln w="12700">
            <a:solidFill>
              <a:srgbClr val="922B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p:cNvSpPr/>
          <p:nvPr/>
        </p:nvSpPr>
        <p:spPr>
          <a:xfrm>
            <a:off x="5764378" y="1481053"/>
            <a:ext cx="1207008" cy="1444752"/>
          </a:xfrm>
          <a:prstGeom prst="rect">
            <a:avLst/>
          </a:prstGeom>
          <a:solidFill>
            <a:srgbClr val="071120">
              <a:alpha val="50000"/>
            </a:srgbClr>
          </a:solidFill>
          <a:ln w="12700">
            <a:solidFill>
              <a:srgbClr val="07112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p:cNvSpPr/>
          <p:nvPr/>
        </p:nvSpPr>
        <p:spPr>
          <a:xfrm>
            <a:off x="5928970" y="1609069"/>
            <a:ext cx="877824" cy="1188720"/>
          </a:xfrm>
          <a:prstGeom prst="ellipse">
            <a:avLst/>
          </a:prstGeom>
          <a:solidFill>
            <a:srgbClr val="C0392B"/>
          </a:solidFill>
          <a:ln w="12700">
            <a:solidFill>
              <a:srgbClr val="922B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p:cNvSpPr/>
          <p:nvPr/>
        </p:nvSpPr>
        <p:spPr>
          <a:xfrm>
            <a:off x="5855818" y="1554205"/>
            <a:ext cx="1024128" cy="1316736"/>
          </a:xfrm>
          <a:prstGeom prst="rect">
            <a:avLst/>
          </a:prstGeom>
          <a:solidFill>
            <a:srgbClr val="FFFFFF">
              <a:alpha val="0"/>
            </a:srgbClr>
          </a:solidFill>
          <a:ln w="31750">
            <a:solidFill>
              <a:srgbClr val="2ECC71"/>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p:cNvSpPr/>
          <p:nvPr/>
        </p:nvSpPr>
        <p:spPr>
          <a:xfrm>
            <a:off x="5791810" y="1490197"/>
            <a:ext cx="128016" cy="128016"/>
          </a:xfrm>
          <a:prstGeom prst="ellipse">
            <a:avLst/>
          </a:prstGeom>
          <a:solidFill>
            <a:srgbClr val="2ECC71"/>
          </a:solidFill>
          <a:ln w="12700">
            <a:solidFill>
              <a:srgbClr val="2ECC7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p:cNvSpPr/>
          <p:nvPr/>
        </p:nvSpPr>
        <p:spPr>
          <a:xfrm>
            <a:off x="6724498" y="1490197"/>
            <a:ext cx="128016" cy="128016"/>
          </a:xfrm>
          <a:prstGeom prst="ellipse">
            <a:avLst/>
          </a:prstGeom>
          <a:solidFill>
            <a:srgbClr val="2ECC71"/>
          </a:solidFill>
          <a:ln w="12700">
            <a:solidFill>
              <a:srgbClr val="2ECC7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p:cNvSpPr/>
          <p:nvPr/>
        </p:nvSpPr>
        <p:spPr>
          <a:xfrm>
            <a:off x="5791810" y="2806933"/>
            <a:ext cx="128016" cy="128016"/>
          </a:xfrm>
          <a:prstGeom prst="ellipse">
            <a:avLst/>
          </a:prstGeom>
          <a:solidFill>
            <a:srgbClr val="2ECC71"/>
          </a:solidFill>
          <a:ln w="12700">
            <a:solidFill>
              <a:srgbClr val="2ECC7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p:cNvSpPr/>
          <p:nvPr/>
        </p:nvSpPr>
        <p:spPr>
          <a:xfrm>
            <a:off x="6724498" y="2806933"/>
            <a:ext cx="128016" cy="128016"/>
          </a:xfrm>
          <a:prstGeom prst="ellipse">
            <a:avLst/>
          </a:prstGeom>
          <a:solidFill>
            <a:srgbClr val="2ECC71"/>
          </a:solidFill>
          <a:ln w="12700">
            <a:solidFill>
              <a:srgbClr val="2ECC7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p:cNvSpPr/>
          <p:nvPr/>
        </p:nvSpPr>
        <p:spPr>
          <a:xfrm>
            <a:off x="5727802" y="3053821"/>
            <a:ext cx="1280160" cy="1120140"/>
          </a:xfrm>
          <a:prstGeom prst="rect">
            <a:avLst/>
          </a:prstGeom>
          <a:solidFill>
            <a:srgbClr val="0A1A0F"/>
          </a:solidFill>
          <a:ln w="12700">
            <a:solidFill>
              <a:srgbClr val="27AE6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65"/>
          <p:cNvSpPr/>
          <p:nvPr/>
        </p:nvSpPr>
        <p:spPr>
          <a:xfrm>
            <a:off x="5800954" y="3330427"/>
            <a:ext cx="1207008" cy="896112"/>
          </a:xfrm>
          <a:prstGeom prst="rect">
            <a:avLst/>
          </a:prstGeom>
          <a:noFill/>
          <a:ln/>
        </p:spPr>
        <p:txBody>
          <a:bodyPr wrap="square" lIns="0" tIns="0" rIns="0" bIns="0"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0E8A0"/>
                </a:solidFill>
                <a:effectLst/>
                <a:uLnTx/>
                <a:uFillTx/>
                <a:latin typeface="Calibri" pitchFamily="34" charset="0"/>
                <a:ea typeface="Calibri" pitchFamily="34" charset="-122"/>
                <a:cs typeface="Calibri" pitchFamily="34" charset="-120"/>
              </a:rPr>
              <a:t>Heatmap is kept only inside the foreground mask — ignoring shelves, packaging, backgrounds.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Shape 66"/>
          <p:cNvSpPr/>
          <p:nvPr/>
        </p:nvSpPr>
        <p:spPr>
          <a:xfrm>
            <a:off x="7099402" y="2642341"/>
            <a:ext cx="256032" cy="0"/>
          </a:xfrm>
          <a:prstGeom prst="line">
            <a:avLst/>
          </a:prstGeom>
          <a:noFill/>
          <a:ln w="25400">
            <a:solidFill>
              <a:srgbClr val="4A90D9"/>
            </a:solidFill>
            <a:prstDash val="solid"/>
            <a:tailEnd type="arrow"/>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7"/>
          <p:cNvSpPr/>
          <p:nvPr/>
        </p:nvSpPr>
        <p:spPr>
          <a:xfrm>
            <a:off x="7355434" y="1005565"/>
            <a:ext cx="1316736" cy="3273552"/>
          </a:xfrm>
          <a:prstGeom prst="rect">
            <a:avLst/>
          </a:prstGeom>
          <a:solidFill>
            <a:srgbClr val="1A0A2E"/>
          </a:solidFill>
          <a:ln w="19050">
            <a:solidFill>
              <a:srgbClr val="A855F7"/>
            </a:solidFill>
            <a:prstDash val="solid"/>
          </a:ln>
          <a:effectLst>
            <a:outerShdw blurRad="101600" dist="381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p:cNvSpPr/>
          <p:nvPr/>
        </p:nvSpPr>
        <p:spPr>
          <a:xfrm>
            <a:off x="7355434" y="1005565"/>
            <a:ext cx="1316736" cy="292608"/>
          </a:xfrm>
          <a:prstGeom prst="rect">
            <a:avLst/>
          </a:prstGeom>
          <a:solidFill>
            <a:srgbClr val="5B21B6"/>
          </a:solidFill>
          <a:ln w="12700">
            <a:solidFill>
              <a:srgbClr val="5B21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Text 69"/>
          <p:cNvSpPr/>
          <p:nvPr/>
        </p:nvSpPr>
        <p:spPr>
          <a:xfrm>
            <a:off x="7355434" y="1005565"/>
            <a:ext cx="1316736"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Guided Aug.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Shape 70"/>
          <p:cNvSpPr/>
          <p:nvPr/>
        </p:nvSpPr>
        <p:spPr>
          <a:xfrm>
            <a:off x="7465162" y="1518543"/>
            <a:ext cx="1097280" cy="859536"/>
          </a:xfrm>
          <a:prstGeom prst="rect">
            <a:avLst/>
          </a:prstGeom>
          <a:solidFill>
            <a:srgbClr val="0E0518"/>
          </a:solidFill>
          <a:ln w="12700">
            <a:solidFill>
              <a:srgbClr val="7C3AE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p:cNvSpPr/>
          <p:nvPr/>
        </p:nvSpPr>
        <p:spPr>
          <a:xfrm>
            <a:off x="7520026" y="1591695"/>
            <a:ext cx="987552" cy="585216"/>
          </a:xfrm>
          <a:prstGeom prst="ellipse">
            <a:avLst/>
          </a:prstGeom>
          <a:solidFill>
            <a:srgbClr val="C0392B"/>
          </a:solidFill>
          <a:ln w="12700">
            <a:solidFill>
              <a:srgbClr val="922B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Text 72"/>
          <p:cNvSpPr/>
          <p:nvPr/>
        </p:nvSpPr>
        <p:spPr>
          <a:xfrm>
            <a:off x="7446874" y="2167767"/>
            <a:ext cx="10972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D8B4FE"/>
                </a:solidFill>
                <a:effectLst/>
                <a:uLnTx/>
                <a:uFillTx/>
                <a:latin typeface="Calibri" pitchFamily="34" charset="0"/>
                <a:ea typeface="Calibri" pitchFamily="34" charset="-122"/>
                <a:cs typeface="Calibri" pitchFamily="34" charset="-120"/>
              </a:rPr>
              <a:t>Crop and enlarge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Shape 76"/>
          <p:cNvSpPr/>
          <p:nvPr/>
        </p:nvSpPr>
        <p:spPr>
          <a:xfrm>
            <a:off x="7465162" y="2708178"/>
            <a:ext cx="1097280" cy="1005840"/>
          </a:xfrm>
          <a:prstGeom prst="rect">
            <a:avLst/>
          </a:prstGeom>
          <a:solidFill>
            <a:srgbClr val="0E0518"/>
          </a:solidFill>
          <a:ln w="12700">
            <a:solidFill>
              <a:srgbClr val="7C3AE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p:cNvSpPr/>
          <p:nvPr/>
        </p:nvSpPr>
        <p:spPr>
          <a:xfrm>
            <a:off x="7520026" y="2781330"/>
            <a:ext cx="987552" cy="585216"/>
          </a:xfrm>
          <a:prstGeom prst="ellipse">
            <a:avLst/>
          </a:prstGeom>
          <a:solidFill>
            <a:srgbClr val="A93226"/>
          </a:solidFill>
          <a:ln w="12700">
            <a:solidFill>
              <a:srgbClr val="922B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Text 78"/>
          <p:cNvSpPr/>
          <p:nvPr/>
        </p:nvSpPr>
        <p:spPr>
          <a:xfrm>
            <a:off x="7465162" y="3457986"/>
            <a:ext cx="10972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D8B4FE"/>
                </a:solidFill>
                <a:effectLst/>
                <a:uLnTx/>
                <a:uFillTx/>
                <a:latin typeface="Calibri" pitchFamily="34" charset="0"/>
                <a:ea typeface="Calibri" pitchFamily="34" charset="-122"/>
                <a:cs typeface="Calibri" pitchFamily="34" charset="-120"/>
              </a:rPr>
              <a:t>Blur non-focused background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Text 79"/>
          <p:cNvSpPr/>
          <p:nvPr/>
        </p:nvSpPr>
        <p:spPr>
          <a:xfrm>
            <a:off x="7446874" y="3940789"/>
            <a:ext cx="1133856" cy="42062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Only inside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B5FD"/>
                </a:solidFill>
                <a:effectLst/>
                <a:uLnTx/>
                <a:uFillTx/>
                <a:latin typeface="Calibri" pitchFamily="34" charset="0"/>
                <a:ea typeface="Calibri" pitchFamily="34" charset="-122"/>
                <a:cs typeface="Calibri" pitchFamily="34" charset="-120"/>
              </a:rPr>
              <a:t>focus region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Shape 80"/>
          <p:cNvSpPr/>
          <p:nvPr/>
        </p:nvSpPr>
        <p:spPr>
          <a:xfrm>
            <a:off x="607162" y="4388845"/>
            <a:ext cx="1005840" cy="256032"/>
          </a:xfrm>
          <a:prstGeom prst="rect">
            <a:avLst/>
          </a:prstGeom>
          <a:solidFill>
            <a:srgbClr val="2D6EBF"/>
          </a:solidFill>
          <a:ln w="12700">
            <a:solidFill>
              <a:srgbClr val="2D6E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Text 81"/>
          <p:cNvSpPr/>
          <p:nvPr/>
        </p:nvSpPr>
        <p:spPr>
          <a:xfrm>
            <a:off x="607162" y="4388845"/>
            <a:ext cx="1005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  Input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Shape 82"/>
          <p:cNvSpPr/>
          <p:nvPr/>
        </p:nvSpPr>
        <p:spPr>
          <a:xfrm>
            <a:off x="2353666" y="4388845"/>
            <a:ext cx="1005840" cy="256032"/>
          </a:xfrm>
          <a:prstGeom prst="rect">
            <a:avLst/>
          </a:prstGeom>
          <a:solidFill>
            <a:srgbClr val="1A4A8A"/>
          </a:solidFill>
          <a:ln w="12700">
            <a:solidFill>
              <a:srgbClr val="1A4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Text 83"/>
          <p:cNvSpPr/>
          <p:nvPr/>
        </p:nvSpPr>
        <p:spPr>
          <a:xfrm>
            <a:off x="2353666" y="4388845"/>
            <a:ext cx="1005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  Backbone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6" name="Shape 84"/>
          <p:cNvSpPr/>
          <p:nvPr/>
        </p:nvSpPr>
        <p:spPr>
          <a:xfrm>
            <a:off x="4145890" y="4388845"/>
            <a:ext cx="1005840" cy="256032"/>
          </a:xfrm>
          <a:prstGeom prst="rect">
            <a:avLst/>
          </a:prstGeom>
          <a:solidFill>
            <a:srgbClr val="6E2D2D"/>
          </a:solidFill>
          <a:ln w="12700">
            <a:solidFill>
              <a:srgbClr val="6E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Text 85"/>
          <p:cNvSpPr/>
          <p:nvPr/>
        </p:nvSpPr>
        <p:spPr>
          <a:xfrm>
            <a:off x="4145890" y="4388845"/>
            <a:ext cx="1005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Grad-CAM</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Shape 86"/>
          <p:cNvSpPr/>
          <p:nvPr/>
        </p:nvSpPr>
        <p:spPr>
          <a:xfrm>
            <a:off x="5864962" y="4388845"/>
            <a:ext cx="1005840" cy="256032"/>
          </a:xfrm>
          <a:prstGeom prst="rect">
            <a:avLst/>
          </a:prstGeom>
          <a:solidFill>
            <a:srgbClr val="1A6B35"/>
          </a:solidFill>
          <a:ln w="12700">
            <a:solidFill>
              <a:srgbClr val="1A6B3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Text 87"/>
          <p:cNvSpPr/>
          <p:nvPr/>
        </p:nvSpPr>
        <p:spPr>
          <a:xfrm>
            <a:off x="5864962" y="4388845"/>
            <a:ext cx="1005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  Vote &amp; Mask</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Shape 88"/>
          <p:cNvSpPr/>
          <p:nvPr/>
        </p:nvSpPr>
        <p:spPr>
          <a:xfrm>
            <a:off x="7510882" y="4388845"/>
            <a:ext cx="1005840" cy="256032"/>
          </a:xfrm>
          <a:prstGeom prst="rect">
            <a:avLst/>
          </a:prstGeom>
          <a:solidFill>
            <a:srgbClr val="5B21B6"/>
          </a:solidFill>
          <a:ln w="12700">
            <a:solidFill>
              <a:srgbClr val="5B21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Text 89"/>
          <p:cNvSpPr/>
          <p:nvPr/>
        </p:nvSpPr>
        <p:spPr>
          <a:xfrm>
            <a:off x="7510882" y="4388845"/>
            <a:ext cx="1005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  Augment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Text 90"/>
          <p:cNvSpPr/>
          <p:nvPr/>
        </p:nvSpPr>
        <p:spPr>
          <a:xfrm>
            <a:off x="201168" y="4919472"/>
            <a:ext cx="87782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4A6080"/>
                </a:solidFill>
                <a:effectLst/>
                <a:uLnTx/>
                <a:uFillTx/>
                <a:latin typeface="Calibri" pitchFamily="34" charset="0"/>
                <a:ea typeface="Calibri" pitchFamily="34" charset="-122"/>
                <a:cs typeface="Calibri" pitchFamily="34" charset="-120"/>
              </a:rPr>
              <a:t>Grad-CAM heatmaps reveal where each block "looks". The foreground mask constrains the vote to the fruit surface. Only the final block is used (tap_blocks = [-1]).</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Text 65">
            <a:extLst>
              <a:ext uri="{FF2B5EF4-FFF2-40B4-BE49-F238E27FC236}">
                <a16:creationId xmlns:a16="http://schemas.microsoft.com/office/drawing/2014/main" id="{1D15BB06-60DF-D395-5BFF-6AFFA561CB18}"/>
              </a:ext>
            </a:extLst>
          </p:cNvPr>
          <p:cNvSpPr/>
          <p:nvPr/>
        </p:nvSpPr>
        <p:spPr>
          <a:xfrm>
            <a:off x="5810098" y="3122983"/>
            <a:ext cx="1207008" cy="18687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0E8A0"/>
                </a:solidFill>
                <a:effectLst/>
                <a:uLnTx/>
                <a:uFillTx/>
                <a:latin typeface="Calibri" pitchFamily="34" charset="0"/>
                <a:ea typeface="Calibri" pitchFamily="34" charset="-122"/>
                <a:cs typeface="Calibri" pitchFamily="34" charset="-120"/>
              </a:rPr>
              <a:t>Voted + Constrained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3740"/>
            <a:ext cx="8595360" cy="430887"/>
          </a:xfrm>
          <a:prstGeom prst="rect">
            <a:avLst/>
          </a:prstGeom>
          <a:noFill/>
        </p:spPr>
        <p:txBody>
          <a:bodyPr wrap="square" lIns="45720" rIns="45720" anchor="ctr">
            <a:spAutoFit/>
          </a:bodyPr>
          <a:lstStyle/>
          <a:p>
            <a:pPr algn="l"/>
            <a:r>
              <a:rPr lang="vi-VN" sz="2200" b="1" i="0" dirty="0">
                <a:solidFill>
                  <a:srgbClr val="FFFFFF"/>
                </a:solidFill>
                <a:latin typeface="Calibri"/>
              </a:rPr>
              <a:t>5. </a:t>
            </a:r>
            <a:r>
              <a:rPr sz="2200" b="1" i="0" dirty="0">
                <a:solidFill>
                  <a:srgbClr val="FFFFFF"/>
                </a:solidFill>
                <a:latin typeface="Calibri"/>
              </a:rPr>
              <a:t>Training Technique</a:t>
            </a:r>
          </a:p>
        </p:txBody>
      </p:sp>
      <p:sp>
        <p:nvSpPr>
          <p:cNvPr id="6" name="Rectangle 5"/>
          <p:cNvSpPr/>
          <p:nvPr/>
        </p:nvSpPr>
        <p:spPr>
          <a:xfrm>
            <a:off x="228600" y="804672"/>
            <a:ext cx="2743200" cy="4572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1752" y="841248"/>
            <a:ext cx="2596896" cy="384048"/>
          </a:xfrm>
          <a:prstGeom prst="rect">
            <a:avLst/>
          </a:prstGeom>
          <a:noFill/>
        </p:spPr>
        <p:txBody>
          <a:bodyPr wrap="square" lIns="0" tIns="0" rIns="0" bIns="0" anchor="ctr">
            <a:spAutoFit/>
          </a:bodyPr>
          <a:lstStyle/>
          <a:p>
            <a:pPr algn="ctr"/>
            <a:r>
              <a:rPr sz="1200" b="1" i="0">
                <a:solidFill>
                  <a:srgbClr val="FFFFFF"/>
                </a:solidFill>
                <a:latin typeface="Calibri"/>
              </a:rPr>
              <a:t>Stage 1 — Foundation Training</a:t>
            </a:r>
          </a:p>
        </p:txBody>
      </p:sp>
      <p:sp>
        <p:nvSpPr>
          <p:cNvPr id="8" name="Rectangle 7"/>
          <p:cNvSpPr/>
          <p:nvPr/>
        </p:nvSpPr>
        <p:spPr>
          <a:xfrm>
            <a:off x="228600" y="1261872"/>
            <a:ext cx="2743200" cy="274320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8328" y="1335024"/>
            <a:ext cx="2542032" cy="2596896"/>
          </a:xfrm>
          <a:prstGeom prst="rect">
            <a:avLst/>
          </a:prstGeom>
          <a:noFill/>
        </p:spPr>
        <p:txBody>
          <a:bodyPr wrap="square" lIns="0" tIns="0" rIns="0" bIns="0">
            <a:spAutoFit/>
          </a:bodyPr>
          <a:lstStyle/>
          <a:p>
            <a:pPr algn="l"/>
            <a:r>
              <a:rPr sz="1100" b="0" i="0" dirty="0">
                <a:solidFill>
                  <a:srgbClr val="1A1A2E"/>
                </a:solidFill>
                <a:latin typeface="Calibri"/>
              </a:rPr>
              <a:t>• Train on original phone images (30 epochs)
• Frozen backbone first, then top 3 blocks unfrozen
• Goal: build reliable fruit features
• Generate Grad-CAM heat maps</a:t>
            </a:r>
          </a:p>
        </p:txBody>
      </p:sp>
      <p:sp>
        <p:nvSpPr>
          <p:cNvPr id="10" name="TextBox 9"/>
          <p:cNvSpPr txBox="1"/>
          <p:nvPr/>
        </p:nvSpPr>
        <p:spPr>
          <a:xfrm>
            <a:off x="2971800" y="1993392"/>
            <a:ext cx="228600" cy="365760"/>
          </a:xfrm>
          <a:prstGeom prst="rect">
            <a:avLst/>
          </a:prstGeom>
          <a:noFill/>
        </p:spPr>
        <p:txBody>
          <a:bodyPr wrap="square" lIns="45720" rIns="45720">
            <a:spAutoFit/>
          </a:bodyPr>
          <a:lstStyle/>
          <a:p>
            <a:pPr algn="ctr"/>
            <a:r>
              <a:rPr sz="2200" b="1" i="0">
                <a:solidFill>
                  <a:srgbClr val="2E74B5"/>
                </a:solidFill>
                <a:latin typeface="Calibri"/>
              </a:rPr>
              <a:t>→</a:t>
            </a:r>
          </a:p>
        </p:txBody>
      </p:sp>
      <p:sp>
        <p:nvSpPr>
          <p:cNvPr id="11" name="Rectangle 10"/>
          <p:cNvSpPr/>
          <p:nvPr/>
        </p:nvSpPr>
        <p:spPr>
          <a:xfrm>
            <a:off x="3200400" y="804672"/>
            <a:ext cx="2743200" cy="4572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73552" y="841248"/>
            <a:ext cx="2596896" cy="384048"/>
          </a:xfrm>
          <a:prstGeom prst="rect">
            <a:avLst/>
          </a:prstGeom>
          <a:noFill/>
        </p:spPr>
        <p:txBody>
          <a:bodyPr wrap="square" lIns="0" tIns="0" rIns="0" bIns="0" anchor="ctr">
            <a:spAutoFit/>
          </a:bodyPr>
          <a:lstStyle/>
          <a:p>
            <a:pPr algn="ctr"/>
            <a:r>
              <a:rPr sz="1200" b="1" i="0">
                <a:solidFill>
                  <a:srgbClr val="FFFFFF"/>
                </a:solidFill>
                <a:latin typeface="Calibri"/>
              </a:rPr>
              <a:t>Stage 2 — Guided Augmentation</a:t>
            </a:r>
          </a:p>
        </p:txBody>
      </p:sp>
      <p:sp>
        <p:nvSpPr>
          <p:cNvPr id="13" name="Rectangle 12"/>
          <p:cNvSpPr/>
          <p:nvPr/>
        </p:nvSpPr>
        <p:spPr>
          <a:xfrm>
            <a:off x="3200400" y="1261872"/>
            <a:ext cx="2743200" cy="274320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10128" y="1335024"/>
            <a:ext cx="2542032" cy="2596896"/>
          </a:xfrm>
          <a:prstGeom prst="rect">
            <a:avLst/>
          </a:prstGeom>
          <a:noFill/>
        </p:spPr>
        <p:txBody>
          <a:bodyPr wrap="square" lIns="0" tIns="0" rIns="0" bIns="0">
            <a:spAutoFit/>
          </a:bodyPr>
          <a:lstStyle/>
          <a:p>
            <a:pPr algn="l"/>
            <a:r>
              <a:rPr sz="1100" b="0" i="0">
                <a:solidFill>
                  <a:srgbClr val="1A1A2E"/>
                </a:solidFill>
                <a:latin typeface="Calibri"/>
              </a:rPr>
              <a:t>• Use heat maps to apply smart augmentation:
  – Blur backgrounds outside the fruit region
  – Crop &amp; enlarge the high-attention fruit area
• Train for another 30 epochs
• Top 4 backbone blocks unfrozen</a:t>
            </a:r>
          </a:p>
        </p:txBody>
      </p:sp>
      <p:sp>
        <p:nvSpPr>
          <p:cNvPr id="15" name="TextBox 14"/>
          <p:cNvSpPr txBox="1"/>
          <p:nvPr/>
        </p:nvSpPr>
        <p:spPr>
          <a:xfrm>
            <a:off x="5943600" y="1993392"/>
            <a:ext cx="228600" cy="365760"/>
          </a:xfrm>
          <a:prstGeom prst="rect">
            <a:avLst/>
          </a:prstGeom>
          <a:noFill/>
        </p:spPr>
        <p:txBody>
          <a:bodyPr wrap="square" lIns="45720" rIns="45720">
            <a:spAutoFit/>
          </a:bodyPr>
          <a:lstStyle/>
          <a:p>
            <a:pPr algn="ctr"/>
            <a:r>
              <a:rPr sz="2200" b="1" i="0">
                <a:solidFill>
                  <a:srgbClr val="2E74B5"/>
                </a:solidFill>
                <a:latin typeface="Calibri"/>
              </a:rPr>
              <a:t>→</a:t>
            </a:r>
          </a:p>
        </p:txBody>
      </p:sp>
      <p:sp>
        <p:nvSpPr>
          <p:cNvPr id="16" name="Rectangle 15"/>
          <p:cNvSpPr/>
          <p:nvPr/>
        </p:nvSpPr>
        <p:spPr>
          <a:xfrm>
            <a:off x="6172200" y="804672"/>
            <a:ext cx="2743200" cy="457200"/>
          </a:xfrm>
          <a:prstGeom prst="rect">
            <a:avLst/>
          </a:prstGeom>
          <a:solidFill>
            <a:srgbClr val="126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45352" y="841248"/>
            <a:ext cx="2596896" cy="384048"/>
          </a:xfrm>
          <a:prstGeom prst="rect">
            <a:avLst/>
          </a:prstGeom>
          <a:noFill/>
        </p:spPr>
        <p:txBody>
          <a:bodyPr wrap="square" lIns="0" tIns="0" rIns="0" bIns="0" anchor="ctr">
            <a:spAutoFit/>
          </a:bodyPr>
          <a:lstStyle/>
          <a:p>
            <a:pPr algn="ctr"/>
            <a:r>
              <a:rPr sz="1200" b="1" i="0">
                <a:solidFill>
                  <a:srgbClr val="FFFFFF"/>
                </a:solidFill>
                <a:latin typeface="Calibri"/>
              </a:rPr>
              <a:t>Phase 3 — Robot Fine-Tuning</a:t>
            </a:r>
          </a:p>
        </p:txBody>
      </p:sp>
      <p:sp>
        <p:nvSpPr>
          <p:cNvPr id="18" name="Rectangle 17"/>
          <p:cNvSpPr/>
          <p:nvPr/>
        </p:nvSpPr>
        <p:spPr>
          <a:xfrm>
            <a:off x="6172200" y="1261872"/>
            <a:ext cx="2743200" cy="274320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81928" y="1335024"/>
            <a:ext cx="2542032" cy="2596896"/>
          </a:xfrm>
          <a:prstGeom prst="rect">
            <a:avLst/>
          </a:prstGeom>
          <a:noFill/>
        </p:spPr>
        <p:txBody>
          <a:bodyPr wrap="square" lIns="0" tIns="0" rIns="0" bIns="0">
            <a:spAutoFit/>
          </a:bodyPr>
          <a:lstStyle/>
          <a:p>
            <a:pPr algn="l"/>
            <a:r>
              <a:rPr sz="1100" b="0" i="0">
                <a:solidFill>
                  <a:srgbClr val="1A1A2E"/>
                </a:solidFill>
                <a:latin typeface="Calibri"/>
              </a:rPr>
              <a:t>• Start from best Stage 2 checkpoint
• 15 epochs on ~20 robot images per class
• Adapts to new camera environment quickly
• Robot images kept fully separate until here</a:t>
            </a:r>
          </a:p>
        </p:txBody>
      </p:sp>
      <p:sp>
        <p:nvSpPr>
          <p:cNvPr id="20" name="TextBox 19"/>
          <p:cNvSpPr txBox="1"/>
          <p:nvPr/>
        </p:nvSpPr>
        <p:spPr>
          <a:xfrm>
            <a:off x="228600" y="4224528"/>
            <a:ext cx="8686800" cy="784830"/>
          </a:xfrm>
          <a:prstGeom prst="rect">
            <a:avLst/>
          </a:prstGeom>
          <a:noFill/>
        </p:spPr>
        <p:txBody>
          <a:bodyPr wrap="square" lIns="45720" rIns="45720">
            <a:spAutoFit/>
          </a:bodyPr>
          <a:lstStyle/>
          <a:p>
            <a:pPr algn="l"/>
            <a:r>
              <a:rPr sz="1500" b="1" i="1" dirty="0">
                <a:latin typeface="Calibri"/>
              </a:rPr>
              <a:t>Why two stages?  </a:t>
            </a:r>
            <a:r>
              <a:rPr sz="1500" b="0" i="1" dirty="0">
                <a:latin typeface="Calibri"/>
              </a:rPr>
              <a:t>The model must first learn to classify fruit before its attention maps become reliable enough to guide augmentation. Applying Grad-CAM guidance from scratch would be circular — the model has nothing meaningful to attend to yet.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3740"/>
            <a:ext cx="8595360" cy="430887"/>
          </a:xfrm>
          <a:prstGeom prst="rect">
            <a:avLst/>
          </a:prstGeom>
          <a:noFill/>
        </p:spPr>
        <p:txBody>
          <a:bodyPr wrap="square" lIns="45720" rIns="45720" anchor="ctr">
            <a:spAutoFit/>
          </a:bodyPr>
          <a:lstStyle/>
          <a:p>
            <a:pPr algn="l"/>
            <a:r>
              <a:rPr lang="en-US" sz="2200" b="1" dirty="0">
                <a:solidFill>
                  <a:srgbClr val="FFFFFF"/>
                </a:solidFill>
                <a:latin typeface="Calibri"/>
              </a:rPr>
              <a:t>6</a:t>
            </a:r>
            <a:r>
              <a:rPr sz="2200" b="1" i="0" dirty="0">
                <a:solidFill>
                  <a:srgbClr val="FFFFFF"/>
                </a:solidFill>
                <a:latin typeface="Calibri"/>
              </a:rPr>
              <a:t>. Results</a:t>
            </a:r>
            <a:r>
              <a:rPr lang="en-US" sz="2200" b="1" i="0" dirty="0">
                <a:solidFill>
                  <a:srgbClr val="FFFFFF"/>
                </a:solidFill>
                <a:latin typeface="Calibri"/>
              </a:rPr>
              <a:t>: </a:t>
            </a:r>
            <a:r>
              <a:rPr sz="2200" b="1" i="0" dirty="0">
                <a:solidFill>
                  <a:srgbClr val="FFFFFF"/>
                </a:solidFill>
                <a:latin typeface="Calibri"/>
              </a:rPr>
              <a:t>Standard 20-Class Performance</a:t>
            </a:r>
          </a:p>
        </p:txBody>
      </p:sp>
      <p:sp>
        <p:nvSpPr>
          <p:cNvPr id="6" name="Rectangle 5"/>
          <p:cNvSpPr/>
          <p:nvPr/>
        </p:nvSpPr>
        <p:spPr>
          <a:xfrm>
            <a:off x="274320" y="841248"/>
            <a:ext cx="2029968" cy="12344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0"/>
            <a:ext cx="1847088" cy="641908"/>
          </a:xfrm>
          <a:prstGeom prst="rect">
            <a:avLst/>
          </a:prstGeom>
          <a:noFill/>
        </p:spPr>
        <p:txBody>
          <a:bodyPr wrap="square" lIns="0" tIns="0" rIns="0" bIns="0" anchor="ctr">
            <a:spAutoFit/>
          </a:bodyPr>
          <a:lstStyle/>
          <a:p>
            <a:pPr algn="ctr"/>
            <a:r>
              <a:rPr sz="2800" b="1" i="0">
                <a:solidFill>
                  <a:srgbClr val="1E8855"/>
                </a:solidFill>
                <a:latin typeface="Calibri"/>
              </a:rPr>
              <a:t>91.55%</a:t>
            </a:r>
          </a:p>
        </p:txBody>
      </p:sp>
      <p:sp>
        <p:nvSpPr>
          <p:cNvPr id="8" name="TextBox 7"/>
          <p:cNvSpPr txBox="1"/>
          <p:nvPr/>
        </p:nvSpPr>
        <p:spPr>
          <a:xfrm>
            <a:off x="320040" y="1520190"/>
            <a:ext cx="1938528" cy="370332"/>
          </a:xfrm>
          <a:prstGeom prst="rect">
            <a:avLst/>
          </a:prstGeom>
          <a:noFill/>
        </p:spPr>
        <p:txBody>
          <a:bodyPr wrap="square" lIns="0" tIns="0" rIns="0" bIns="0" anchor="ctr">
            <a:spAutoFit/>
          </a:bodyPr>
          <a:lstStyle/>
          <a:p>
            <a:pPr algn="ctr"/>
            <a:r>
              <a:rPr sz="1100" b="0" i="0">
                <a:solidFill>
                  <a:srgbClr val="1F497D"/>
                </a:solidFill>
                <a:latin typeface="Calibri"/>
              </a:rPr>
              <a:t>Test Accuracy</a:t>
            </a:r>
          </a:p>
        </p:txBody>
      </p:sp>
      <p:sp>
        <p:nvSpPr>
          <p:cNvPr id="9" name="TextBox 8"/>
          <p:cNvSpPr txBox="1"/>
          <p:nvPr/>
        </p:nvSpPr>
        <p:spPr>
          <a:xfrm>
            <a:off x="320040" y="1853488"/>
            <a:ext cx="1938528" cy="222199"/>
          </a:xfrm>
          <a:prstGeom prst="rect">
            <a:avLst/>
          </a:prstGeom>
          <a:noFill/>
        </p:spPr>
        <p:txBody>
          <a:bodyPr wrap="square" lIns="0" tIns="0" rIns="0" bIns="0" anchor="ctr">
            <a:spAutoFit/>
          </a:bodyPr>
          <a:lstStyle/>
          <a:p>
            <a:pPr algn="ctr"/>
            <a:r>
              <a:rPr sz="900" b="0" i="1">
                <a:solidFill>
                  <a:srgbClr val="606060"/>
                </a:solidFill>
                <a:latin typeface="Calibri"/>
              </a:rPr>
              <a:t>426 images</a:t>
            </a:r>
          </a:p>
        </p:txBody>
      </p:sp>
      <p:sp>
        <p:nvSpPr>
          <p:cNvPr id="10" name="Rectangle 9"/>
          <p:cNvSpPr/>
          <p:nvPr/>
        </p:nvSpPr>
        <p:spPr>
          <a:xfrm>
            <a:off x="2911415" y="841248"/>
            <a:ext cx="2029968" cy="12344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02856" y="914400"/>
            <a:ext cx="1847088" cy="641908"/>
          </a:xfrm>
          <a:prstGeom prst="rect">
            <a:avLst/>
          </a:prstGeom>
          <a:noFill/>
        </p:spPr>
        <p:txBody>
          <a:bodyPr wrap="square" lIns="0" tIns="0" rIns="0" bIns="0" anchor="ctr">
            <a:spAutoFit/>
          </a:bodyPr>
          <a:lstStyle/>
          <a:p>
            <a:pPr algn="ctr"/>
            <a:r>
              <a:rPr sz="2800" b="1" i="0">
                <a:solidFill>
                  <a:srgbClr val="1E8855"/>
                </a:solidFill>
                <a:latin typeface="Calibri"/>
              </a:rPr>
              <a:t>0.9098</a:t>
            </a:r>
          </a:p>
        </p:txBody>
      </p:sp>
      <p:sp>
        <p:nvSpPr>
          <p:cNvPr id="12" name="TextBox 11"/>
          <p:cNvSpPr txBox="1"/>
          <p:nvPr/>
        </p:nvSpPr>
        <p:spPr>
          <a:xfrm>
            <a:off x="2957135" y="1520190"/>
            <a:ext cx="1938528" cy="370332"/>
          </a:xfrm>
          <a:prstGeom prst="rect">
            <a:avLst/>
          </a:prstGeom>
          <a:noFill/>
        </p:spPr>
        <p:txBody>
          <a:bodyPr wrap="square" lIns="0" tIns="0" rIns="0" bIns="0" anchor="ctr">
            <a:spAutoFit/>
          </a:bodyPr>
          <a:lstStyle/>
          <a:p>
            <a:pPr algn="ctr"/>
            <a:r>
              <a:rPr sz="1100" b="0" i="0">
                <a:solidFill>
                  <a:srgbClr val="1F497D"/>
                </a:solidFill>
                <a:latin typeface="Calibri"/>
              </a:rPr>
              <a:t>Macro F1 Score</a:t>
            </a:r>
          </a:p>
        </p:txBody>
      </p:sp>
      <p:sp>
        <p:nvSpPr>
          <p:cNvPr id="13" name="TextBox 12"/>
          <p:cNvSpPr txBox="1"/>
          <p:nvPr/>
        </p:nvSpPr>
        <p:spPr>
          <a:xfrm>
            <a:off x="2957135" y="1853488"/>
            <a:ext cx="1938528" cy="222199"/>
          </a:xfrm>
          <a:prstGeom prst="rect">
            <a:avLst/>
          </a:prstGeom>
          <a:noFill/>
        </p:spPr>
        <p:txBody>
          <a:bodyPr wrap="square" lIns="0" tIns="0" rIns="0" bIns="0" anchor="ctr">
            <a:spAutoFit/>
          </a:bodyPr>
          <a:lstStyle/>
          <a:p>
            <a:pPr algn="ctr"/>
            <a:r>
              <a:rPr sz="900" b="0" i="1">
                <a:solidFill>
                  <a:srgbClr val="606060"/>
                </a:solidFill>
                <a:latin typeface="Calibri"/>
              </a:rPr>
              <a:t>Across all 20 classes</a:t>
            </a:r>
          </a:p>
        </p:txBody>
      </p:sp>
      <p:pic>
        <p:nvPicPr>
          <p:cNvPr id="78" name="Picture 77">
            <a:extLst>
              <a:ext uri="{FF2B5EF4-FFF2-40B4-BE49-F238E27FC236}">
                <a16:creationId xmlns:a16="http://schemas.microsoft.com/office/drawing/2014/main" id="{BADC5C30-D44F-DD78-F403-7C0D900A8432}"/>
              </a:ext>
            </a:extLst>
          </p:cNvPr>
          <p:cNvPicPr>
            <a:picLocks noChangeAspect="1"/>
          </p:cNvPicPr>
          <p:nvPr/>
        </p:nvPicPr>
        <p:blipFill>
          <a:blip r:embed="rId2"/>
          <a:srcRect l="-529" t="3423"/>
          <a:stretch/>
        </p:blipFill>
        <p:spPr>
          <a:xfrm>
            <a:off x="5217601" y="713232"/>
            <a:ext cx="3926399" cy="4430268"/>
          </a:xfrm>
          <a:prstGeom prst="rect">
            <a:avLst/>
          </a:prstGeom>
        </p:spPr>
      </p:pic>
      <p:pic>
        <p:nvPicPr>
          <p:cNvPr id="79" name="Picture 78">
            <a:extLst>
              <a:ext uri="{FF2B5EF4-FFF2-40B4-BE49-F238E27FC236}">
                <a16:creationId xmlns:a16="http://schemas.microsoft.com/office/drawing/2014/main" id="{54B35041-41F2-0C1D-84C9-FB282529BB8A}"/>
              </a:ext>
            </a:extLst>
          </p:cNvPr>
          <p:cNvPicPr>
            <a:picLocks noChangeAspect="1"/>
          </p:cNvPicPr>
          <p:nvPr/>
        </p:nvPicPr>
        <p:blipFill>
          <a:blip r:embed="rId3"/>
          <a:stretch>
            <a:fillRect/>
          </a:stretch>
        </p:blipFill>
        <p:spPr>
          <a:xfrm>
            <a:off x="189992" y="2187702"/>
            <a:ext cx="4612637" cy="28610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3740"/>
            <a:ext cx="8595360" cy="430887"/>
          </a:xfrm>
          <a:prstGeom prst="rect">
            <a:avLst/>
          </a:prstGeom>
          <a:noFill/>
        </p:spPr>
        <p:txBody>
          <a:bodyPr wrap="square" lIns="45720" rIns="45720" anchor="ctr">
            <a:spAutoFit/>
          </a:bodyPr>
          <a:lstStyle/>
          <a:p>
            <a:pPr algn="l"/>
            <a:r>
              <a:rPr lang="en-US" sz="2200" b="1" dirty="0">
                <a:solidFill>
                  <a:srgbClr val="FFFFFF"/>
                </a:solidFill>
                <a:latin typeface="Calibri"/>
              </a:rPr>
              <a:t>6</a:t>
            </a:r>
            <a:r>
              <a:rPr sz="2200" b="1" i="0" dirty="0">
                <a:solidFill>
                  <a:srgbClr val="FFFFFF"/>
                </a:solidFill>
                <a:latin typeface="Calibri"/>
              </a:rPr>
              <a:t>. Results</a:t>
            </a:r>
            <a:r>
              <a:rPr lang="en-US" sz="2200" b="1" i="0" dirty="0">
                <a:solidFill>
                  <a:srgbClr val="FFFFFF"/>
                </a:solidFill>
                <a:latin typeface="Calibri"/>
              </a:rPr>
              <a:t>: </a:t>
            </a:r>
            <a:r>
              <a:rPr sz="2200" b="1" i="0" dirty="0">
                <a:solidFill>
                  <a:srgbClr val="FFFFFF"/>
                </a:solidFill>
                <a:latin typeface="Calibri"/>
              </a:rPr>
              <a:t>Robot Camera Evaluation</a:t>
            </a:r>
          </a:p>
        </p:txBody>
      </p:sp>
      <p:sp>
        <p:nvSpPr>
          <p:cNvPr id="6" name="Rectangle 5"/>
          <p:cNvSpPr/>
          <p:nvPr/>
        </p:nvSpPr>
        <p:spPr>
          <a:xfrm>
            <a:off x="274320" y="804672"/>
            <a:ext cx="3977639" cy="457200"/>
          </a:xfrm>
          <a:prstGeom prst="rect">
            <a:avLst/>
          </a:prstGeom>
          <a:solidFill>
            <a:srgbClr val="D48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804672"/>
            <a:ext cx="3977639" cy="457200"/>
          </a:xfrm>
          <a:prstGeom prst="rect">
            <a:avLst/>
          </a:prstGeom>
          <a:noFill/>
        </p:spPr>
        <p:txBody>
          <a:bodyPr wrap="square" lIns="0" tIns="0" rIns="0" bIns="0" anchor="ctr">
            <a:spAutoFit/>
          </a:bodyPr>
          <a:lstStyle/>
          <a:p>
            <a:pPr algn="ctr"/>
            <a:r>
              <a:rPr sz="1500" b="1" i="0">
                <a:solidFill>
                  <a:srgbClr val="FFFFFF"/>
                </a:solidFill>
                <a:latin typeface="Calibri"/>
              </a:rPr>
              <a:t>Before Fine-Tuning</a:t>
            </a:r>
          </a:p>
        </p:txBody>
      </p:sp>
      <p:sp>
        <p:nvSpPr>
          <p:cNvPr id="8" name="Rectangle 7"/>
          <p:cNvSpPr/>
          <p:nvPr/>
        </p:nvSpPr>
        <p:spPr>
          <a:xfrm>
            <a:off x="274320" y="1261872"/>
            <a:ext cx="3977639" cy="31089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709159" y="804672"/>
            <a:ext cx="4160520" cy="457200"/>
          </a:xfrm>
          <a:prstGeom prst="rect">
            <a:avLst/>
          </a:prstGeom>
          <a:solidFill>
            <a:srgbClr val="1E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00599" y="804672"/>
            <a:ext cx="3977639" cy="457200"/>
          </a:xfrm>
          <a:prstGeom prst="rect">
            <a:avLst/>
          </a:prstGeom>
          <a:noFill/>
        </p:spPr>
        <p:txBody>
          <a:bodyPr wrap="square" lIns="0" tIns="0" rIns="0" bIns="0" anchor="ctr">
            <a:spAutoFit/>
          </a:bodyPr>
          <a:lstStyle/>
          <a:p>
            <a:pPr algn="ctr"/>
            <a:r>
              <a:rPr sz="1500" b="1" i="0">
                <a:solidFill>
                  <a:srgbClr val="FFFFFF"/>
                </a:solidFill>
                <a:latin typeface="Calibri"/>
              </a:rPr>
              <a:t>After Fine-Tuning</a:t>
            </a:r>
          </a:p>
        </p:txBody>
      </p:sp>
      <p:sp>
        <p:nvSpPr>
          <p:cNvPr id="17" name="Rectangle 16"/>
          <p:cNvSpPr/>
          <p:nvPr/>
        </p:nvSpPr>
        <p:spPr>
          <a:xfrm>
            <a:off x="4709159" y="1261872"/>
            <a:ext cx="4160520" cy="31089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77053" y="2176994"/>
            <a:ext cx="411480" cy="457200"/>
          </a:xfrm>
          <a:prstGeom prst="rect">
            <a:avLst/>
          </a:prstGeom>
          <a:noFill/>
        </p:spPr>
        <p:txBody>
          <a:bodyPr wrap="square" lIns="45720" rIns="45720">
            <a:spAutoFit/>
          </a:bodyPr>
          <a:lstStyle/>
          <a:p>
            <a:pPr algn="ctr"/>
            <a:r>
              <a:rPr sz="2800" b="1" i="0" dirty="0">
                <a:solidFill>
                  <a:srgbClr val="2E74B5"/>
                </a:solidFill>
                <a:latin typeface="Calibri"/>
              </a:rPr>
              <a:t>→</a:t>
            </a:r>
          </a:p>
        </p:txBody>
      </p:sp>
      <p:sp>
        <p:nvSpPr>
          <p:cNvPr id="25" name="TextBox 24"/>
          <p:cNvSpPr txBox="1"/>
          <p:nvPr/>
        </p:nvSpPr>
        <p:spPr>
          <a:xfrm>
            <a:off x="274320" y="4434840"/>
            <a:ext cx="8595360" cy="323165"/>
          </a:xfrm>
          <a:prstGeom prst="rect">
            <a:avLst/>
          </a:prstGeom>
          <a:noFill/>
        </p:spPr>
        <p:txBody>
          <a:bodyPr wrap="square" lIns="45720" rIns="45720">
            <a:spAutoFit/>
          </a:bodyPr>
          <a:lstStyle/>
          <a:p>
            <a:pPr algn="l"/>
            <a:r>
              <a:rPr lang="vi-VN" sz="1500" b="0" i="1" dirty="0">
                <a:latin typeface="Calibri"/>
              </a:rPr>
              <a:t>60/15/25 Train-Test Split </a:t>
            </a:r>
            <a:r>
              <a:rPr lang="en-US" sz="1500" b="0" i="1" dirty="0">
                <a:latin typeface="Calibri"/>
              </a:rPr>
              <a:t>-</a:t>
            </a:r>
            <a:r>
              <a:rPr lang="vi-VN" sz="1500" b="0" i="1" dirty="0">
                <a:latin typeface="Calibri"/>
              </a:rPr>
              <a:t> Fine Tune for 15 epochs</a:t>
            </a:r>
            <a:endParaRPr sz="1500" b="0" i="1" dirty="0">
              <a:latin typeface="Calibri"/>
            </a:endParaRPr>
          </a:p>
        </p:txBody>
      </p:sp>
      <p:pic>
        <p:nvPicPr>
          <p:cNvPr id="5" name="Picture 4">
            <a:extLst>
              <a:ext uri="{FF2B5EF4-FFF2-40B4-BE49-F238E27FC236}">
                <a16:creationId xmlns:a16="http://schemas.microsoft.com/office/drawing/2014/main" id="{F3D54B04-23C4-336E-7383-C80453D212A6}"/>
              </a:ext>
            </a:extLst>
          </p:cNvPr>
          <p:cNvPicPr>
            <a:picLocks noChangeAspect="1"/>
          </p:cNvPicPr>
          <p:nvPr/>
        </p:nvPicPr>
        <p:blipFill>
          <a:blip r:embed="rId2"/>
          <a:stretch>
            <a:fillRect/>
          </a:stretch>
        </p:blipFill>
        <p:spPr>
          <a:xfrm>
            <a:off x="493533" y="1818930"/>
            <a:ext cx="3487200" cy="1505640"/>
          </a:xfrm>
          <a:prstGeom prst="rect">
            <a:avLst/>
          </a:prstGeom>
        </p:spPr>
      </p:pic>
      <p:pic>
        <p:nvPicPr>
          <p:cNvPr id="9" name="Picture 8">
            <a:extLst>
              <a:ext uri="{FF2B5EF4-FFF2-40B4-BE49-F238E27FC236}">
                <a16:creationId xmlns:a16="http://schemas.microsoft.com/office/drawing/2014/main" id="{4142FF15-2028-E0B1-023C-384051B8DC3E}"/>
              </a:ext>
            </a:extLst>
          </p:cNvPr>
          <p:cNvPicPr>
            <a:picLocks noChangeAspect="1"/>
          </p:cNvPicPr>
          <p:nvPr/>
        </p:nvPicPr>
        <p:blipFill>
          <a:blip r:embed="rId3"/>
          <a:stretch>
            <a:fillRect/>
          </a:stretch>
        </p:blipFill>
        <p:spPr>
          <a:xfrm>
            <a:off x="5045818" y="1866055"/>
            <a:ext cx="3487200" cy="140681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13740"/>
            <a:ext cx="8595360" cy="430887"/>
          </a:xfrm>
          <a:prstGeom prst="rect">
            <a:avLst/>
          </a:prstGeom>
          <a:noFill/>
        </p:spPr>
        <p:txBody>
          <a:bodyPr wrap="square" lIns="45720" rIns="45720" anchor="ctr">
            <a:spAutoFit/>
          </a:bodyPr>
          <a:lstStyle/>
          <a:p>
            <a:pPr algn="l"/>
            <a:r>
              <a:rPr lang="en-US" sz="2200" b="1" dirty="0">
                <a:solidFill>
                  <a:srgbClr val="FFFFFF"/>
                </a:solidFill>
                <a:latin typeface="Calibri"/>
              </a:rPr>
              <a:t>7</a:t>
            </a:r>
            <a:r>
              <a:rPr sz="2200" b="1" i="0" dirty="0">
                <a:solidFill>
                  <a:srgbClr val="FFFFFF"/>
                </a:solidFill>
                <a:latin typeface="Calibri"/>
              </a:rPr>
              <a:t>. Discussion</a:t>
            </a:r>
            <a:r>
              <a:rPr lang="en-US" sz="2200" b="1" i="0" dirty="0">
                <a:solidFill>
                  <a:srgbClr val="FFFFFF"/>
                </a:solidFill>
                <a:latin typeface="Calibri"/>
              </a:rPr>
              <a:t>: </a:t>
            </a:r>
            <a:r>
              <a:rPr sz="2200" b="1" i="0" dirty="0">
                <a:solidFill>
                  <a:srgbClr val="FFFFFF"/>
                </a:solidFill>
                <a:latin typeface="Calibri"/>
              </a:rPr>
              <a:t>What Worked &amp; Common Errors</a:t>
            </a:r>
          </a:p>
        </p:txBody>
      </p:sp>
      <p:sp>
        <p:nvSpPr>
          <p:cNvPr id="5" name="Rectangle 4"/>
          <p:cNvSpPr/>
          <p:nvPr/>
        </p:nvSpPr>
        <p:spPr>
          <a:xfrm>
            <a:off x="274320" y="822960"/>
            <a:ext cx="41605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822960"/>
            <a:ext cx="4160520" cy="54864"/>
          </a:xfrm>
          <a:prstGeom prst="rect">
            <a:avLst/>
          </a:prstGeom>
          <a:solidFill>
            <a:srgbClr val="1E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877824"/>
            <a:ext cx="3840480" cy="347472"/>
          </a:xfrm>
          <a:prstGeom prst="rect">
            <a:avLst/>
          </a:prstGeom>
          <a:noFill/>
        </p:spPr>
        <p:txBody>
          <a:bodyPr wrap="square" lIns="45720" rIns="45720">
            <a:spAutoFit/>
          </a:bodyPr>
          <a:lstStyle/>
          <a:p>
            <a:pPr algn="l"/>
            <a:r>
              <a:rPr sz="1300" b="1" i="0">
                <a:solidFill>
                  <a:srgbClr val="1E8855"/>
                </a:solidFill>
                <a:latin typeface="Calibri"/>
              </a:rPr>
              <a:t>✓  What Worked Well</a:t>
            </a:r>
          </a:p>
        </p:txBody>
      </p:sp>
      <p:sp>
        <p:nvSpPr>
          <p:cNvPr id="8" name="Rectangle 7"/>
          <p:cNvSpPr/>
          <p:nvPr/>
        </p:nvSpPr>
        <p:spPr>
          <a:xfrm>
            <a:off x="365760" y="1261872"/>
            <a:ext cx="3977639" cy="676656"/>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1298448"/>
            <a:ext cx="3566160" cy="256032"/>
          </a:xfrm>
          <a:prstGeom prst="rect">
            <a:avLst/>
          </a:prstGeom>
          <a:noFill/>
        </p:spPr>
        <p:txBody>
          <a:bodyPr wrap="square" lIns="0" tIns="0" rIns="0" bIns="0">
            <a:spAutoFit/>
          </a:bodyPr>
          <a:lstStyle/>
          <a:p>
            <a:pPr algn="l"/>
            <a:r>
              <a:rPr sz="1100" b="1" i="0">
                <a:solidFill>
                  <a:srgbClr val="1F497D"/>
                </a:solidFill>
                <a:latin typeface="Calibri"/>
              </a:rPr>
              <a:t>Grad-CAM guided augmentation</a:t>
            </a:r>
          </a:p>
        </p:txBody>
      </p:sp>
      <p:sp>
        <p:nvSpPr>
          <p:cNvPr id="10" name="TextBox 9"/>
          <p:cNvSpPr txBox="1"/>
          <p:nvPr/>
        </p:nvSpPr>
        <p:spPr>
          <a:xfrm>
            <a:off x="475488" y="1554480"/>
            <a:ext cx="3566160" cy="347472"/>
          </a:xfrm>
          <a:prstGeom prst="rect">
            <a:avLst/>
          </a:prstGeom>
          <a:noFill/>
        </p:spPr>
        <p:txBody>
          <a:bodyPr wrap="square" lIns="0" tIns="0" rIns="0" bIns="0">
            <a:spAutoFit/>
          </a:bodyPr>
          <a:lstStyle/>
          <a:p>
            <a:pPr algn="l"/>
            <a:r>
              <a:rPr sz="1000" b="0" i="0">
                <a:solidFill>
                  <a:srgbClr val="1A1A2E"/>
                </a:solidFill>
                <a:latin typeface="Calibri"/>
              </a:rPr>
              <a:t>Stage 2 consistently lowered validation loss across all 30 epochs — genuine generalisation gain.</a:t>
            </a:r>
          </a:p>
        </p:txBody>
      </p:sp>
      <p:sp>
        <p:nvSpPr>
          <p:cNvPr id="11" name="Rectangle 10"/>
          <p:cNvSpPr/>
          <p:nvPr/>
        </p:nvSpPr>
        <p:spPr>
          <a:xfrm>
            <a:off x="365760" y="2029967"/>
            <a:ext cx="3977639" cy="676656"/>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2066543"/>
            <a:ext cx="3566160" cy="169277"/>
          </a:xfrm>
          <a:prstGeom prst="rect">
            <a:avLst/>
          </a:prstGeom>
          <a:noFill/>
        </p:spPr>
        <p:txBody>
          <a:bodyPr wrap="square" lIns="0" tIns="0" rIns="0" bIns="0">
            <a:spAutoFit/>
          </a:bodyPr>
          <a:lstStyle/>
          <a:p>
            <a:pPr algn="l"/>
            <a:r>
              <a:rPr lang="vi-VN" sz="1100" b="1" i="0" dirty="0">
                <a:solidFill>
                  <a:srgbClr val="1F497D"/>
                </a:solidFill>
                <a:latin typeface="Calibri"/>
              </a:rPr>
              <a:t>Multi-layer voting</a:t>
            </a:r>
            <a:endParaRPr sz="1100" b="1" i="0" dirty="0">
              <a:solidFill>
                <a:srgbClr val="1F497D"/>
              </a:solidFill>
              <a:latin typeface="Calibri"/>
            </a:endParaRPr>
          </a:p>
        </p:txBody>
      </p:sp>
      <p:sp>
        <p:nvSpPr>
          <p:cNvPr id="13" name="TextBox 12"/>
          <p:cNvSpPr txBox="1"/>
          <p:nvPr/>
        </p:nvSpPr>
        <p:spPr>
          <a:xfrm>
            <a:off x="475488" y="2322575"/>
            <a:ext cx="3566160" cy="153888"/>
          </a:xfrm>
          <a:prstGeom prst="rect">
            <a:avLst/>
          </a:prstGeom>
          <a:noFill/>
        </p:spPr>
        <p:txBody>
          <a:bodyPr wrap="square" lIns="0" tIns="0" rIns="0" bIns="0">
            <a:spAutoFit/>
          </a:bodyPr>
          <a:lstStyle/>
          <a:p>
            <a:pPr algn="l"/>
            <a:r>
              <a:rPr lang="vi-VN" sz="1000" b="0" i="0" dirty="0">
                <a:solidFill>
                  <a:srgbClr val="1A1A2E"/>
                </a:solidFill>
                <a:latin typeface="Calibri"/>
              </a:rPr>
              <a:t>Generally, the architecture works well, it captures on the fruit.</a:t>
            </a:r>
            <a:endParaRPr sz="1000" b="0" i="0" dirty="0">
              <a:solidFill>
                <a:srgbClr val="1A1A2E"/>
              </a:solidFill>
              <a:latin typeface="Calibri"/>
            </a:endParaRPr>
          </a:p>
        </p:txBody>
      </p:sp>
      <p:sp>
        <p:nvSpPr>
          <p:cNvPr id="14" name="Rectangle 13"/>
          <p:cNvSpPr/>
          <p:nvPr/>
        </p:nvSpPr>
        <p:spPr>
          <a:xfrm>
            <a:off x="365760" y="2798063"/>
            <a:ext cx="3977639" cy="676656"/>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834639"/>
            <a:ext cx="3566160" cy="256032"/>
          </a:xfrm>
          <a:prstGeom prst="rect">
            <a:avLst/>
          </a:prstGeom>
          <a:noFill/>
        </p:spPr>
        <p:txBody>
          <a:bodyPr wrap="square" lIns="0" tIns="0" rIns="0" bIns="0">
            <a:spAutoFit/>
          </a:bodyPr>
          <a:lstStyle/>
          <a:p>
            <a:pPr algn="l"/>
            <a:r>
              <a:rPr sz="1100" b="1" i="0">
                <a:solidFill>
                  <a:srgbClr val="1F497D"/>
                </a:solidFill>
                <a:latin typeface="Calibri"/>
              </a:rPr>
              <a:t>EfficientNet compound scaling</a:t>
            </a:r>
          </a:p>
        </p:txBody>
      </p:sp>
      <p:sp>
        <p:nvSpPr>
          <p:cNvPr id="16" name="TextBox 15"/>
          <p:cNvSpPr txBox="1"/>
          <p:nvPr/>
        </p:nvSpPr>
        <p:spPr>
          <a:xfrm>
            <a:off x="475488" y="3090671"/>
            <a:ext cx="3566160" cy="347472"/>
          </a:xfrm>
          <a:prstGeom prst="rect">
            <a:avLst/>
          </a:prstGeom>
          <a:noFill/>
        </p:spPr>
        <p:txBody>
          <a:bodyPr wrap="square" lIns="0" tIns="0" rIns="0" bIns="0">
            <a:spAutoFit/>
          </a:bodyPr>
          <a:lstStyle/>
          <a:p>
            <a:pPr algn="l"/>
            <a:r>
              <a:rPr sz="1000" b="0" i="0" dirty="0">
                <a:solidFill>
                  <a:srgbClr val="1A1A2E"/>
                </a:solidFill>
                <a:latin typeface="Calibri"/>
              </a:rPr>
              <a:t>Rich, multi-level feature hierarchy captured both </a:t>
            </a:r>
            <a:r>
              <a:rPr sz="1000" b="0" i="0" dirty="0" err="1">
                <a:solidFill>
                  <a:srgbClr val="1A1A2E"/>
                </a:solidFill>
                <a:latin typeface="Calibri"/>
              </a:rPr>
              <a:t>colour</a:t>
            </a:r>
            <a:r>
              <a:rPr sz="1000" b="0" i="0" dirty="0">
                <a:solidFill>
                  <a:srgbClr val="1A1A2E"/>
                </a:solidFill>
                <a:latin typeface="Calibri"/>
              </a:rPr>
              <a:t> and texture detail.</a:t>
            </a:r>
          </a:p>
        </p:txBody>
      </p:sp>
      <p:sp>
        <p:nvSpPr>
          <p:cNvPr id="17" name="Rectangle 16"/>
          <p:cNvSpPr/>
          <p:nvPr/>
        </p:nvSpPr>
        <p:spPr>
          <a:xfrm>
            <a:off x="365760" y="3566160"/>
            <a:ext cx="3977639" cy="676656"/>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3602736"/>
            <a:ext cx="3566160" cy="256032"/>
          </a:xfrm>
          <a:prstGeom prst="rect">
            <a:avLst/>
          </a:prstGeom>
          <a:noFill/>
        </p:spPr>
        <p:txBody>
          <a:bodyPr wrap="square" lIns="0" tIns="0" rIns="0" bIns="0">
            <a:spAutoFit/>
          </a:bodyPr>
          <a:lstStyle/>
          <a:p>
            <a:pPr algn="l"/>
            <a:r>
              <a:rPr sz="1100" b="1" i="0">
                <a:solidFill>
                  <a:srgbClr val="1F497D"/>
                </a:solidFill>
                <a:latin typeface="Calibri"/>
              </a:rPr>
              <a:t>Rapid robot adaptation</a:t>
            </a:r>
          </a:p>
        </p:txBody>
      </p:sp>
      <p:sp>
        <p:nvSpPr>
          <p:cNvPr id="19" name="TextBox 18"/>
          <p:cNvSpPr txBox="1"/>
          <p:nvPr/>
        </p:nvSpPr>
        <p:spPr>
          <a:xfrm>
            <a:off x="475488" y="3858768"/>
            <a:ext cx="3566160" cy="307777"/>
          </a:xfrm>
          <a:prstGeom prst="rect">
            <a:avLst/>
          </a:prstGeom>
          <a:noFill/>
        </p:spPr>
        <p:txBody>
          <a:bodyPr wrap="square" lIns="0" tIns="0" rIns="0" bIns="0">
            <a:spAutoFit/>
          </a:bodyPr>
          <a:lstStyle/>
          <a:p>
            <a:pPr algn="l"/>
            <a:r>
              <a:rPr lang="vi-VN" sz="1000" b="0" i="0" dirty="0">
                <a:solidFill>
                  <a:srgbClr val="1A1A2E"/>
                </a:solidFill>
                <a:latin typeface="Calibri"/>
              </a:rPr>
              <a:t>High</a:t>
            </a:r>
            <a:r>
              <a:rPr sz="1000" b="0" i="0" dirty="0">
                <a:solidFill>
                  <a:srgbClr val="1A1A2E"/>
                </a:solidFill>
                <a:latin typeface="Calibri"/>
              </a:rPr>
              <a:t> accuracy on robot test set after just 15 fine-tuning epochs with minimal data.</a:t>
            </a:r>
          </a:p>
        </p:txBody>
      </p:sp>
      <p:sp>
        <p:nvSpPr>
          <p:cNvPr id="20" name="Rectangle 19"/>
          <p:cNvSpPr/>
          <p:nvPr/>
        </p:nvSpPr>
        <p:spPr>
          <a:xfrm>
            <a:off x="4709160" y="822960"/>
            <a:ext cx="41605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709160" y="822960"/>
            <a:ext cx="416052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28032" y="877824"/>
            <a:ext cx="3840480" cy="347472"/>
          </a:xfrm>
          <a:prstGeom prst="rect">
            <a:avLst/>
          </a:prstGeom>
          <a:noFill/>
        </p:spPr>
        <p:txBody>
          <a:bodyPr wrap="square" lIns="45720" rIns="45720">
            <a:spAutoFit/>
          </a:bodyPr>
          <a:lstStyle/>
          <a:p>
            <a:pPr algn="l"/>
            <a:r>
              <a:rPr sz="1300" b="1" i="0">
                <a:solidFill>
                  <a:srgbClr val="C0392B"/>
                </a:solidFill>
                <a:latin typeface="Calibri"/>
              </a:rPr>
              <a:t>✗  Common Error Patterns</a:t>
            </a:r>
          </a:p>
        </p:txBody>
      </p:sp>
      <p:sp>
        <p:nvSpPr>
          <p:cNvPr id="23" name="Rectangle 22"/>
          <p:cNvSpPr/>
          <p:nvPr/>
        </p:nvSpPr>
        <p:spPr>
          <a:xfrm>
            <a:off x="4800600" y="1261872"/>
            <a:ext cx="3977639" cy="932688"/>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10328" y="1298448"/>
            <a:ext cx="3566160" cy="169277"/>
          </a:xfrm>
          <a:prstGeom prst="rect">
            <a:avLst/>
          </a:prstGeom>
          <a:noFill/>
        </p:spPr>
        <p:txBody>
          <a:bodyPr wrap="square" lIns="0" tIns="0" rIns="0" bIns="0">
            <a:spAutoFit/>
          </a:bodyPr>
          <a:lstStyle/>
          <a:p>
            <a:pPr algn="l"/>
            <a:r>
              <a:rPr lang="vi-VN" sz="1100" b="1" i="0" dirty="0">
                <a:solidFill>
                  <a:srgbClr val="C0392B"/>
                </a:solidFill>
                <a:latin typeface="Calibri"/>
              </a:rPr>
              <a:t>Multi-layer voting</a:t>
            </a:r>
            <a:endParaRPr sz="1100" b="1" i="0" dirty="0">
              <a:solidFill>
                <a:srgbClr val="C0392B"/>
              </a:solidFill>
              <a:latin typeface="Calibri"/>
            </a:endParaRPr>
          </a:p>
        </p:txBody>
      </p:sp>
      <p:sp>
        <p:nvSpPr>
          <p:cNvPr id="25" name="TextBox 24"/>
          <p:cNvSpPr txBox="1"/>
          <p:nvPr/>
        </p:nvSpPr>
        <p:spPr>
          <a:xfrm>
            <a:off x="4910328" y="1554480"/>
            <a:ext cx="3566160" cy="461665"/>
          </a:xfrm>
          <a:prstGeom prst="rect">
            <a:avLst/>
          </a:prstGeom>
          <a:noFill/>
        </p:spPr>
        <p:txBody>
          <a:bodyPr wrap="square" lIns="0" tIns="0" rIns="0" bIns="0">
            <a:spAutoFit/>
          </a:bodyPr>
          <a:lstStyle/>
          <a:p>
            <a:pPr algn="l"/>
            <a:r>
              <a:rPr lang="en-AU" sz="1000" b="0" i="0" dirty="0">
                <a:solidFill>
                  <a:srgbClr val="1A1A2E"/>
                </a:solidFill>
                <a:latin typeface="Calibri"/>
              </a:rPr>
              <a:t>Although it works well, it still focuses on backgrounds in some images. This technique should be more clearly examine to provide higher accuracy</a:t>
            </a:r>
          </a:p>
        </p:txBody>
      </p:sp>
      <p:sp>
        <p:nvSpPr>
          <p:cNvPr id="26" name="Rectangle 25"/>
          <p:cNvSpPr/>
          <p:nvPr/>
        </p:nvSpPr>
        <p:spPr>
          <a:xfrm>
            <a:off x="4800600" y="2286000"/>
            <a:ext cx="3977639" cy="932688"/>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10328" y="2322576"/>
            <a:ext cx="3566160" cy="169277"/>
          </a:xfrm>
          <a:prstGeom prst="rect">
            <a:avLst/>
          </a:prstGeom>
          <a:noFill/>
        </p:spPr>
        <p:txBody>
          <a:bodyPr wrap="square" lIns="0" tIns="0" rIns="0" bIns="0">
            <a:spAutoFit/>
          </a:bodyPr>
          <a:lstStyle/>
          <a:p>
            <a:pPr algn="l"/>
            <a:r>
              <a:rPr sz="1100" b="1" i="0" dirty="0">
                <a:solidFill>
                  <a:srgbClr val="C0392B"/>
                </a:solidFill>
                <a:latin typeface="Calibri"/>
              </a:rPr>
              <a:t>Unusual capture conditions</a:t>
            </a:r>
            <a:r>
              <a:rPr lang="vi-VN" sz="1100" b="1" i="0" dirty="0">
                <a:solidFill>
                  <a:srgbClr val="C0392B"/>
                </a:solidFill>
                <a:latin typeface="Calibri"/>
              </a:rPr>
              <a:t> and more images</a:t>
            </a:r>
            <a:endParaRPr sz="1100" b="1" i="0" dirty="0">
              <a:solidFill>
                <a:srgbClr val="C0392B"/>
              </a:solidFill>
              <a:latin typeface="Calibri"/>
            </a:endParaRPr>
          </a:p>
        </p:txBody>
      </p:sp>
      <p:sp>
        <p:nvSpPr>
          <p:cNvPr id="28" name="TextBox 27"/>
          <p:cNvSpPr txBox="1"/>
          <p:nvPr/>
        </p:nvSpPr>
        <p:spPr>
          <a:xfrm>
            <a:off x="4910328" y="2578608"/>
            <a:ext cx="3566160" cy="615553"/>
          </a:xfrm>
          <a:prstGeom prst="rect">
            <a:avLst/>
          </a:prstGeom>
          <a:noFill/>
        </p:spPr>
        <p:txBody>
          <a:bodyPr wrap="square" lIns="0" tIns="0" rIns="0" bIns="0">
            <a:spAutoFit/>
          </a:bodyPr>
          <a:lstStyle/>
          <a:p>
            <a:pPr algn="l"/>
            <a:r>
              <a:rPr lang="vi-VN" sz="1000" b="0" i="0" dirty="0">
                <a:solidFill>
                  <a:srgbClr val="1A1A2E"/>
                </a:solidFill>
                <a:latin typeface="Calibri"/>
              </a:rPr>
              <a:t>Lighting is one of main issues as it changes the fruits colors which can affect the prediction. </a:t>
            </a:r>
            <a:r>
              <a:rPr lang="vi-VN" sz="1000" dirty="0">
                <a:solidFill>
                  <a:srgbClr val="1A1A2E"/>
                </a:solidFill>
                <a:latin typeface="Calibri"/>
              </a:rPr>
              <a:t>More images with different lighting setting could help the improvement. Similar issue to fruits in plastic bags. Require a technique to separate the bag and the object inside of it.</a:t>
            </a:r>
            <a:endParaRPr sz="1000" b="0" i="0" dirty="0">
              <a:solidFill>
                <a:srgbClr val="1A1A2E"/>
              </a:solidFill>
              <a:latin typeface="Calibri"/>
            </a:endParaRPr>
          </a:p>
        </p:txBody>
      </p:sp>
      <p:sp>
        <p:nvSpPr>
          <p:cNvPr id="29" name="Rectangle 28"/>
          <p:cNvSpPr/>
          <p:nvPr/>
        </p:nvSpPr>
        <p:spPr>
          <a:xfrm>
            <a:off x="4800600" y="3310128"/>
            <a:ext cx="3977639" cy="932688"/>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10328" y="3346704"/>
            <a:ext cx="3566160" cy="169277"/>
          </a:xfrm>
          <a:prstGeom prst="rect">
            <a:avLst/>
          </a:prstGeom>
          <a:noFill/>
        </p:spPr>
        <p:txBody>
          <a:bodyPr wrap="square" lIns="0" tIns="0" rIns="0" bIns="0">
            <a:spAutoFit/>
          </a:bodyPr>
          <a:lstStyle/>
          <a:p>
            <a:pPr algn="l"/>
            <a:r>
              <a:rPr sz="1100" b="1" i="0" dirty="0">
                <a:solidFill>
                  <a:srgbClr val="C0392B"/>
                </a:solidFill>
                <a:latin typeface="Calibri"/>
              </a:rPr>
              <a:t>Robot </a:t>
            </a:r>
            <a:r>
              <a:rPr lang="vi-VN" sz="1100" b="1" i="0" dirty="0">
                <a:solidFill>
                  <a:srgbClr val="C0392B"/>
                </a:solidFill>
                <a:latin typeface="Calibri"/>
              </a:rPr>
              <a:t>images</a:t>
            </a:r>
            <a:endParaRPr sz="1100" b="1" i="0" dirty="0">
              <a:solidFill>
                <a:srgbClr val="C0392B"/>
              </a:solidFill>
              <a:latin typeface="Calibri"/>
            </a:endParaRPr>
          </a:p>
        </p:txBody>
      </p:sp>
      <p:sp>
        <p:nvSpPr>
          <p:cNvPr id="31" name="TextBox 30"/>
          <p:cNvSpPr txBox="1"/>
          <p:nvPr/>
        </p:nvSpPr>
        <p:spPr>
          <a:xfrm>
            <a:off x="4910328" y="3602736"/>
            <a:ext cx="3566160" cy="461665"/>
          </a:xfrm>
          <a:prstGeom prst="rect">
            <a:avLst/>
          </a:prstGeom>
          <a:noFill/>
        </p:spPr>
        <p:txBody>
          <a:bodyPr wrap="square" lIns="0" tIns="0" rIns="0" bIns="0">
            <a:spAutoFit/>
          </a:bodyPr>
          <a:lstStyle/>
          <a:p>
            <a:pPr algn="l"/>
            <a:r>
              <a:rPr lang="vi-VN" sz="1000" b="0" i="0" dirty="0">
                <a:solidFill>
                  <a:srgbClr val="1A1A2E"/>
                </a:solidFill>
                <a:latin typeface="Calibri"/>
              </a:rPr>
              <a:t>Images from robot has lower resolution, and the environment setting is quite dark which makes it hard to differentiate apple pink lady and apple royal gala.</a:t>
            </a:r>
            <a:endParaRPr sz="1000" b="0" i="0" dirty="0">
              <a:solidFill>
                <a:srgbClr val="1A1A2E"/>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497D"/>
        </a:solidFill>
        <a:effectLst/>
      </p:bgPr>
    </p:bg>
    <p:spTree>
      <p:nvGrpSpPr>
        <p:cNvPr id="1" name="">
          <a:extLst>
            <a:ext uri="{FF2B5EF4-FFF2-40B4-BE49-F238E27FC236}">
              <a16:creationId xmlns:a16="http://schemas.microsoft.com/office/drawing/2014/main" id="{2E5363E8-5215-85D4-D083-25862ACF38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231CD0-E15F-0466-9B74-D5F8E96D6B11}"/>
              </a:ext>
            </a:extLst>
          </p:cNvPr>
          <p:cNvSpPr txBox="1"/>
          <p:nvPr/>
        </p:nvSpPr>
        <p:spPr>
          <a:xfrm>
            <a:off x="914400" y="1986742"/>
            <a:ext cx="7315200" cy="1005840"/>
          </a:xfrm>
          <a:prstGeom prst="rect">
            <a:avLst/>
          </a:prstGeom>
          <a:noFill/>
        </p:spPr>
        <p:txBody>
          <a:bodyPr wrap="square" lIns="45720" rIns="45720">
            <a:spAutoFit/>
          </a:bodyPr>
          <a:lstStyle/>
          <a:p>
            <a:pPr algn="ctr"/>
            <a:r>
              <a:rPr sz="4200" b="1" i="0" dirty="0">
                <a:solidFill>
                  <a:srgbClr val="FFFFFF"/>
                </a:solidFill>
                <a:latin typeface="Calibri"/>
              </a:rPr>
              <a:t>Thank You</a:t>
            </a:r>
          </a:p>
        </p:txBody>
      </p:sp>
      <p:sp>
        <p:nvSpPr>
          <p:cNvPr id="7" name="Rectangle 6">
            <a:extLst>
              <a:ext uri="{FF2B5EF4-FFF2-40B4-BE49-F238E27FC236}">
                <a16:creationId xmlns:a16="http://schemas.microsoft.com/office/drawing/2014/main" id="{72780335-CEBD-D8E1-3224-05026A4E3F18}"/>
              </a:ext>
            </a:extLst>
          </p:cNvPr>
          <p:cNvSpPr/>
          <p:nvPr/>
        </p:nvSpPr>
        <p:spPr>
          <a:xfrm>
            <a:off x="0" y="3566160"/>
            <a:ext cx="9144000" cy="16459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3EC78B97-1931-B7A2-C314-BBF81DE73E90}"/>
              </a:ext>
            </a:extLst>
          </p:cNvPr>
          <p:cNvSpPr/>
          <p:nvPr/>
        </p:nvSpPr>
        <p:spPr>
          <a:xfrm>
            <a:off x="0" y="3730752"/>
            <a:ext cx="9144000" cy="54864"/>
          </a:xfrm>
          <a:prstGeom prst="rect">
            <a:avLst/>
          </a:prstGeom>
          <a:solidFill>
            <a:srgbClr val="9DC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70411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7FA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8368"/>
            <a:ext cx="9144000" cy="457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54864"/>
            <a:ext cx="8595360" cy="548640"/>
          </a:xfrm>
          <a:prstGeom prst="rect">
            <a:avLst/>
          </a:prstGeom>
          <a:noFill/>
        </p:spPr>
        <p:txBody>
          <a:bodyPr wrap="square" lIns="45720" rIns="45720" anchor="ctr">
            <a:spAutoFit/>
          </a:bodyPr>
          <a:lstStyle/>
          <a:p>
            <a:pPr algn="l"/>
            <a:r>
              <a:rPr sz="2200" b="1" i="0">
                <a:solidFill>
                  <a:srgbClr val="FFFFFF"/>
                </a:solidFill>
                <a:latin typeface="Calibri"/>
              </a:rPr>
              <a:t>4. Discussion — Further Improvement Strategies</a:t>
            </a:r>
          </a:p>
        </p:txBody>
      </p:sp>
      <p:sp>
        <p:nvSpPr>
          <p:cNvPr id="5" name="Rectangle 4"/>
          <p:cNvSpPr/>
          <p:nvPr/>
        </p:nvSpPr>
        <p:spPr>
          <a:xfrm>
            <a:off x="274320" y="868680"/>
            <a:ext cx="2724912" cy="19202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868680"/>
            <a:ext cx="2724912"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60120"/>
            <a:ext cx="457200" cy="365760"/>
          </a:xfrm>
          <a:prstGeom prst="rect">
            <a:avLst/>
          </a:prstGeom>
          <a:noFill/>
        </p:spPr>
        <p:txBody>
          <a:bodyPr wrap="square" lIns="45720" rIns="45720">
            <a:spAutoFit/>
          </a:bodyPr>
          <a:lstStyle/>
          <a:p>
            <a:pPr algn="ctr"/>
            <a:r>
              <a:rPr sz="2000" b="0" i="0">
                <a:solidFill>
                  <a:srgbClr val="FFFFFF"/>
                </a:solidFill>
                <a:latin typeface="Calibri"/>
              </a:rPr>
              <a:t>📸</a:t>
            </a:r>
          </a:p>
        </p:txBody>
      </p:sp>
      <p:sp>
        <p:nvSpPr>
          <p:cNvPr id="8" name="TextBox 7"/>
          <p:cNvSpPr txBox="1"/>
          <p:nvPr/>
        </p:nvSpPr>
        <p:spPr>
          <a:xfrm>
            <a:off x="822959" y="960120"/>
            <a:ext cx="2084832" cy="365760"/>
          </a:xfrm>
          <a:prstGeom prst="rect">
            <a:avLst/>
          </a:prstGeom>
          <a:noFill/>
        </p:spPr>
        <p:txBody>
          <a:bodyPr wrap="square" lIns="0" tIns="0" rIns="0" bIns="0">
            <a:spAutoFit/>
          </a:bodyPr>
          <a:lstStyle/>
          <a:p>
            <a:pPr algn="l"/>
            <a:r>
              <a:rPr sz="1200" b="1" i="0">
                <a:solidFill>
                  <a:srgbClr val="1F497D"/>
                </a:solidFill>
                <a:latin typeface="Calibri"/>
              </a:rPr>
              <a:t>Expand the Dataset</a:t>
            </a:r>
          </a:p>
        </p:txBody>
      </p:sp>
      <p:sp>
        <p:nvSpPr>
          <p:cNvPr id="9" name="TextBox 8"/>
          <p:cNvSpPr txBox="1"/>
          <p:nvPr/>
        </p:nvSpPr>
        <p:spPr>
          <a:xfrm>
            <a:off x="365760" y="1380744"/>
            <a:ext cx="2542032" cy="1325880"/>
          </a:xfrm>
          <a:prstGeom prst="rect">
            <a:avLst/>
          </a:prstGeom>
          <a:noFill/>
        </p:spPr>
        <p:txBody>
          <a:bodyPr wrap="square" lIns="0" tIns="0" rIns="0" bIns="0">
            <a:spAutoFit/>
          </a:bodyPr>
          <a:lstStyle/>
          <a:p>
            <a:pPr algn="l"/>
            <a:r>
              <a:rPr sz="1000" b="0" i="0">
                <a:solidFill>
                  <a:srgbClr val="1A1A2E"/>
                </a:solidFill>
                <a:latin typeface="Calibri"/>
              </a:rPr>
              <a:t>More images per class — especially for Ambrosia, Jazz, and Kanzi — would directly address the remaining confusion between similar apple varieties.</a:t>
            </a:r>
          </a:p>
        </p:txBody>
      </p:sp>
      <p:sp>
        <p:nvSpPr>
          <p:cNvPr id="10" name="Rectangle 9"/>
          <p:cNvSpPr/>
          <p:nvPr/>
        </p:nvSpPr>
        <p:spPr>
          <a:xfrm>
            <a:off x="3218688" y="868680"/>
            <a:ext cx="2724912" cy="19202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18688" y="868680"/>
            <a:ext cx="2724912"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10128" y="960120"/>
            <a:ext cx="457200" cy="365760"/>
          </a:xfrm>
          <a:prstGeom prst="rect">
            <a:avLst/>
          </a:prstGeom>
          <a:noFill/>
        </p:spPr>
        <p:txBody>
          <a:bodyPr wrap="square" lIns="45720" rIns="45720">
            <a:spAutoFit/>
          </a:bodyPr>
          <a:lstStyle/>
          <a:p>
            <a:pPr algn="ctr"/>
            <a:r>
              <a:rPr sz="2000" b="0" i="0">
                <a:solidFill>
                  <a:srgbClr val="FFFFFF"/>
                </a:solidFill>
                <a:latin typeface="Calibri"/>
              </a:rPr>
              <a:t>🎯</a:t>
            </a:r>
          </a:p>
        </p:txBody>
      </p:sp>
      <p:sp>
        <p:nvSpPr>
          <p:cNvPr id="13" name="TextBox 12"/>
          <p:cNvSpPr txBox="1"/>
          <p:nvPr/>
        </p:nvSpPr>
        <p:spPr>
          <a:xfrm>
            <a:off x="3767328" y="960120"/>
            <a:ext cx="2084832" cy="365760"/>
          </a:xfrm>
          <a:prstGeom prst="rect">
            <a:avLst/>
          </a:prstGeom>
          <a:noFill/>
        </p:spPr>
        <p:txBody>
          <a:bodyPr wrap="square" lIns="0" tIns="0" rIns="0" bIns="0">
            <a:spAutoFit/>
          </a:bodyPr>
          <a:lstStyle/>
          <a:p>
            <a:pPr algn="l"/>
            <a:r>
              <a:rPr sz="1200" b="1" i="0">
                <a:solidFill>
                  <a:srgbClr val="1F497D"/>
                </a:solidFill>
                <a:latin typeface="Calibri"/>
              </a:rPr>
              <a:t>Better Foreground Detection</a:t>
            </a:r>
          </a:p>
        </p:txBody>
      </p:sp>
      <p:sp>
        <p:nvSpPr>
          <p:cNvPr id="14" name="TextBox 13"/>
          <p:cNvSpPr txBox="1"/>
          <p:nvPr/>
        </p:nvSpPr>
        <p:spPr>
          <a:xfrm>
            <a:off x="3310128" y="1380744"/>
            <a:ext cx="2542032" cy="1325880"/>
          </a:xfrm>
          <a:prstGeom prst="rect">
            <a:avLst/>
          </a:prstGeom>
          <a:noFill/>
        </p:spPr>
        <p:txBody>
          <a:bodyPr wrap="square" lIns="0" tIns="0" rIns="0" bIns="0">
            <a:spAutoFit/>
          </a:bodyPr>
          <a:lstStyle/>
          <a:p>
            <a:pPr algn="l"/>
            <a:r>
              <a:rPr sz="1000" b="0" i="0">
                <a:solidFill>
                  <a:srgbClr val="1A1A2E"/>
                </a:solidFill>
                <a:latin typeface="Calibri"/>
              </a:rPr>
              <a:t>Replace GrabCut with a dedicated segmentation model to produce cleaner heat maps, especially in complex backgrounds with multiple objects.</a:t>
            </a:r>
          </a:p>
        </p:txBody>
      </p:sp>
      <p:sp>
        <p:nvSpPr>
          <p:cNvPr id="15" name="Rectangle 14"/>
          <p:cNvSpPr/>
          <p:nvPr/>
        </p:nvSpPr>
        <p:spPr>
          <a:xfrm>
            <a:off x="6163056" y="868680"/>
            <a:ext cx="2724912" cy="19202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63056" y="868680"/>
            <a:ext cx="2724912"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54496" y="960120"/>
            <a:ext cx="457200" cy="365760"/>
          </a:xfrm>
          <a:prstGeom prst="rect">
            <a:avLst/>
          </a:prstGeom>
          <a:noFill/>
        </p:spPr>
        <p:txBody>
          <a:bodyPr wrap="square" lIns="45720" rIns="45720">
            <a:spAutoFit/>
          </a:bodyPr>
          <a:lstStyle/>
          <a:p>
            <a:pPr algn="ctr"/>
            <a:r>
              <a:rPr sz="2000" b="0" i="0">
                <a:solidFill>
                  <a:srgbClr val="FFFFFF"/>
                </a:solidFill>
                <a:latin typeface="Calibri"/>
              </a:rPr>
              <a:t>🤖</a:t>
            </a:r>
          </a:p>
        </p:txBody>
      </p:sp>
      <p:sp>
        <p:nvSpPr>
          <p:cNvPr id="18" name="TextBox 17"/>
          <p:cNvSpPr txBox="1"/>
          <p:nvPr/>
        </p:nvSpPr>
        <p:spPr>
          <a:xfrm>
            <a:off x="6711696" y="960120"/>
            <a:ext cx="2084832" cy="365760"/>
          </a:xfrm>
          <a:prstGeom prst="rect">
            <a:avLst/>
          </a:prstGeom>
          <a:noFill/>
        </p:spPr>
        <p:txBody>
          <a:bodyPr wrap="square" lIns="0" tIns="0" rIns="0" bIns="0">
            <a:spAutoFit/>
          </a:bodyPr>
          <a:lstStyle/>
          <a:p>
            <a:pPr algn="l"/>
            <a:r>
              <a:rPr sz="1200" b="1" i="0">
                <a:solidFill>
                  <a:srgbClr val="1F497D"/>
                </a:solidFill>
                <a:latin typeface="Calibri"/>
              </a:rPr>
              <a:t>More Robot Training Data</a:t>
            </a:r>
          </a:p>
        </p:txBody>
      </p:sp>
      <p:sp>
        <p:nvSpPr>
          <p:cNvPr id="19" name="TextBox 18"/>
          <p:cNvSpPr txBox="1"/>
          <p:nvPr/>
        </p:nvSpPr>
        <p:spPr>
          <a:xfrm>
            <a:off x="6254496" y="1380744"/>
            <a:ext cx="2542032" cy="1325880"/>
          </a:xfrm>
          <a:prstGeom prst="rect">
            <a:avLst/>
          </a:prstGeom>
          <a:noFill/>
        </p:spPr>
        <p:txBody>
          <a:bodyPr wrap="square" lIns="0" tIns="0" rIns="0" bIns="0">
            <a:spAutoFit/>
          </a:bodyPr>
          <a:lstStyle/>
          <a:p>
            <a:pPr algn="l"/>
            <a:r>
              <a:rPr sz="1000" b="0" i="0">
                <a:solidFill>
                  <a:srgbClr val="1A1A2E"/>
                </a:solidFill>
                <a:latin typeface="Calibri"/>
              </a:rPr>
              <a:t>Collect 50–100 robot images per class (from ~20 now) to make domain adaptation more robust to lighting and angle variation.</a:t>
            </a:r>
          </a:p>
        </p:txBody>
      </p:sp>
      <p:sp>
        <p:nvSpPr>
          <p:cNvPr id="20" name="Rectangle 19"/>
          <p:cNvSpPr/>
          <p:nvPr/>
        </p:nvSpPr>
        <p:spPr>
          <a:xfrm>
            <a:off x="274320" y="2971800"/>
            <a:ext cx="2724912" cy="19202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4320" y="2971800"/>
            <a:ext cx="2724912"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3063240"/>
            <a:ext cx="457200" cy="365760"/>
          </a:xfrm>
          <a:prstGeom prst="rect">
            <a:avLst/>
          </a:prstGeom>
          <a:noFill/>
        </p:spPr>
        <p:txBody>
          <a:bodyPr wrap="square" lIns="45720" rIns="45720">
            <a:spAutoFit/>
          </a:bodyPr>
          <a:lstStyle/>
          <a:p>
            <a:pPr algn="ctr"/>
            <a:r>
              <a:rPr sz="2000" b="0" i="0">
                <a:solidFill>
                  <a:srgbClr val="FFFFFF"/>
                </a:solidFill>
                <a:latin typeface="Calibri"/>
              </a:rPr>
              <a:t>🧠</a:t>
            </a:r>
          </a:p>
        </p:txBody>
      </p:sp>
      <p:sp>
        <p:nvSpPr>
          <p:cNvPr id="23" name="TextBox 22"/>
          <p:cNvSpPr txBox="1"/>
          <p:nvPr/>
        </p:nvSpPr>
        <p:spPr>
          <a:xfrm>
            <a:off x="822959" y="3063240"/>
            <a:ext cx="2084832" cy="365760"/>
          </a:xfrm>
          <a:prstGeom prst="rect">
            <a:avLst/>
          </a:prstGeom>
          <a:noFill/>
        </p:spPr>
        <p:txBody>
          <a:bodyPr wrap="square" lIns="0" tIns="0" rIns="0" bIns="0">
            <a:spAutoFit/>
          </a:bodyPr>
          <a:lstStyle/>
          <a:p>
            <a:pPr algn="l"/>
            <a:r>
              <a:rPr sz="1200" b="1" i="0">
                <a:solidFill>
                  <a:srgbClr val="1F497D"/>
                </a:solidFill>
                <a:latin typeface="Calibri"/>
              </a:rPr>
              <a:t>Newer Architectures</a:t>
            </a:r>
          </a:p>
        </p:txBody>
      </p:sp>
      <p:sp>
        <p:nvSpPr>
          <p:cNvPr id="24" name="TextBox 23"/>
          <p:cNvSpPr txBox="1"/>
          <p:nvPr/>
        </p:nvSpPr>
        <p:spPr>
          <a:xfrm>
            <a:off x="365760" y="3483864"/>
            <a:ext cx="2542032" cy="1325880"/>
          </a:xfrm>
          <a:prstGeom prst="rect">
            <a:avLst/>
          </a:prstGeom>
          <a:noFill/>
        </p:spPr>
        <p:txBody>
          <a:bodyPr wrap="square" lIns="0" tIns="0" rIns="0" bIns="0">
            <a:spAutoFit/>
          </a:bodyPr>
          <a:lstStyle/>
          <a:p>
            <a:pPr algn="l"/>
            <a:r>
              <a:rPr sz="1000" b="0" i="0">
                <a:solidFill>
                  <a:srgbClr val="1A1A2E"/>
                </a:solidFill>
                <a:latin typeface="Calibri"/>
              </a:rPr>
              <a:t>Test ConvNeXt or Vision Transformers — these have shown improvements over EfficientNet on fine-grained visual tasks with comparable parameter counts.</a:t>
            </a:r>
          </a:p>
        </p:txBody>
      </p:sp>
      <p:sp>
        <p:nvSpPr>
          <p:cNvPr id="25" name="Rectangle 24"/>
          <p:cNvSpPr/>
          <p:nvPr/>
        </p:nvSpPr>
        <p:spPr>
          <a:xfrm>
            <a:off x="3218688" y="2971800"/>
            <a:ext cx="2724912" cy="19202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18688" y="2971800"/>
            <a:ext cx="2724912" cy="5486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10128" y="3063240"/>
            <a:ext cx="457200" cy="365760"/>
          </a:xfrm>
          <a:prstGeom prst="rect">
            <a:avLst/>
          </a:prstGeom>
          <a:noFill/>
        </p:spPr>
        <p:txBody>
          <a:bodyPr wrap="square" lIns="45720" rIns="45720">
            <a:spAutoFit/>
          </a:bodyPr>
          <a:lstStyle/>
          <a:p>
            <a:pPr algn="ctr"/>
            <a:r>
              <a:rPr sz="2000" b="0" i="0">
                <a:solidFill>
                  <a:srgbClr val="FFFFFF"/>
                </a:solidFill>
                <a:latin typeface="Calibri"/>
              </a:rPr>
              <a:t>⚖</a:t>
            </a:r>
          </a:p>
        </p:txBody>
      </p:sp>
      <p:sp>
        <p:nvSpPr>
          <p:cNvPr id="28" name="TextBox 27"/>
          <p:cNvSpPr txBox="1"/>
          <p:nvPr/>
        </p:nvSpPr>
        <p:spPr>
          <a:xfrm>
            <a:off x="3767328" y="3063240"/>
            <a:ext cx="2084832" cy="365760"/>
          </a:xfrm>
          <a:prstGeom prst="rect">
            <a:avLst/>
          </a:prstGeom>
          <a:noFill/>
        </p:spPr>
        <p:txBody>
          <a:bodyPr wrap="square" lIns="0" tIns="0" rIns="0" bIns="0">
            <a:spAutoFit/>
          </a:bodyPr>
          <a:lstStyle/>
          <a:p>
            <a:pPr algn="l"/>
            <a:r>
              <a:rPr sz="1200" b="1" i="0">
                <a:solidFill>
                  <a:srgbClr val="1F497D"/>
                </a:solidFill>
                <a:latin typeface="Calibri"/>
              </a:rPr>
              <a:t>Additional Sensors</a:t>
            </a:r>
          </a:p>
        </p:txBody>
      </p:sp>
      <p:sp>
        <p:nvSpPr>
          <p:cNvPr id="29" name="TextBox 28"/>
          <p:cNvSpPr txBox="1"/>
          <p:nvPr/>
        </p:nvSpPr>
        <p:spPr>
          <a:xfrm>
            <a:off x="3310128" y="3483864"/>
            <a:ext cx="2542032" cy="1325880"/>
          </a:xfrm>
          <a:prstGeom prst="rect">
            <a:avLst/>
          </a:prstGeom>
          <a:noFill/>
        </p:spPr>
        <p:txBody>
          <a:bodyPr wrap="square" lIns="0" tIns="0" rIns="0" bIns="0">
            <a:spAutoFit/>
          </a:bodyPr>
          <a:lstStyle/>
          <a:p>
            <a:pPr algn="l"/>
            <a:r>
              <a:rPr sz="1000" b="0" i="0">
                <a:solidFill>
                  <a:srgbClr val="1A1A2E"/>
                </a:solidFill>
                <a:latin typeface="Calibri"/>
              </a:rPr>
              <a:t>Combine camera with weight sensors or near-infrared spectroscopy — Kanzi and Jazz differ in internal composition even when external colour is indistinguishable.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2372</TotalTime>
  <Words>1716</Words>
  <Application>Microsoft Macintosh PowerPoint</Application>
  <PresentationFormat>On-screen Show (16:9)</PresentationFormat>
  <Paragraphs>219</Paragraphs>
  <Slides>15</Slides>
  <Notes>2</Notes>
  <HiddenSlides>3</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Aptos</vt:lpstr>
      <vt:lpstr>Arial</vt:lpstr>
      <vt:lpstr>Calibri</vt:lpstr>
      <vt:lpstr>Consolas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keywords/>
  <dc:description>generated using python-pptx</dc:description>
  <cp:lastModifiedBy>Paul Ha</cp:lastModifiedBy>
  <cp:revision>17</cp:revision>
  <dcterms:created xsi:type="dcterms:W3CDTF">2013-01-27T09:14:16Z</dcterms:created>
  <dcterms:modified xsi:type="dcterms:W3CDTF">2026-06-05T08:22:38Z</dcterms:modified>
  <cp:category/>
</cp:coreProperties>
</file>